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61" r:id="rId5"/>
    <p:sldId id="262" r:id="rId6"/>
    <p:sldId id="265" r:id="rId7"/>
    <p:sldId id="266"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88"/>
    <p:restoredTop sz="81160"/>
  </p:normalViewPr>
  <p:slideViewPr>
    <p:cSldViewPr snapToGrid="0" snapToObjects="1">
      <p:cViewPr>
        <p:scale>
          <a:sx n="119" d="100"/>
          <a:sy n="119" d="100"/>
        </p:scale>
        <p:origin x="216" y="-3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500000"/>
                </a:solidFill>
              </a:rPr>
              <a:t>Relative compute vs. number of atoms</a:t>
            </a:r>
          </a:p>
        </c:rich>
      </c:tx>
      <c:overlay val="0"/>
    </c:title>
    <c:autoTitleDeleted val="0"/>
    <c:plotArea>
      <c:layout/>
      <c:lineChart>
        <c:grouping val="standard"/>
        <c:varyColors val="0"/>
        <c:ser>
          <c:idx val="0"/>
          <c:order val="0"/>
          <c:tx>
            <c:strRef>
              <c:f>Sheet1!$B$1</c:f>
              <c:strCache>
                <c:ptCount val="1"/>
                <c:pt idx="0">
                  <c:v>DFT  ∝ N³</c:v>
                </c:pt>
              </c:strCache>
            </c:strRef>
          </c:tx>
          <c:spPr>
            <a:ln w="34925">
              <a:solidFill>
                <a:srgbClr val="1E293B"/>
              </a:solidFill>
            </a:ln>
          </c:spPr>
          <c:marker>
            <c:symbol val="circle"/>
            <c:size val="7"/>
            <c:spPr>
              <a:solidFill>
                <a:srgbClr val="1E293B"/>
              </a:solidFill>
              <a:ln>
                <a:solidFill>
                  <a:srgbClr val="FFFFFF"/>
                </a:solidFill>
              </a:ln>
            </c:spPr>
          </c:marker>
          <c:cat>
            <c:strRef>
              <c:f>Sheet1!$A$2:$A$5</c:f>
              <c:strCache>
                <c:ptCount val="4"/>
                <c:pt idx="0">
                  <c:v>10</c:v>
                </c:pt>
                <c:pt idx="1">
                  <c:v>100</c:v>
                </c:pt>
                <c:pt idx="2">
                  <c:v>1,000</c:v>
                </c:pt>
                <c:pt idx="3">
                  <c:v>10,000</c:v>
                </c:pt>
              </c:strCache>
            </c:strRef>
          </c:cat>
          <c:val>
            <c:numRef>
              <c:f>Sheet1!$B$2:$B$5</c:f>
              <c:numCache>
                <c:formatCode>General</c:formatCode>
                <c:ptCount val="4"/>
                <c:pt idx="0">
                  <c:v>1000</c:v>
                </c:pt>
                <c:pt idx="1">
                  <c:v>1000000</c:v>
                </c:pt>
                <c:pt idx="2">
                  <c:v>1000000000</c:v>
                </c:pt>
                <c:pt idx="3">
                  <c:v>1000000000000</c:v>
                </c:pt>
              </c:numCache>
            </c:numRef>
          </c:val>
          <c:smooth val="0"/>
          <c:extLst>
            <c:ext xmlns:c16="http://schemas.microsoft.com/office/drawing/2014/chart" uri="{C3380CC4-5D6E-409C-BE32-E72D297353CC}">
              <c16:uniqueId val="{00000000-AB92-684E-AD66-BD16D4B8CE96}"/>
            </c:ext>
          </c:extLst>
        </c:ser>
        <c:ser>
          <c:idx val="1"/>
          <c:order val="1"/>
          <c:tx>
            <c:strRef>
              <c:f>Sheet1!$C$1</c:f>
              <c:strCache>
                <c:ptCount val="1"/>
                <c:pt idx="0">
                  <c:v>MACE  ∝ N</c:v>
                </c:pt>
              </c:strCache>
            </c:strRef>
          </c:tx>
          <c:spPr>
            <a:ln w="34925">
              <a:solidFill>
                <a:srgbClr val="500000"/>
              </a:solidFill>
            </a:ln>
          </c:spPr>
          <c:marker>
            <c:symbol val="circle"/>
            <c:size val="7"/>
            <c:spPr>
              <a:solidFill>
                <a:srgbClr val="500000"/>
              </a:solidFill>
              <a:ln>
                <a:solidFill>
                  <a:srgbClr val="FFFFFF"/>
                </a:solidFill>
              </a:ln>
            </c:spPr>
          </c:marker>
          <c:cat>
            <c:strRef>
              <c:f>Sheet1!$A$2:$A$5</c:f>
              <c:strCache>
                <c:ptCount val="4"/>
                <c:pt idx="0">
                  <c:v>10</c:v>
                </c:pt>
                <c:pt idx="1">
                  <c:v>100</c:v>
                </c:pt>
                <c:pt idx="2">
                  <c:v>1,000</c:v>
                </c:pt>
                <c:pt idx="3">
                  <c:v>10,000</c:v>
                </c:pt>
              </c:strCache>
            </c:strRef>
          </c:cat>
          <c:val>
            <c:numRef>
              <c:f>Sheet1!$C$2:$C$5</c:f>
              <c:numCache>
                <c:formatCode>General</c:formatCode>
                <c:ptCount val="4"/>
                <c:pt idx="0">
                  <c:v>1</c:v>
                </c:pt>
                <c:pt idx="1">
                  <c:v>10</c:v>
                </c:pt>
                <c:pt idx="2">
                  <c:v>100</c:v>
                </c:pt>
                <c:pt idx="3">
                  <c:v>1000</c:v>
                </c:pt>
              </c:numCache>
            </c:numRef>
          </c:val>
          <c:smooth val="0"/>
          <c:extLst>
            <c:ext xmlns:c16="http://schemas.microsoft.com/office/drawing/2014/chart" uri="{C3380CC4-5D6E-409C-BE32-E72D297353CC}">
              <c16:uniqueId val="{00000001-AB92-684E-AD66-BD16D4B8CE9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r>
                  <a:rPr lang="en-US" sz="1100" b="0">
                    <a:solidFill>
                      <a:srgbClr val="64748B"/>
                    </a:solidFill>
                  </a:rPr>
                  <a:t>atoms in the simulation</a:t>
                </a:r>
              </a:p>
            </c:rich>
          </c:tx>
          <c:overlay val="0"/>
        </c:title>
        <c:numFmt formatCode="General" sourceLinked="0"/>
        <c:majorTickMark val="out"/>
        <c:minorTickMark val="none"/>
        <c:tickLblPos val="nextTo"/>
        <c:spPr>
          <a:ln>
            <a:solidFill>
              <a:srgbClr val="94A3B8"/>
            </a:solidFill>
          </a:ln>
        </c:spPr>
        <c:txPr>
          <a:bodyPr/>
          <a:lstStyle/>
          <a:p>
            <a:pPr>
              <a:defRPr sz="1100"/>
            </a:pPr>
            <a:endParaRPr lang="en-US"/>
          </a:p>
        </c:txPr>
        <c:crossAx val="2140495176"/>
        <c:crosses val="autoZero"/>
        <c:auto val="1"/>
        <c:lblAlgn val="ctr"/>
        <c:lblOffset val="100"/>
        <c:noMultiLvlLbl val="0"/>
      </c:catAx>
      <c:valAx>
        <c:axId val="2140495176"/>
        <c:scaling>
          <c:logBase val="10"/>
          <c:orientation val="minMax"/>
        </c:scaling>
        <c:delete val="0"/>
        <c:axPos val="l"/>
        <c:majorGridlines>
          <c:spPr>
            <a:ln>
              <a:solidFill>
                <a:srgbClr val="E2E8F0"/>
              </a:solidFill>
            </a:ln>
          </c:spPr>
        </c:majorGridlines>
        <c:title>
          <c:tx>
            <c:rich>
              <a:bodyPr/>
              <a:lstStyle/>
              <a:p>
                <a:r>
                  <a:rPr lang="en-US" sz="1100" b="0">
                    <a:solidFill>
                      <a:srgbClr val="64748B"/>
                    </a:solidFill>
                  </a:rPr>
                  <a:t>relative cost (log)</a:t>
                </a:r>
              </a:p>
            </c:rich>
          </c:tx>
          <c:overlay val="0"/>
        </c:title>
        <c:numFmt formatCode="0E+0" sourceLinked="0"/>
        <c:majorTickMark val="out"/>
        <c:minorTickMark val="none"/>
        <c:tickLblPos val="nextTo"/>
        <c:spPr>
          <a:ln>
            <a:noFill/>
          </a:ln>
        </c:spPr>
        <c:txPr>
          <a:bodyPr/>
          <a:lstStyle/>
          <a:p>
            <a:pPr>
              <a:defRPr sz="1100"/>
            </a:pPr>
            <a:endParaRPr lang="en-US"/>
          </a:p>
        </c:txPr>
        <c:crossAx val="2118791784"/>
        <c:crosses val="autoZero"/>
        <c:crossBetween val="between"/>
      </c:valAx>
    </c:plotArea>
    <c:legend>
      <c:legendPos val="b"/>
      <c:overlay val="0"/>
      <c:txPr>
        <a:bodyPr/>
        <a:lstStyle/>
        <a:p>
          <a:pPr>
            <a:defRPr sz="1100"/>
          </a:pPr>
          <a:endParaRPr lang="en-US"/>
        </a:p>
      </c:txPr>
    </c:legend>
    <c:plotVisOnly val="1"/>
    <c:dispBlanksAs val="gap"/>
    <c:showDLblsOverMax val="0"/>
  </c:chart>
  <c:txPr>
    <a:bodyPr/>
    <a:lstStyle/>
    <a:p>
      <a:pPr>
        <a:defRPr sz="1100">
          <a:solidFill>
            <a:srgbClr val="64748B"/>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500000"/>
                </a:solidFill>
              </a:rPr>
              <a:t>Blind GA: +18   ·   agent's L1₀: −18 meV/atom</a:t>
            </a:r>
          </a:p>
        </c:rich>
      </c:tx>
      <c:overlay val="0"/>
    </c:title>
    <c:autoTitleDeleted val="0"/>
    <c:plotArea>
      <c:layout/>
      <c:lineChart>
        <c:grouping val="standard"/>
        <c:varyColors val="0"/>
        <c:ser>
          <c:idx val="0"/>
          <c:order val="0"/>
          <c:tx>
            <c:strRef>
              <c:f>Sheet1!$B$1</c:f>
              <c:strCache>
                <c:ptCount val="1"/>
                <c:pt idx="0">
                  <c:v>population mean</c:v>
                </c:pt>
              </c:strCache>
            </c:strRef>
          </c:tx>
          <c:spPr>
            <a:ln w="25400">
              <a:solidFill>
                <a:srgbClr val="E3C4C4"/>
              </a:solidFill>
            </a:ln>
          </c:spPr>
          <c:marker>
            <c:symbol val="circle"/>
            <c:size val="5"/>
            <c:spPr>
              <a:solidFill>
                <a:srgbClr val="E3C4C4"/>
              </a:solidFill>
              <a:ln>
                <a:solidFill>
                  <a:srgbClr val="FFFFFF"/>
                </a:solidFill>
              </a:ln>
            </c:spPr>
          </c:marker>
          <c:cat>
            <c:strRef>
              <c:f>Sheet1!$A$2:$A$17</c:f>
              <c:strCach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strCache>
            </c:strRef>
          </c:cat>
          <c:val>
            <c:numRef>
              <c:f>Sheet1!$B$2:$B$17</c:f>
              <c:numCache>
                <c:formatCode>General</c:formatCode>
                <c:ptCount val="16"/>
                <c:pt idx="0">
                  <c:v>80.400000000000006</c:v>
                </c:pt>
                <c:pt idx="1">
                  <c:v>70.099999999999994</c:v>
                </c:pt>
                <c:pt idx="2">
                  <c:v>57.3</c:v>
                </c:pt>
                <c:pt idx="3">
                  <c:v>59.5</c:v>
                </c:pt>
                <c:pt idx="4">
                  <c:v>56.6</c:v>
                </c:pt>
                <c:pt idx="5">
                  <c:v>50.1</c:v>
                </c:pt>
                <c:pt idx="6">
                  <c:v>43.9</c:v>
                </c:pt>
                <c:pt idx="7">
                  <c:v>44.5</c:v>
                </c:pt>
                <c:pt idx="8">
                  <c:v>50.6</c:v>
                </c:pt>
                <c:pt idx="9">
                  <c:v>55.3</c:v>
                </c:pt>
                <c:pt idx="10">
                  <c:v>52.7</c:v>
                </c:pt>
                <c:pt idx="11">
                  <c:v>50.6</c:v>
                </c:pt>
                <c:pt idx="12">
                  <c:v>45.2</c:v>
                </c:pt>
                <c:pt idx="13">
                  <c:v>39.5</c:v>
                </c:pt>
                <c:pt idx="14">
                  <c:v>47.1</c:v>
                </c:pt>
                <c:pt idx="15">
                  <c:v>45.4</c:v>
                </c:pt>
              </c:numCache>
            </c:numRef>
          </c:val>
          <c:smooth val="0"/>
          <c:extLst>
            <c:ext xmlns:c16="http://schemas.microsoft.com/office/drawing/2014/chart" uri="{C3380CC4-5D6E-409C-BE32-E72D297353CC}">
              <c16:uniqueId val="{00000000-A357-8B45-B36B-E73E0CEF3691}"/>
            </c:ext>
          </c:extLst>
        </c:ser>
        <c:ser>
          <c:idx val="1"/>
          <c:order val="1"/>
          <c:tx>
            <c:strRef>
              <c:f>Sheet1!$C$1</c:f>
              <c:strCache>
                <c:ptCount val="1"/>
                <c:pt idx="0">
                  <c:v>GA best</c:v>
                </c:pt>
              </c:strCache>
            </c:strRef>
          </c:tx>
          <c:spPr>
            <a:ln w="34925">
              <a:solidFill>
                <a:srgbClr val="500000"/>
              </a:solidFill>
            </a:ln>
          </c:spPr>
          <c:marker>
            <c:symbol val="circle"/>
            <c:size val="7"/>
            <c:spPr>
              <a:solidFill>
                <a:srgbClr val="500000"/>
              </a:solidFill>
              <a:ln>
                <a:solidFill>
                  <a:srgbClr val="FFFFFF"/>
                </a:solidFill>
              </a:ln>
            </c:spPr>
          </c:marker>
          <c:cat>
            <c:strRef>
              <c:f>Sheet1!$A$2:$A$17</c:f>
              <c:strCach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strCache>
            </c:strRef>
          </c:cat>
          <c:val>
            <c:numRef>
              <c:f>Sheet1!$C$2:$C$17</c:f>
              <c:numCache>
                <c:formatCode>General</c:formatCode>
                <c:ptCount val="16"/>
                <c:pt idx="0">
                  <c:v>52</c:v>
                </c:pt>
                <c:pt idx="1">
                  <c:v>35.799999999999997</c:v>
                </c:pt>
                <c:pt idx="2">
                  <c:v>35.799999999999997</c:v>
                </c:pt>
                <c:pt idx="3">
                  <c:v>21.9</c:v>
                </c:pt>
                <c:pt idx="4">
                  <c:v>21.9</c:v>
                </c:pt>
                <c:pt idx="5">
                  <c:v>21.9</c:v>
                </c:pt>
                <c:pt idx="6">
                  <c:v>21.9</c:v>
                </c:pt>
                <c:pt idx="7">
                  <c:v>21.9</c:v>
                </c:pt>
                <c:pt idx="8">
                  <c:v>21.9</c:v>
                </c:pt>
                <c:pt idx="9">
                  <c:v>21.9</c:v>
                </c:pt>
                <c:pt idx="10">
                  <c:v>18.899999999999999</c:v>
                </c:pt>
                <c:pt idx="11">
                  <c:v>18.600000000000001</c:v>
                </c:pt>
                <c:pt idx="12">
                  <c:v>18.600000000000001</c:v>
                </c:pt>
                <c:pt idx="13">
                  <c:v>18.600000000000001</c:v>
                </c:pt>
                <c:pt idx="14">
                  <c:v>18.600000000000001</c:v>
                </c:pt>
                <c:pt idx="15">
                  <c:v>18.399999999999999</c:v>
                </c:pt>
              </c:numCache>
            </c:numRef>
          </c:val>
          <c:smooth val="0"/>
          <c:extLst>
            <c:ext xmlns:c16="http://schemas.microsoft.com/office/drawing/2014/chart" uri="{C3380CC4-5D6E-409C-BE32-E72D297353CC}">
              <c16:uniqueId val="{00000001-A357-8B45-B36B-E73E0CEF3691}"/>
            </c:ext>
          </c:extLst>
        </c:ser>
        <c:ser>
          <c:idx val="2"/>
          <c:order val="2"/>
          <c:tx>
            <c:strRef>
              <c:f>Sheet1!$D$1</c:f>
              <c:strCache>
                <c:ptCount val="1"/>
                <c:pt idx="0">
                  <c:v>L1₀ (agent's proposal)</c:v>
                </c:pt>
              </c:strCache>
            </c:strRef>
          </c:tx>
          <c:spPr>
            <a:ln w="28575">
              <a:solidFill>
                <a:srgbClr val="1E293B"/>
              </a:solidFill>
              <a:prstDash val="dash"/>
            </a:ln>
          </c:spPr>
          <c:marker>
            <c:symbol val="none"/>
          </c:marker>
          <c:cat>
            <c:strRef>
              <c:f>Sheet1!$A$2:$A$17</c:f>
              <c:strCach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strCache>
            </c:strRef>
          </c:cat>
          <c:val>
            <c:numRef>
              <c:f>Sheet1!$D$2:$D$17</c:f>
              <c:numCache>
                <c:formatCode>General</c:formatCode>
                <c:ptCount val="16"/>
                <c:pt idx="0">
                  <c:v>-17.899999999999999</c:v>
                </c:pt>
                <c:pt idx="1">
                  <c:v>-17.899999999999999</c:v>
                </c:pt>
                <c:pt idx="2">
                  <c:v>-17.899999999999999</c:v>
                </c:pt>
                <c:pt idx="3">
                  <c:v>-17.899999999999999</c:v>
                </c:pt>
                <c:pt idx="4">
                  <c:v>-17.899999999999999</c:v>
                </c:pt>
                <c:pt idx="5">
                  <c:v>-17.899999999999999</c:v>
                </c:pt>
                <c:pt idx="6">
                  <c:v>-17.899999999999999</c:v>
                </c:pt>
                <c:pt idx="7">
                  <c:v>-17.899999999999999</c:v>
                </c:pt>
                <c:pt idx="8">
                  <c:v>-17.899999999999999</c:v>
                </c:pt>
                <c:pt idx="9">
                  <c:v>-17.899999999999999</c:v>
                </c:pt>
                <c:pt idx="10">
                  <c:v>-17.899999999999999</c:v>
                </c:pt>
                <c:pt idx="11">
                  <c:v>-17.899999999999999</c:v>
                </c:pt>
                <c:pt idx="12">
                  <c:v>-17.899999999999999</c:v>
                </c:pt>
                <c:pt idx="13">
                  <c:v>-17.899999999999999</c:v>
                </c:pt>
                <c:pt idx="14">
                  <c:v>-17.899999999999999</c:v>
                </c:pt>
                <c:pt idx="15">
                  <c:v>-17.899999999999999</c:v>
                </c:pt>
              </c:numCache>
            </c:numRef>
          </c:val>
          <c:smooth val="0"/>
          <c:extLst>
            <c:ext xmlns:c16="http://schemas.microsoft.com/office/drawing/2014/chart" uri="{C3380CC4-5D6E-409C-BE32-E72D297353CC}">
              <c16:uniqueId val="{00000002-A357-8B45-B36B-E73E0CEF3691}"/>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r>
                  <a:rPr lang="en-US" sz="1100" b="0">
                    <a:solidFill>
                      <a:srgbClr val="64748B"/>
                    </a:solidFill>
                  </a:rPr>
                  <a:t>generation</a:t>
                </a:r>
              </a:p>
            </c:rich>
          </c:tx>
          <c:overlay val="0"/>
        </c:title>
        <c:numFmt formatCode="General" sourceLinked="0"/>
        <c:majorTickMark val="out"/>
        <c:minorTickMark val="none"/>
        <c:tickLblPos val="low"/>
        <c:spPr>
          <a:ln>
            <a:solidFill>
              <a:srgbClr val="94A3B8"/>
            </a:solidFill>
          </a:ln>
        </c:spPr>
        <c:txPr>
          <a:bodyPr/>
          <a:lstStyle/>
          <a:p>
            <a:pPr>
              <a:defRPr sz="1100"/>
            </a:pPr>
            <a:endParaRPr lang="en-US"/>
          </a:p>
        </c:txPr>
        <c:crossAx val="2140495176"/>
        <c:crosses val="autoZero"/>
        <c:auto val="1"/>
        <c:lblAlgn val="ctr"/>
        <c:lblOffset val="100"/>
        <c:noMultiLvlLbl val="0"/>
      </c:catAx>
      <c:valAx>
        <c:axId val="2140495176"/>
        <c:scaling>
          <c:orientation val="minMax"/>
          <c:max val="90"/>
          <c:min val="-30"/>
        </c:scaling>
        <c:delete val="0"/>
        <c:axPos val="l"/>
        <c:majorGridlines>
          <c:spPr>
            <a:ln>
              <a:solidFill>
                <a:srgbClr val="E2E8F0"/>
              </a:solidFill>
            </a:ln>
          </c:spPr>
        </c:majorGridlines>
        <c:title>
          <c:tx>
            <c:rich>
              <a:bodyPr/>
              <a:lstStyle/>
              <a:p>
                <a:r>
                  <a:rPr lang="en-US" sz="1100" b="0">
                    <a:solidFill>
                      <a:srgbClr val="64748B"/>
                    </a:solidFill>
                  </a:rPr>
                  <a:t>formation energy (meV/atom)</a:t>
                </a:r>
              </a:p>
            </c:rich>
          </c:tx>
          <c:overlay val="0"/>
        </c:title>
        <c:numFmt formatCode="General" sourceLinked="1"/>
        <c:majorTickMark val="out"/>
        <c:minorTickMark val="none"/>
        <c:tickLblPos val="nextTo"/>
        <c:spPr>
          <a:ln>
            <a:noFill/>
          </a:ln>
        </c:spPr>
        <c:txPr>
          <a:bodyPr/>
          <a:lstStyle/>
          <a:p>
            <a:pPr>
              <a:defRPr sz="1100"/>
            </a:pPr>
            <a:endParaRPr lang="en-US"/>
          </a:p>
        </c:txPr>
        <c:crossAx val="2118791784"/>
        <c:crosses val="autoZero"/>
        <c:crossBetween val="between"/>
        <c:majorUnit val="30"/>
      </c:valAx>
    </c:plotArea>
    <c:legend>
      <c:legendPos val="b"/>
      <c:overlay val="0"/>
      <c:txPr>
        <a:bodyPr/>
        <a:lstStyle/>
        <a:p>
          <a:pPr>
            <a:defRPr sz="1100"/>
          </a:pPr>
          <a:endParaRPr lang="en-US"/>
        </a:p>
      </c:txPr>
    </c:legend>
    <c:plotVisOnly val="1"/>
    <c:dispBlanksAs val="gap"/>
    <c:showDLblsOverMax val="0"/>
  </c:chart>
  <c:txPr>
    <a:bodyPr/>
    <a:lstStyle/>
    <a:p>
      <a:pPr>
        <a:defRPr sz="1100">
          <a:solidFill>
            <a:srgbClr val="64748B"/>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4699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[0:00–0:15] Today: MACE, a machine-learned model of atomic forces, and why it is the kind of tool an AI agent needs to do real materials and chemistry discovery. Five minutes of slides, then a live demo where Claude Code drives MACE on this laptop.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[0:15–0:45] MACE is a machine-learned interatomic potential. You give it atoms (where they are and what element they are) and it returns the energy, the force on every atom, and the stress on the cell. It is trained on quantum-mechanical DFT calculations, so it is close to DFT accuracy but thousands of times faster. Users: materials scientists, chemists, simulation engineers, and increasingly AI agents that need a physics tool they can call.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[0:45–1:15] Trade-off map. Classical force fields are fast but crude. DFT is accurate but expensive and scales as N cubed. Coupled cluster is the gold standard and even slower. MACE learns from DFT once, then predicts at a tiny fraction of the cost, and it scales linearly with the number of atoms, so the gap grows with system size.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[2:40–3:20] Where agents come in. The LLM is good at planning and reasoning but cannot know what atoms will do. MACE is a tool it can call: build a structure, relax it or run dynamics, read the energies and forces, decide what to try next. In a discovery funnel, the agent can generate a million ideas, MACE screens ten thousand in milliseconds each, DFT checks the top hundred, and only ten go to the lab.</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[3:20–4:00] An evolutionary workflow. A population of candidate structures, mutate them, score every child with MACE, keep the fittest, repeat. The chart is a real run on this laptop: 32-atom copper-gold alloys, 235 MACE calls in 17 seconds. The blind GA improves a lot, from about +50 to +18 meV per atom, but it stalls. The known stable phase, L1-zero, is at −18. That gap is the opening for an LLM: replace random mutation with an agent that proposes chemically sensible changes. You'll see exactly this in the demo.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[4:50–5:00] Switch to VS Code. Follow DEMO_SCRIPT.md: Act 1 forces, Act 2 blind GA, Act 3 Claude as the mutation operator.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[after demo, ~20 s] Recap: MACE learns the energy and gets forces for free; its equivariant many-body design is why it's accurate and fast; agents need exactly this kind of cheap, callable physics; and the loop closes with DFT and lab verification.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title_network.png"/>
          <p:cNvPicPr>
            <a:picLocks noChangeAspect="1"/>
          </p:cNvPicPr>
          <p:nvPr/>
        </p:nvPicPr>
        <p:blipFill>
          <a:blip r:embed="rId3">
            <a:alphaModFix amt="70000"/>
          </a:blip>
          <a:srcRect r="12088"/>
          <a:stretch>
            <a:fillRect/>
          </a:stretch>
        </p:blipFill>
        <p:spPr>
          <a:xfrm>
            <a:off x="5760720" y="0"/>
            <a:ext cx="6430975" cy="6858000"/>
          </a:xfrm>
          <a:prstGeom prst="rect">
            <a:avLst/>
          </a:prstGeom>
        </p:spPr>
      </p:pic>
      <p:sp>
        <p:nvSpPr>
          <p:cNvPr id="3" name="TextBox 2"/>
          <p:cNvSpPr txBox="1"/>
          <p:nvPr/>
        </p:nvSpPr>
        <p:spPr>
          <a:xfrm>
            <a:off x="731520" y="1783080"/>
            <a:ext cx="6400800" cy="320040"/>
          </a:xfrm>
          <a:prstGeom prst="rect">
            <a:avLst/>
          </a:prstGeom>
          <a:noFill/>
        </p:spPr>
        <p:txBody>
          <a:bodyPr wrap="square" lIns="0" tIns="0" rIns="0" bIns="0" anchor="t">
            <a:spAutoFit/>
          </a:bodyPr>
          <a:lstStyle/>
          <a:p>
            <a:pPr algn="l"/>
            <a:r>
              <a:rPr sz="1400" b="1" i="0">
                <a:solidFill>
                  <a:srgbClr val="500000"/>
                </a:solidFill>
                <a:latin typeface="Arial"/>
              </a:rPr>
              <a:t>AGENTIC DISCOVERY &amp; DEVELOPMENT  ·  TEXAS A&amp;M</a:t>
            </a:r>
          </a:p>
        </p:txBody>
      </p:sp>
      <p:sp>
        <p:nvSpPr>
          <p:cNvPr id="4" name="TextBox 3"/>
          <p:cNvSpPr txBox="1"/>
          <p:nvPr/>
        </p:nvSpPr>
        <p:spPr>
          <a:xfrm>
            <a:off x="685800" y="2148840"/>
            <a:ext cx="6400800" cy="1463040"/>
          </a:xfrm>
          <a:prstGeom prst="rect">
            <a:avLst/>
          </a:prstGeom>
          <a:noFill/>
        </p:spPr>
        <p:txBody>
          <a:bodyPr wrap="square" lIns="0" tIns="0" rIns="0" bIns="0" anchor="t">
            <a:spAutoFit/>
          </a:bodyPr>
          <a:lstStyle/>
          <a:p>
            <a:pPr algn="l"/>
            <a:r>
              <a:rPr sz="11000" b="1" i="0">
                <a:solidFill>
                  <a:srgbClr val="1E293B"/>
                </a:solidFill>
                <a:latin typeface="Arial"/>
              </a:rPr>
              <a:t>MACE</a:t>
            </a:r>
          </a:p>
        </p:txBody>
      </p:sp>
      <p:sp>
        <p:nvSpPr>
          <p:cNvPr id="5" name="TextBox 4"/>
          <p:cNvSpPr txBox="1"/>
          <p:nvPr/>
        </p:nvSpPr>
        <p:spPr>
          <a:xfrm>
            <a:off x="731520" y="3703320"/>
            <a:ext cx="4846320" cy="914400"/>
          </a:xfrm>
          <a:prstGeom prst="rect">
            <a:avLst/>
          </a:prstGeom>
          <a:noFill/>
        </p:spPr>
        <p:txBody>
          <a:bodyPr wrap="square" lIns="0" tIns="0" rIns="0" bIns="0" anchor="t">
            <a:spAutoFit/>
          </a:bodyPr>
          <a:lstStyle/>
          <a:p>
            <a:pPr algn="l"/>
            <a:r>
              <a:rPr sz="2400" b="0" i="0">
                <a:solidFill>
                  <a:srgbClr val="64748B"/>
                </a:solidFill>
                <a:latin typeface="Arial"/>
              </a:rPr>
              <a:t>Machine-learned atomic forces as an agent's physics engine</a:t>
            </a:r>
          </a:p>
        </p:txBody>
      </p:sp>
      <p:sp>
        <p:nvSpPr>
          <p:cNvPr id="6" name="TextBox 5"/>
          <p:cNvSpPr txBox="1"/>
          <p:nvPr/>
        </p:nvSpPr>
        <p:spPr>
          <a:xfrm>
            <a:off x="731520" y="4892040"/>
            <a:ext cx="5486400" cy="320040"/>
          </a:xfrm>
          <a:prstGeom prst="rect">
            <a:avLst/>
          </a:prstGeom>
          <a:noFill/>
        </p:spPr>
        <p:txBody>
          <a:bodyPr wrap="square" lIns="0" tIns="0" rIns="0" bIns="0" anchor="t">
            <a:spAutoFit/>
          </a:bodyPr>
          <a:lstStyle/>
          <a:p>
            <a:pPr algn="l"/>
            <a:r>
              <a:rPr sz="1400" b="0" i="1">
                <a:solidFill>
                  <a:srgbClr val="94A3B8"/>
                </a:solidFill>
                <a:latin typeface="Arial"/>
              </a:rPr>
              <a:t>Joshua Jang  ·  Fall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p:spPr>
        <p:txBody>
          <a:bodyPr wrap="square" lIns="0" tIns="0" rIns="0" bIns="0" anchor="t">
            <a:spAutoFit/>
          </a:bodyPr>
          <a:lstStyle/>
          <a:p>
            <a:pPr algn="l"/>
            <a:r>
              <a:rPr sz="1100" b="1" i="0">
                <a:solidFill>
                  <a:srgbClr val="B87878"/>
                </a:solidFill>
                <a:latin typeface="Arial"/>
              </a:rPr>
              <a:t>PART 1 · THE MODEL</a:t>
            </a:r>
          </a:p>
        </p:txBody>
      </p:sp>
      <p:sp>
        <p:nvSpPr>
          <p:cNvPr id="3" name="Title"/>
          <p:cNvSpPr txBox="1"/>
          <p:nvPr/>
        </p:nvSpPr>
        <p:spPr>
          <a:xfrm>
            <a:off x="548640" y="566928"/>
            <a:ext cx="11064240" cy="640080"/>
          </a:xfrm>
          <a:prstGeom prst="rect">
            <a:avLst/>
          </a:prstGeom>
          <a:noFill/>
        </p:spPr>
        <p:txBody>
          <a:bodyPr wrap="square" lIns="0" tIns="0" rIns="0" bIns="0" anchor="t">
            <a:spAutoFit/>
          </a:bodyPr>
          <a:lstStyle/>
          <a:p>
            <a:pPr algn="l"/>
            <a:r>
              <a:rPr sz="3400" b="1" i="0">
                <a:solidFill>
                  <a:srgbClr val="500000"/>
                </a:solidFill>
                <a:latin typeface="Arial"/>
              </a:rPr>
              <a:t>What is MACE?</a:t>
            </a:r>
          </a:p>
        </p:txBody>
      </p:sp>
      <p:sp>
        <p:nvSpPr>
          <p:cNvPr id="4" name="Subtitle"/>
          <p:cNvSpPr txBox="1"/>
          <p:nvPr/>
        </p:nvSpPr>
        <p:spPr>
          <a:xfrm>
            <a:off x="548640" y="1207008"/>
            <a:ext cx="11064240" cy="365760"/>
          </a:xfrm>
          <a:prstGeom prst="rect">
            <a:avLst/>
          </a:prstGeom>
          <a:noFill/>
        </p:spPr>
        <p:txBody>
          <a:bodyPr wrap="square" lIns="0" tIns="0" rIns="0" bIns="0" anchor="t">
            <a:spAutoFit/>
          </a:bodyPr>
          <a:lstStyle/>
          <a:p>
            <a:pPr algn="l"/>
            <a:r>
              <a:rPr sz="1500" b="0" i="1">
                <a:solidFill>
                  <a:srgbClr val="64748B"/>
                </a:solidFill>
                <a:latin typeface="Arial"/>
              </a:rPr>
              <a:t>A machine-learned interatomic potential: quantum-level accuracy at force-field speed</a:t>
            </a:r>
          </a:p>
        </p:txBody>
      </p:sp>
      <p:sp>
        <p:nvSpPr>
          <p:cNvPr id="5" name="TextBox 4"/>
          <p:cNvSpPr txBox="1"/>
          <p:nvPr/>
        </p:nvSpPr>
        <p:spPr>
          <a:xfrm>
            <a:off x="11155680" y="6400800"/>
            <a:ext cx="548640" cy="228600"/>
          </a:xfrm>
          <a:prstGeom prst="rect">
            <a:avLst/>
          </a:prstGeom>
          <a:noFill/>
        </p:spPr>
        <p:txBody>
          <a:bodyPr wrap="square" lIns="0" tIns="0" rIns="0" bIns="0" anchor="t">
            <a:spAutoFit/>
          </a:bodyPr>
          <a:lstStyle/>
          <a:p>
            <a:pPr algn="r"/>
            <a:r>
              <a:rPr sz="1000" b="1" i="0">
                <a:solidFill>
                  <a:srgbClr val="500000"/>
                </a:solidFill>
                <a:latin typeface="Arial"/>
              </a:rPr>
              <a:t>02</a:t>
            </a:r>
          </a:p>
        </p:txBody>
      </p:sp>
      <p:sp>
        <p:nvSpPr>
          <p:cNvPr id="6" name="Rounded Rectangle 5"/>
          <p:cNvSpPr/>
          <p:nvPr/>
        </p:nvSpPr>
        <p:spPr>
          <a:xfrm>
            <a:off x="548640" y="1783080"/>
            <a:ext cx="3017520" cy="2148840"/>
          </a:xfrm>
          <a:prstGeom prst="roundRect">
            <a:avLst>
              <a:gd name="adj" fmla="val 6382"/>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7" name="Connector 6"/>
          <p:cNvCxnSpPr/>
          <p:nvPr/>
        </p:nvCxnSpPr>
        <p:spPr>
          <a:xfrm flipV="1">
            <a:off x="1417320" y="2286000"/>
            <a:ext cx="685800" cy="228600"/>
          </a:xfrm>
          <a:prstGeom prst="line">
            <a:avLst/>
          </a:prstGeom>
          <a:ln w="317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17320" y="2514600"/>
            <a:ext cx="548640" cy="411480"/>
          </a:xfrm>
          <a:prstGeom prst="line">
            <a:avLst/>
          </a:prstGeom>
          <a:ln w="317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914400" y="2514600"/>
            <a:ext cx="502920" cy="457200"/>
          </a:xfrm>
          <a:prstGeom prst="line">
            <a:avLst/>
          </a:prstGeom>
          <a:ln w="317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103120" y="2286000"/>
            <a:ext cx="594360" cy="411480"/>
          </a:xfrm>
          <a:prstGeom prst="line">
            <a:avLst/>
          </a:prstGeom>
          <a:ln w="317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965960" y="2697480"/>
            <a:ext cx="731520" cy="228600"/>
          </a:xfrm>
          <a:prstGeom prst="line">
            <a:avLst/>
          </a:prstGeom>
          <a:ln w="31750">
            <a:solidFill>
              <a:srgbClr val="94A3B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225296" y="2322576"/>
            <a:ext cx="384048" cy="384048"/>
          </a:xfrm>
          <a:prstGeom prst="ellipse">
            <a:avLst/>
          </a:prstGeom>
          <a:solidFill>
            <a:srgbClr val="5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1956815" y="2139696"/>
            <a:ext cx="292608" cy="292608"/>
          </a:xfrm>
          <a:prstGeom prst="ellipse">
            <a:avLst/>
          </a:prstGeom>
          <a:solidFill>
            <a:srgbClr val="B8787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819656" y="2779776"/>
            <a:ext cx="292608" cy="292608"/>
          </a:xfrm>
          <a:prstGeom prst="ellipse">
            <a:avLst/>
          </a:prstGeom>
          <a:solidFill>
            <a:srgbClr val="B8787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768096" y="2825496"/>
            <a:ext cx="292608" cy="292608"/>
          </a:xfrm>
          <a:prstGeom prst="ellipse">
            <a:avLst/>
          </a:prstGeom>
          <a:solidFill>
            <a:srgbClr val="1E293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2569464" y="2569464"/>
            <a:ext cx="256032" cy="256032"/>
          </a:xfrm>
          <a:prstGeom prst="ellipse">
            <a:avLst/>
          </a:prstGeom>
          <a:solidFill>
            <a:srgbClr val="94A3B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7240" y="3291840"/>
            <a:ext cx="2651760" cy="274320"/>
          </a:xfrm>
          <a:prstGeom prst="rect">
            <a:avLst/>
          </a:prstGeom>
          <a:noFill/>
        </p:spPr>
        <p:txBody>
          <a:bodyPr wrap="square" lIns="0" tIns="0" rIns="0" bIns="0" anchor="t">
            <a:spAutoFit/>
          </a:bodyPr>
          <a:lstStyle/>
          <a:p>
            <a:pPr algn="l"/>
            <a:r>
              <a:rPr sz="1600" b="1" i="0">
                <a:solidFill>
                  <a:srgbClr val="1E293B"/>
                </a:solidFill>
                <a:latin typeface="Arial"/>
              </a:rPr>
              <a:t>Atoms in</a:t>
            </a:r>
          </a:p>
        </p:txBody>
      </p:sp>
      <p:sp>
        <p:nvSpPr>
          <p:cNvPr id="18" name="TextBox 17"/>
          <p:cNvSpPr txBox="1"/>
          <p:nvPr/>
        </p:nvSpPr>
        <p:spPr>
          <a:xfrm>
            <a:off x="777240" y="3584448"/>
            <a:ext cx="2651760" cy="274320"/>
          </a:xfrm>
          <a:prstGeom prst="rect">
            <a:avLst/>
          </a:prstGeom>
          <a:noFill/>
        </p:spPr>
        <p:txBody>
          <a:bodyPr wrap="square" lIns="0" tIns="0" rIns="0" bIns="0" anchor="t">
            <a:spAutoFit/>
          </a:bodyPr>
          <a:lstStyle/>
          <a:p>
            <a:pPr algn="l"/>
            <a:r>
              <a:rPr sz="1200" b="0" i="0">
                <a:solidFill>
                  <a:srgbClr val="64748B"/>
                </a:solidFill>
                <a:latin typeface="Arial"/>
              </a:rPr>
              <a:t>positions r</a:t>
            </a:r>
            <a:r>
              <a:rPr sz="1200" b="0" i="0" baseline="-25000">
                <a:solidFill>
                  <a:srgbClr val="64748B"/>
                </a:solidFill>
                <a:latin typeface="Arial"/>
              </a:rPr>
              <a:t>i</a:t>
            </a:r>
            <a:r>
              <a:rPr sz="1200" b="0" i="0">
                <a:solidFill>
                  <a:srgbClr val="64748B"/>
                </a:solidFill>
                <a:latin typeface="Arial"/>
              </a:rPr>
              <a:t>  +  elements Z</a:t>
            </a:r>
            <a:r>
              <a:rPr sz="1200" b="0" i="0" baseline="-25000">
                <a:solidFill>
                  <a:srgbClr val="64748B"/>
                </a:solidFill>
                <a:latin typeface="Arial"/>
              </a:rPr>
              <a:t>i</a:t>
            </a:r>
          </a:p>
        </p:txBody>
      </p:sp>
      <p:cxnSp>
        <p:nvCxnSpPr>
          <p:cNvPr id="19" name="Connector 18"/>
          <p:cNvCxnSpPr/>
          <p:nvPr/>
        </p:nvCxnSpPr>
        <p:spPr>
          <a:xfrm>
            <a:off x="3657600" y="2852928"/>
            <a:ext cx="502920" cy="0"/>
          </a:xfrm>
          <a:prstGeom prst="line">
            <a:avLst/>
          </a:prstGeom>
          <a:ln w="3175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251960" y="1783080"/>
            <a:ext cx="3108960" cy="2148840"/>
          </a:xfrm>
          <a:prstGeom prst="roundRect">
            <a:avLst>
              <a:gd name="adj" fmla="val 6382"/>
            </a:avLst>
          </a:prstGeom>
          <a:solidFill>
            <a:srgbClr val="500000"/>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3600" b="1" i="0">
                <a:solidFill>
                  <a:srgbClr val="FFFFFF"/>
                </a:solidFill>
                <a:latin typeface="Arial"/>
              </a:rPr>
              <a:t>MACE</a:t>
            </a:r>
          </a:p>
          <a:p>
            <a:pPr algn="ctr"/>
            <a:r>
              <a:rPr sz="1300" b="0" i="0">
                <a:solidFill>
                  <a:srgbClr val="FFFFFF"/>
                </a:solidFill>
                <a:latin typeface="Arial"/>
              </a:rPr>
              <a:t>equivariant graph</a:t>
            </a:r>
          </a:p>
          <a:p>
            <a:pPr algn="ctr"/>
            <a:r>
              <a:rPr sz="1300" b="0" i="0">
                <a:solidFill>
                  <a:srgbClr val="FFFFFF"/>
                </a:solidFill>
                <a:latin typeface="Arial"/>
              </a:rPr>
              <a:t>neural network</a:t>
            </a:r>
          </a:p>
        </p:txBody>
      </p:sp>
      <p:cxnSp>
        <p:nvCxnSpPr>
          <p:cNvPr id="21" name="Connector 20"/>
          <p:cNvCxnSpPr/>
          <p:nvPr/>
        </p:nvCxnSpPr>
        <p:spPr>
          <a:xfrm>
            <a:off x="7452360" y="2852928"/>
            <a:ext cx="502919" cy="0"/>
          </a:xfrm>
          <a:prstGeom prst="line">
            <a:avLst/>
          </a:prstGeom>
          <a:ln w="3175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046720" y="1783080"/>
            <a:ext cx="3611880" cy="640080"/>
          </a:xfrm>
          <a:prstGeom prst="roundRect">
            <a:avLst>
              <a:gd name="adj" fmla="val 17142"/>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8183879" y="1874519"/>
            <a:ext cx="457200" cy="457200"/>
          </a:xfrm>
          <a:prstGeom prst="ellipse">
            <a:avLst/>
          </a:prstGeom>
          <a:solidFill>
            <a:srgbClr val="E3C4C4"/>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500" b="1" i="0">
                <a:solidFill>
                  <a:srgbClr val="500000"/>
                </a:solidFill>
                <a:latin typeface="Cambria Math"/>
              </a:rPr>
              <a:t>E</a:t>
            </a:r>
          </a:p>
        </p:txBody>
      </p:sp>
      <p:sp>
        <p:nvSpPr>
          <p:cNvPr id="24" name="TextBox 23"/>
          <p:cNvSpPr txBox="1"/>
          <p:nvPr/>
        </p:nvSpPr>
        <p:spPr>
          <a:xfrm>
            <a:off x="8796528" y="1892807"/>
            <a:ext cx="2743200" cy="457200"/>
          </a:xfrm>
          <a:prstGeom prst="rect">
            <a:avLst/>
          </a:prstGeom>
          <a:noFill/>
        </p:spPr>
        <p:txBody>
          <a:bodyPr wrap="square" lIns="0" tIns="0" rIns="0" bIns="0" anchor="ctr">
            <a:spAutoFit/>
          </a:bodyPr>
          <a:lstStyle/>
          <a:p>
            <a:pPr algn="l"/>
            <a:r>
              <a:rPr sz="1400" b="1" i="0">
                <a:solidFill>
                  <a:srgbClr val="1E293B"/>
                </a:solidFill>
                <a:latin typeface="Arial"/>
              </a:rPr>
              <a:t>total energy</a:t>
            </a:r>
            <a:r>
              <a:rPr sz="1400" b="0" i="0">
                <a:solidFill>
                  <a:srgbClr val="94A3B8"/>
                </a:solidFill>
                <a:latin typeface="Arial"/>
              </a:rPr>
              <a:t>   eV</a:t>
            </a:r>
          </a:p>
        </p:txBody>
      </p:sp>
      <p:sp>
        <p:nvSpPr>
          <p:cNvPr id="25" name="Rounded Rectangle 24"/>
          <p:cNvSpPr/>
          <p:nvPr/>
        </p:nvSpPr>
        <p:spPr>
          <a:xfrm>
            <a:off x="8046720" y="2532888"/>
            <a:ext cx="3611880" cy="640080"/>
          </a:xfrm>
          <a:prstGeom prst="roundRect">
            <a:avLst>
              <a:gd name="adj" fmla="val 17142"/>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183879" y="2624328"/>
            <a:ext cx="457200" cy="45720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500" b="1" i="0">
                <a:solidFill>
                  <a:srgbClr val="FFFFFF"/>
                </a:solidFill>
                <a:latin typeface="Cambria Math"/>
              </a:rPr>
              <a:t>F</a:t>
            </a:r>
            <a:r>
              <a:rPr sz="1500" b="1" i="0" baseline="-25000">
                <a:solidFill>
                  <a:srgbClr val="FFFFFF"/>
                </a:solidFill>
                <a:latin typeface="Cambria Math"/>
              </a:rPr>
              <a:t>i</a:t>
            </a:r>
          </a:p>
        </p:txBody>
      </p:sp>
      <p:sp>
        <p:nvSpPr>
          <p:cNvPr id="27" name="TextBox 26"/>
          <p:cNvSpPr txBox="1"/>
          <p:nvPr/>
        </p:nvSpPr>
        <p:spPr>
          <a:xfrm>
            <a:off x="8796528" y="2642616"/>
            <a:ext cx="2743200" cy="457200"/>
          </a:xfrm>
          <a:prstGeom prst="rect">
            <a:avLst/>
          </a:prstGeom>
          <a:noFill/>
        </p:spPr>
        <p:txBody>
          <a:bodyPr wrap="square" lIns="0" tIns="0" rIns="0" bIns="0" anchor="ctr">
            <a:spAutoFit/>
          </a:bodyPr>
          <a:lstStyle/>
          <a:p>
            <a:pPr algn="l"/>
            <a:r>
              <a:rPr sz="1400" b="1" i="0">
                <a:solidFill>
                  <a:srgbClr val="1E293B"/>
                </a:solidFill>
                <a:latin typeface="Arial"/>
              </a:rPr>
              <a:t>force on every atom</a:t>
            </a:r>
            <a:r>
              <a:rPr sz="1400" b="0" i="0">
                <a:solidFill>
                  <a:srgbClr val="94A3B8"/>
                </a:solidFill>
                <a:latin typeface="Arial"/>
              </a:rPr>
              <a:t>   eV/Å</a:t>
            </a:r>
          </a:p>
        </p:txBody>
      </p:sp>
      <p:sp>
        <p:nvSpPr>
          <p:cNvPr id="28" name="Rounded Rectangle 27"/>
          <p:cNvSpPr/>
          <p:nvPr/>
        </p:nvSpPr>
        <p:spPr>
          <a:xfrm>
            <a:off x="8046720" y="3282696"/>
            <a:ext cx="3611880" cy="640080"/>
          </a:xfrm>
          <a:prstGeom prst="roundRect">
            <a:avLst>
              <a:gd name="adj" fmla="val 17142"/>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8183879" y="3374136"/>
            <a:ext cx="457200" cy="457200"/>
          </a:xfrm>
          <a:prstGeom prst="ellipse">
            <a:avLst/>
          </a:prstGeom>
          <a:solidFill>
            <a:srgbClr val="E3C4C4"/>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500" b="1" i="0">
                <a:solidFill>
                  <a:srgbClr val="500000"/>
                </a:solidFill>
                <a:latin typeface="Cambria Math"/>
              </a:rPr>
              <a:t>σ</a:t>
            </a:r>
          </a:p>
        </p:txBody>
      </p:sp>
      <p:sp>
        <p:nvSpPr>
          <p:cNvPr id="30" name="TextBox 29"/>
          <p:cNvSpPr txBox="1"/>
          <p:nvPr/>
        </p:nvSpPr>
        <p:spPr>
          <a:xfrm>
            <a:off x="8796528" y="3392424"/>
            <a:ext cx="2743200" cy="457200"/>
          </a:xfrm>
          <a:prstGeom prst="rect">
            <a:avLst/>
          </a:prstGeom>
          <a:noFill/>
        </p:spPr>
        <p:txBody>
          <a:bodyPr wrap="square" lIns="0" tIns="0" rIns="0" bIns="0" anchor="ctr">
            <a:spAutoFit/>
          </a:bodyPr>
          <a:lstStyle/>
          <a:p>
            <a:pPr algn="l"/>
            <a:r>
              <a:rPr sz="1400" b="1" i="0">
                <a:solidFill>
                  <a:srgbClr val="1E293B"/>
                </a:solidFill>
                <a:latin typeface="Arial"/>
              </a:rPr>
              <a:t>stress on the cell</a:t>
            </a:r>
            <a:r>
              <a:rPr sz="1400" b="0" i="0">
                <a:solidFill>
                  <a:srgbClr val="94A3B8"/>
                </a:solidFill>
                <a:latin typeface="Arial"/>
              </a:rPr>
              <a:t>   GPa</a:t>
            </a:r>
          </a:p>
        </p:txBody>
      </p:sp>
      <p:sp>
        <p:nvSpPr>
          <p:cNvPr id="31" name="TextBox 30"/>
          <p:cNvSpPr txBox="1"/>
          <p:nvPr/>
        </p:nvSpPr>
        <p:spPr>
          <a:xfrm>
            <a:off x="548640" y="4224528"/>
            <a:ext cx="5486400" cy="274320"/>
          </a:xfrm>
          <a:prstGeom prst="rect">
            <a:avLst/>
          </a:prstGeom>
          <a:noFill/>
        </p:spPr>
        <p:txBody>
          <a:bodyPr wrap="square" lIns="0" tIns="0" rIns="0" bIns="0" anchor="t">
            <a:spAutoFit/>
          </a:bodyPr>
          <a:lstStyle/>
          <a:p>
            <a:pPr algn="l"/>
            <a:r>
              <a:rPr sz="1100" b="1" i="0">
                <a:solidFill>
                  <a:srgbClr val="B87878"/>
                </a:solidFill>
                <a:latin typeface="Arial"/>
              </a:rPr>
              <a:t>WHO USES IT</a:t>
            </a:r>
          </a:p>
        </p:txBody>
      </p:sp>
      <p:sp>
        <p:nvSpPr>
          <p:cNvPr id="32" name="Rounded Rectangle 31"/>
          <p:cNvSpPr/>
          <p:nvPr/>
        </p:nvSpPr>
        <p:spPr>
          <a:xfrm>
            <a:off x="548640" y="4526280"/>
            <a:ext cx="2606040" cy="1691640"/>
          </a:xfrm>
          <a:prstGeom prst="roundRect">
            <a:avLst>
              <a:gd name="adj" fmla="val 8108"/>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768095" y="4700016"/>
            <a:ext cx="566928" cy="56692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500" b="1" i="0">
                <a:solidFill>
                  <a:srgbClr val="FFFFFF"/>
                </a:solidFill>
                <a:latin typeface="Arial"/>
              </a:rPr>
              <a:t>Li</a:t>
            </a:r>
          </a:p>
        </p:txBody>
      </p:sp>
      <p:sp>
        <p:nvSpPr>
          <p:cNvPr id="34" name="TextBox 33"/>
          <p:cNvSpPr txBox="1"/>
          <p:nvPr/>
        </p:nvSpPr>
        <p:spPr>
          <a:xfrm>
            <a:off x="777240" y="5394960"/>
            <a:ext cx="2240280" cy="274320"/>
          </a:xfrm>
          <a:prstGeom prst="rect">
            <a:avLst/>
          </a:prstGeom>
          <a:noFill/>
        </p:spPr>
        <p:txBody>
          <a:bodyPr wrap="square" lIns="0" tIns="0" rIns="0" bIns="0" anchor="t">
            <a:spAutoFit/>
          </a:bodyPr>
          <a:lstStyle/>
          <a:p>
            <a:pPr algn="l"/>
            <a:r>
              <a:rPr sz="1500" b="1" i="0">
                <a:solidFill>
                  <a:srgbClr val="1E293B"/>
                </a:solidFill>
                <a:latin typeface="Arial"/>
              </a:rPr>
              <a:t>Materials scientists</a:t>
            </a:r>
          </a:p>
        </p:txBody>
      </p:sp>
      <p:sp>
        <p:nvSpPr>
          <p:cNvPr id="35" name="TextBox 34"/>
          <p:cNvSpPr txBox="1"/>
          <p:nvPr/>
        </p:nvSpPr>
        <p:spPr>
          <a:xfrm>
            <a:off x="777240" y="5669280"/>
            <a:ext cx="2240280" cy="457200"/>
          </a:xfrm>
          <a:prstGeom prst="rect">
            <a:avLst/>
          </a:prstGeom>
          <a:noFill/>
        </p:spPr>
        <p:txBody>
          <a:bodyPr wrap="square" lIns="0" tIns="0" rIns="0" bIns="0" anchor="t">
            <a:spAutoFit/>
          </a:bodyPr>
          <a:lstStyle/>
          <a:p>
            <a:pPr algn="l"/>
            <a:r>
              <a:rPr sz="1200" b="0" i="0">
                <a:solidFill>
                  <a:srgbClr val="64748B"/>
                </a:solidFill>
                <a:latin typeface="Arial"/>
              </a:rPr>
              <a:t>batteries, catalysts, alloys</a:t>
            </a:r>
          </a:p>
        </p:txBody>
      </p:sp>
      <p:sp>
        <p:nvSpPr>
          <p:cNvPr id="36" name="Rounded Rectangle 35"/>
          <p:cNvSpPr/>
          <p:nvPr/>
        </p:nvSpPr>
        <p:spPr>
          <a:xfrm>
            <a:off x="3383280" y="4526280"/>
            <a:ext cx="2606040" cy="1691640"/>
          </a:xfrm>
          <a:prstGeom prst="roundRect">
            <a:avLst>
              <a:gd name="adj" fmla="val 8108"/>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3602736" y="4700016"/>
            <a:ext cx="566928" cy="56692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500" b="1" i="0">
                <a:solidFill>
                  <a:srgbClr val="FFFFFF"/>
                </a:solidFill>
                <a:latin typeface="Arial"/>
              </a:rPr>
              <a:t>C</a:t>
            </a:r>
          </a:p>
        </p:txBody>
      </p:sp>
      <p:sp>
        <p:nvSpPr>
          <p:cNvPr id="38" name="TextBox 37"/>
          <p:cNvSpPr txBox="1"/>
          <p:nvPr/>
        </p:nvSpPr>
        <p:spPr>
          <a:xfrm>
            <a:off x="3611880" y="5394960"/>
            <a:ext cx="2240280" cy="274320"/>
          </a:xfrm>
          <a:prstGeom prst="rect">
            <a:avLst/>
          </a:prstGeom>
          <a:noFill/>
        </p:spPr>
        <p:txBody>
          <a:bodyPr wrap="square" lIns="0" tIns="0" rIns="0" bIns="0" anchor="t">
            <a:spAutoFit/>
          </a:bodyPr>
          <a:lstStyle/>
          <a:p>
            <a:pPr algn="l"/>
            <a:r>
              <a:rPr sz="1500" b="1" i="0">
                <a:solidFill>
                  <a:srgbClr val="1E293B"/>
                </a:solidFill>
                <a:latin typeface="Arial"/>
              </a:rPr>
              <a:t>Chemists &amp; pharma</a:t>
            </a:r>
          </a:p>
        </p:txBody>
      </p:sp>
      <p:sp>
        <p:nvSpPr>
          <p:cNvPr id="39" name="TextBox 38"/>
          <p:cNvSpPr txBox="1"/>
          <p:nvPr/>
        </p:nvSpPr>
        <p:spPr>
          <a:xfrm>
            <a:off x="3611880" y="5669280"/>
            <a:ext cx="2240280" cy="457200"/>
          </a:xfrm>
          <a:prstGeom prst="rect">
            <a:avLst/>
          </a:prstGeom>
          <a:noFill/>
        </p:spPr>
        <p:txBody>
          <a:bodyPr wrap="square" lIns="0" tIns="0" rIns="0" bIns="0" anchor="t">
            <a:spAutoFit/>
          </a:bodyPr>
          <a:lstStyle/>
          <a:p>
            <a:pPr algn="l"/>
            <a:r>
              <a:rPr sz="1200" b="0" i="0">
                <a:solidFill>
                  <a:srgbClr val="64748B"/>
                </a:solidFill>
                <a:latin typeface="Arial"/>
              </a:rPr>
              <a:t>molecules, liquids, drug-like systems</a:t>
            </a:r>
          </a:p>
        </p:txBody>
      </p:sp>
      <p:sp>
        <p:nvSpPr>
          <p:cNvPr id="40" name="Rounded Rectangle 39"/>
          <p:cNvSpPr/>
          <p:nvPr/>
        </p:nvSpPr>
        <p:spPr>
          <a:xfrm>
            <a:off x="6217920" y="4526280"/>
            <a:ext cx="2606040" cy="1691640"/>
          </a:xfrm>
          <a:prstGeom prst="roundRect">
            <a:avLst>
              <a:gd name="adj" fmla="val 8108"/>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6437376" y="4700016"/>
            <a:ext cx="566928" cy="56692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500" b="1" i="0">
                <a:solidFill>
                  <a:srgbClr val="FFFFFF"/>
                </a:solidFill>
                <a:latin typeface="Arial"/>
              </a:rPr>
              <a:t>MD</a:t>
            </a:r>
          </a:p>
        </p:txBody>
      </p:sp>
      <p:sp>
        <p:nvSpPr>
          <p:cNvPr id="42" name="TextBox 41"/>
          <p:cNvSpPr txBox="1"/>
          <p:nvPr/>
        </p:nvSpPr>
        <p:spPr>
          <a:xfrm>
            <a:off x="6446520" y="5394960"/>
            <a:ext cx="2240280" cy="274320"/>
          </a:xfrm>
          <a:prstGeom prst="rect">
            <a:avLst/>
          </a:prstGeom>
          <a:noFill/>
        </p:spPr>
        <p:txBody>
          <a:bodyPr wrap="square" lIns="0" tIns="0" rIns="0" bIns="0" anchor="t">
            <a:spAutoFit/>
          </a:bodyPr>
          <a:lstStyle/>
          <a:p>
            <a:pPr algn="l"/>
            <a:r>
              <a:rPr sz="1500" b="1" i="0">
                <a:solidFill>
                  <a:srgbClr val="1E293B"/>
                </a:solidFill>
                <a:latin typeface="Arial"/>
              </a:rPr>
              <a:t>Simulation engineers</a:t>
            </a:r>
          </a:p>
        </p:txBody>
      </p:sp>
      <p:sp>
        <p:nvSpPr>
          <p:cNvPr id="43" name="TextBox 42"/>
          <p:cNvSpPr txBox="1"/>
          <p:nvPr/>
        </p:nvSpPr>
        <p:spPr>
          <a:xfrm>
            <a:off x="6446520" y="5669280"/>
            <a:ext cx="2240280" cy="457200"/>
          </a:xfrm>
          <a:prstGeom prst="rect">
            <a:avLst/>
          </a:prstGeom>
          <a:noFill/>
        </p:spPr>
        <p:txBody>
          <a:bodyPr wrap="square" lIns="0" tIns="0" rIns="0" bIns="0" anchor="t">
            <a:spAutoFit/>
          </a:bodyPr>
          <a:lstStyle/>
          <a:p>
            <a:pPr algn="l"/>
            <a:r>
              <a:rPr sz="1200" b="0" i="0">
                <a:solidFill>
                  <a:srgbClr val="64748B"/>
                </a:solidFill>
                <a:latin typeface="Arial"/>
              </a:rPr>
              <a:t>10⁴–10⁶ atoms, nanoseconds of motion</a:t>
            </a:r>
          </a:p>
        </p:txBody>
      </p:sp>
      <p:sp>
        <p:nvSpPr>
          <p:cNvPr id="44" name="Rounded Rectangle 43"/>
          <p:cNvSpPr/>
          <p:nvPr/>
        </p:nvSpPr>
        <p:spPr>
          <a:xfrm>
            <a:off x="9052560" y="4526280"/>
            <a:ext cx="2606040" cy="1691640"/>
          </a:xfrm>
          <a:prstGeom prst="roundRect">
            <a:avLst>
              <a:gd name="adj" fmla="val 8108"/>
            </a:avLst>
          </a:prstGeom>
          <a:solidFill>
            <a:srgbClr val="500000"/>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Oval 44"/>
          <p:cNvSpPr/>
          <p:nvPr/>
        </p:nvSpPr>
        <p:spPr>
          <a:xfrm>
            <a:off x="9272016" y="4700016"/>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500" b="1" i="0">
                <a:solidFill>
                  <a:srgbClr val="500000"/>
                </a:solidFill>
                <a:latin typeface="Arial"/>
              </a:rPr>
              <a:t>AI</a:t>
            </a:r>
          </a:p>
        </p:txBody>
      </p:sp>
      <p:sp>
        <p:nvSpPr>
          <p:cNvPr id="46" name="TextBox 45"/>
          <p:cNvSpPr txBox="1"/>
          <p:nvPr/>
        </p:nvSpPr>
        <p:spPr>
          <a:xfrm>
            <a:off x="9281160" y="5394960"/>
            <a:ext cx="2240280" cy="274320"/>
          </a:xfrm>
          <a:prstGeom prst="rect">
            <a:avLst/>
          </a:prstGeom>
          <a:noFill/>
        </p:spPr>
        <p:txBody>
          <a:bodyPr wrap="square" lIns="0" tIns="0" rIns="0" bIns="0" anchor="t">
            <a:spAutoFit/>
          </a:bodyPr>
          <a:lstStyle/>
          <a:p>
            <a:pPr algn="l"/>
            <a:r>
              <a:rPr sz="1500" b="1" i="0">
                <a:solidFill>
                  <a:srgbClr val="FFFFFF"/>
                </a:solidFill>
                <a:latin typeface="Arial"/>
              </a:rPr>
              <a:t>AI agents</a:t>
            </a:r>
          </a:p>
        </p:txBody>
      </p:sp>
      <p:sp>
        <p:nvSpPr>
          <p:cNvPr id="47" name="TextBox 46"/>
          <p:cNvSpPr txBox="1"/>
          <p:nvPr/>
        </p:nvSpPr>
        <p:spPr>
          <a:xfrm>
            <a:off x="9281160" y="5669280"/>
            <a:ext cx="2240280" cy="457200"/>
          </a:xfrm>
          <a:prstGeom prst="rect">
            <a:avLst/>
          </a:prstGeom>
          <a:noFill/>
        </p:spPr>
        <p:txBody>
          <a:bodyPr wrap="square" lIns="0" tIns="0" rIns="0" bIns="0" anchor="t">
            <a:spAutoFit/>
          </a:bodyPr>
          <a:lstStyle/>
          <a:p>
            <a:pPr algn="l"/>
            <a:r>
              <a:rPr sz="1200" b="0" i="0">
                <a:solidFill>
                  <a:srgbClr val="E3C4C4"/>
                </a:solidFill>
                <a:latin typeface="Arial"/>
              </a:rPr>
              <a:t>a fast, callable physics oracle</a:t>
            </a:r>
          </a:p>
        </p:txBody>
      </p:sp>
      <p:sp>
        <p:nvSpPr>
          <p:cNvPr id="48" name="TextBox 47"/>
          <p:cNvSpPr txBox="1"/>
          <p:nvPr/>
        </p:nvSpPr>
        <p:spPr>
          <a:xfrm>
            <a:off x="548640" y="6428232"/>
            <a:ext cx="9601200" cy="228600"/>
          </a:xfrm>
          <a:prstGeom prst="rect">
            <a:avLst/>
          </a:prstGeom>
          <a:noFill/>
        </p:spPr>
        <p:txBody>
          <a:bodyPr wrap="square" lIns="0" tIns="0" rIns="0" bIns="0" anchor="t">
            <a:spAutoFit/>
          </a:bodyPr>
          <a:lstStyle/>
          <a:p>
            <a:pPr algn="l"/>
            <a:r>
              <a:rPr sz="900" b="0" i="0">
                <a:solidFill>
                  <a:srgbClr val="94A3B8"/>
                </a:solidFill>
                <a:latin typeface="Arial"/>
              </a:rPr>
              <a:t>Batatia et al., NeurIPS 2022 (MACE); MACE-MP-0 foundation model covers 89 elements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p:spPr>
        <p:txBody>
          <a:bodyPr wrap="square" lIns="0" tIns="0" rIns="0" bIns="0" anchor="t">
            <a:spAutoFit/>
          </a:bodyPr>
          <a:lstStyle/>
          <a:p>
            <a:pPr algn="l"/>
            <a:r>
              <a:rPr sz="1100" b="1" i="0">
                <a:solidFill>
                  <a:srgbClr val="B87878"/>
                </a:solidFill>
                <a:latin typeface="Arial"/>
              </a:rPr>
              <a:t>PART 1 · THE MODEL</a:t>
            </a:r>
          </a:p>
        </p:txBody>
      </p:sp>
      <p:sp>
        <p:nvSpPr>
          <p:cNvPr id="3" name="Title"/>
          <p:cNvSpPr txBox="1"/>
          <p:nvPr/>
        </p:nvSpPr>
        <p:spPr>
          <a:xfrm>
            <a:off x="548640" y="566928"/>
            <a:ext cx="11064240" cy="640080"/>
          </a:xfrm>
          <a:prstGeom prst="rect">
            <a:avLst/>
          </a:prstGeom>
          <a:noFill/>
        </p:spPr>
        <p:txBody>
          <a:bodyPr wrap="square" lIns="0" tIns="0" rIns="0" bIns="0" anchor="t">
            <a:spAutoFit/>
          </a:bodyPr>
          <a:lstStyle/>
          <a:p>
            <a:pPr algn="l"/>
            <a:r>
              <a:rPr sz="3400" b="1" i="0">
                <a:solidFill>
                  <a:srgbClr val="500000"/>
                </a:solidFill>
                <a:latin typeface="Arial"/>
              </a:rPr>
              <a:t>Where MACE sits: accuracy vs. cost</a:t>
            </a:r>
          </a:p>
        </p:txBody>
      </p:sp>
      <p:sp>
        <p:nvSpPr>
          <p:cNvPr id="4" name="Subtitle"/>
          <p:cNvSpPr txBox="1"/>
          <p:nvPr/>
        </p:nvSpPr>
        <p:spPr>
          <a:xfrm>
            <a:off x="548640" y="1207008"/>
            <a:ext cx="11064240" cy="365760"/>
          </a:xfrm>
          <a:prstGeom prst="rect">
            <a:avLst/>
          </a:prstGeom>
          <a:noFill/>
        </p:spPr>
        <p:txBody>
          <a:bodyPr wrap="square" lIns="0" tIns="0" rIns="0" bIns="0" anchor="t">
            <a:spAutoFit/>
          </a:bodyPr>
          <a:lstStyle/>
          <a:p>
            <a:pPr algn="l"/>
            <a:r>
              <a:rPr sz="1500" b="0" i="1">
                <a:solidFill>
                  <a:srgbClr val="64748B"/>
                </a:solidFill>
                <a:latin typeface="Arial"/>
              </a:rPr>
              <a:t>Learn from expensive quantum calculations once, then predict cheaply forever</a:t>
            </a:r>
          </a:p>
        </p:txBody>
      </p:sp>
      <p:sp>
        <p:nvSpPr>
          <p:cNvPr id="5" name="TextBox 4"/>
          <p:cNvSpPr txBox="1"/>
          <p:nvPr/>
        </p:nvSpPr>
        <p:spPr>
          <a:xfrm>
            <a:off x="11155680" y="6400800"/>
            <a:ext cx="548640" cy="228600"/>
          </a:xfrm>
          <a:prstGeom prst="rect">
            <a:avLst/>
          </a:prstGeom>
          <a:noFill/>
        </p:spPr>
        <p:txBody>
          <a:bodyPr wrap="square" lIns="0" tIns="0" rIns="0" bIns="0" anchor="t">
            <a:spAutoFit/>
          </a:bodyPr>
          <a:lstStyle/>
          <a:p>
            <a:pPr algn="r"/>
            <a:r>
              <a:rPr sz="1000" b="1" i="0">
                <a:solidFill>
                  <a:srgbClr val="500000"/>
                </a:solidFill>
                <a:latin typeface="Arial"/>
              </a:rPr>
              <a:t>03</a:t>
            </a:r>
          </a:p>
        </p:txBody>
      </p:sp>
      <p:cxnSp>
        <p:nvCxnSpPr>
          <p:cNvPr id="6" name="Connector 5"/>
          <p:cNvCxnSpPr/>
          <p:nvPr/>
        </p:nvCxnSpPr>
        <p:spPr>
          <a:xfrm>
            <a:off x="1005840" y="5394960"/>
            <a:ext cx="4937760" cy="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05840" y="1783080"/>
            <a:ext cx="0" cy="361188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05840" y="5486400"/>
            <a:ext cx="4937760" cy="274320"/>
          </a:xfrm>
          <a:prstGeom prst="rect">
            <a:avLst/>
          </a:prstGeom>
          <a:noFill/>
        </p:spPr>
        <p:txBody>
          <a:bodyPr wrap="square" lIns="0" tIns="0" rIns="0" bIns="0" anchor="t">
            <a:spAutoFit/>
          </a:bodyPr>
          <a:lstStyle/>
          <a:p>
            <a:pPr algn="l"/>
            <a:r>
              <a:rPr sz="1200" b="0" i="0">
                <a:solidFill>
                  <a:srgbClr val="64748B"/>
                </a:solidFill>
                <a:latin typeface="Arial"/>
              </a:rPr>
              <a:t>compute cost per calculation  (log scale)  →</a:t>
            </a:r>
          </a:p>
        </p:txBody>
      </p:sp>
      <p:sp>
        <p:nvSpPr>
          <p:cNvPr id="9" name="TextBox 8"/>
          <p:cNvSpPr txBox="1"/>
          <p:nvPr/>
        </p:nvSpPr>
        <p:spPr>
          <a:xfrm rot="16200000">
            <a:off x="-502920" y="3383280"/>
            <a:ext cx="2011680" cy="320040"/>
          </a:xfrm>
          <a:prstGeom prst="rect">
            <a:avLst/>
          </a:prstGeom>
          <a:noFill/>
        </p:spPr>
        <p:txBody>
          <a:bodyPr wrap="square" lIns="0" tIns="0" rIns="0" bIns="0" anchor="ctr">
            <a:spAutoFit/>
          </a:bodyPr>
          <a:lstStyle/>
          <a:p>
            <a:pPr algn="ctr"/>
            <a:r>
              <a:rPr sz="1200" b="0" i="0">
                <a:solidFill>
                  <a:srgbClr val="64748B"/>
                </a:solidFill>
                <a:latin typeface="Arial"/>
              </a:rPr>
              <a:t>accuracy  →</a:t>
            </a:r>
          </a:p>
        </p:txBody>
      </p:sp>
      <p:sp>
        <p:nvSpPr>
          <p:cNvPr id="10" name="Oval 9"/>
          <p:cNvSpPr/>
          <p:nvPr/>
        </p:nvSpPr>
        <p:spPr>
          <a:xfrm>
            <a:off x="1348740" y="4457700"/>
            <a:ext cx="502920" cy="502920"/>
          </a:xfrm>
          <a:prstGeom prst="ellipse">
            <a:avLst/>
          </a:prstGeom>
          <a:solidFill>
            <a:srgbClr val="94A3B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2263140" y="2263140"/>
            <a:ext cx="868680" cy="868680"/>
          </a:xfrm>
          <a:prstGeom prst="ellipse">
            <a:avLst/>
          </a:prstGeom>
          <a:solidFill>
            <a:srgbClr val="5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4183380" y="2171700"/>
            <a:ext cx="685800" cy="685800"/>
          </a:xfrm>
          <a:prstGeom prst="ellipse">
            <a:avLst/>
          </a:prstGeom>
          <a:solidFill>
            <a:srgbClr val="1E293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5212080" y="1737360"/>
            <a:ext cx="548640" cy="548640"/>
          </a:xfrm>
          <a:prstGeom prst="ellipse">
            <a:avLst/>
          </a:prstGeom>
          <a:solidFill>
            <a:srgbClr val="64748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4" name="Connector 13"/>
          <p:cNvCxnSpPr/>
          <p:nvPr/>
        </p:nvCxnSpPr>
        <p:spPr>
          <a:xfrm flipH="1">
            <a:off x="3200400" y="2578608"/>
            <a:ext cx="960120" cy="91440"/>
          </a:xfrm>
          <a:prstGeom prst="line">
            <a:avLst/>
          </a:prstGeom>
          <a:ln w="28575">
            <a:solidFill>
              <a:srgbClr val="C9A227"/>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54680" y="2011680"/>
            <a:ext cx="1463040" cy="274320"/>
          </a:xfrm>
          <a:prstGeom prst="rect">
            <a:avLst/>
          </a:prstGeom>
          <a:noFill/>
        </p:spPr>
        <p:txBody>
          <a:bodyPr wrap="square" lIns="0" tIns="0" rIns="0" bIns="0" anchor="t">
            <a:spAutoFit/>
          </a:bodyPr>
          <a:lstStyle/>
          <a:p>
            <a:pPr algn="l"/>
            <a:r>
              <a:rPr sz="1100" b="1" i="1">
                <a:solidFill>
                  <a:srgbClr val="C9A227"/>
                </a:solidFill>
                <a:latin typeface="Arial"/>
              </a:rPr>
              <a:t>trained on DFT</a:t>
            </a:r>
          </a:p>
        </p:txBody>
      </p:sp>
      <p:sp>
        <p:nvSpPr>
          <p:cNvPr id="16" name="TextBox 15"/>
          <p:cNvSpPr txBox="1"/>
          <p:nvPr/>
        </p:nvSpPr>
        <p:spPr>
          <a:xfrm>
            <a:off x="1051560" y="4023360"/>
            <a:ext cx="1371600" cy="457200"/>
          </a:xfrm>
          <a:prstGeom prst="rect">
            <a:avLst/>
          </a:prstGeom>
          <a:noFill/>
        </p:spPr>
        <p:txBody>
          <a:bodyPr wrap="square" lIns="0" tIns="0" rIns="0" bIns="0" anchor="t">
            <a:spAutoFit/>
          </a:bodyPr>
          <a:lstStyle/>
          <a:p>
            <a:pPr algn="ctr"/>
            <a:r>
              <a:rPr sz="1200" b="0" i="0">
                <a:solidFill>
                  <a:srgbClr val="64748B"/>
                </a:solidFill>
                <a:latin typeface="Arial"/>
              </a:rPr>
              <a:t>Classical force fields</a:t>
            </a:r>
          </a:p>
        </p:txBody>
      </p:sp>
      <p:sp>
        <p:nvSpPr>
          <p:cNvPr id="17" name="TextBox 16"/>
          <p:cNvSpPr txBox="1"/>
          <p:nvPr/>
        </p:nvSpPr>
        <p:spPr>
          <a:xfrm>
            <a:off x="2057400" y="3200400"/>
            <a:ext cx="1280160" cy="274320"/>
          </a:xfrm>
          <a:prstGeom prst="rect">
            <a:avLst/>
          </a:prstGeom>
          <a:noFill/>
        </p:spPr>
        <p:txBody>
          <a:bodyPr wrap="square" lIns="0" tIns="0" rIns="0" bIns="0" anchor="t">
            <a:spAutoFit/>
          </a:bodyPr>
          <a:lstStyle/>
          <a:p>
            <a:pPr algn="ctr"/>
            <a:r>
              <a:rPr sz="1400" b="1" i="0">
                <a:solidFill>
                  <a:srgbClr val="500000"/>
                </a:solidFill>
                <a:latin typeface="Arial"/>
              </a:rPr>
              <a:t>MACE</a:t>
            </a:r>
          </a:p>
        </p:txBody>
      </p:sp>
      <p:sp>
        <p:nvSpPr>
          <p:cNvPr id="18" name="TextBox 17"/>
          <p:cNvSpPr txBox="1"/>
          <p:nvPr/>
        </p:nvSpPr>
        <p:spPr>
          <a:xfrm>
            <a:off x="3977639" y="2926080"/>
            <a:ext cx="1097280" cy="274320"/>
          </a:xfrm>
          <a:prstGeom prst="rect">
            <a:avLst/>
          </a:prstGeom>
          <a:noFill/>
        </p:spPr>
        <p:txBody>
          <a:bodyPr wrap="square" lIns="0" tIns="0" rIns="0" bIns="0" anchor="t">
            <a:spAutoFit/>
          </a:bodyPr>
          <a:lstStyle/>
          <a:p>
            <a:pPr algn="ctr"/>
            <a:r>
              <a:rPr sz="1300" b="1" i="0">
                <a:solidFill>
                  <a:srgbClr val="1E293B"/>
                </a:solidFill>
                <a:latin typeface="Arial"/>
              </a:rPr>
              <a:t>DFT</a:t>
            </a:r>
          </a:p>
        </p:txBody>
      </p:sp>
      <p:sp>
        <p:nvSpPr>
          <p:cNvPr id="19" name="TextBox 18"/>
          <p:cNvSpPr txBox="1"/>
          <p:nvPr/>
        </p:nvSpPr>
        <p:spPr>
          <a:xfrm>
            <a:off x="4846320" y="2377440"/>
            <a:ext cx="1280160" cy="457200"/>
          </a:xfrm>
          <a:prstGeom prst="rect">
            <a:avLst/>
          </a:prstGeom>
          <a:noFill/>
        </p:spPr>
        <p:txBody>
          <a:bodyPr wrap="square" lIns="0" tIns="0" rIns="0" bIns="0" anchor="t">
            <a:spAutoFit/>
          </a:bodyPr>
          <a:lstStyle/>
          <a:p>
            <a:pPr algn="ctr"/>
            <a:r>
              <a:rPr sz="1200" b="0" i="0">
                <a:solidFill>
                  <a:srgbClr val="64748B"/>
                </a:solidFill>
                <a:latin typeface="Arial"/>
              </a:rPr>
              <a:t>Coupled cluster</a:t>
            </a:r>
          </a:p>
        </p:txBody>
      </p:sp>
      <p:sp>
        <p:nvSpPr>
          <p:cNvPr id="20" name="Rounded Rectangle 19"/>
          <p:cNvSpPr/>
          <p:nvPr/>
        </p:nvSpPr>
        <p:spPr>
          <a:xfrm>
            <a:off x="3017520" y="3657600"/>
            <a:ext cx="2743200" cy="914400"/>
          </a:xfrm>
          <a:prstGeom prst="roundRect">
            <a:avLst>
              <a:gd name="adj" fmla="val 12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3154680" y="3703320"/>
            <a:ext cx="2514600" cy="822960"/>
          </a:xfrm>
          <a:prstGeom prst="rect">
            <a:avLst/>
          </a:prstGeom>
          <a:noFill/>
        </p:spPr>
        <p:txBody>
          <a:bodyPr wrap="square" lIns="0" tIns="0" rIns="0" bIns="0" anchor="ctr">
            <a:spAutoFit/>
          </a:bodyPr>
          <a:lstStyle/>
          <a:p>
            <a:pPr algn="l"/>
            <a:r>
              <a:rPr sz="1300" b="1" i="0">
                <a:solidFill>
                  <a:srgbClr val="500000"/>
                </a:solidFill>
                <a:latin typeface="Arial"/>
              </a:rPr>
              <a:t>Sweet spot: </a:t>
            </a:r>
            <a:r>
              <a:rPr sz="1300" b="0" i="0">
                <a:solidFill>
                  <a:srgbClr val="1E293B"/>
                </a:solidFill>
                <a:latin typeface="Arial"/>
              </a:rPr>
              <a:t>near-DFT accuracy at a tiny fraction of the cost</a:t>
            </a:r>
          </a:p>
        </p:txBody>
      </p:sp>
      <p:graphicFrame>
        <p:nvGraphicFramePr>
          <p:cNvPr id="22" name="Chart 21"/>
          <p:cNvGraphicFramePr>
            <a:graphicFrameLocks noGrp="1"/>
          </p:cNvGraphicFramePr>
          <p:nvPr/>
        </p:nvGraphicFramePr>
        <p:xfrm>
          <a:off x="6492240" y="1691640"/>
          <a:ext cx="5166360" cy="3977639"/>
        </p:xfrm>
        <a:graphic>
          <a:graphicData uri="http://schemas.openxmlformats.org/drawingml/2006/chart">
            <c:chart xmlns:c="http://schemas.openxmlformats.org/drawingml/2006/chart" xmlns:r="http://schemas.openxmlformats.org/officeDocument/2006/relationships" r:id="rId3"/>
          </a:graphicData>
        </a:graphic>
      </p:graphicFrame>
      <p:sp>
        <p:nvSpPr>
          <p:cNvPr id="23" name="Rounded Rectangle 22"/>
          <p:cNvSpPr/>
          <p:nvPr/>
        </p:nvSpPr>
        <p:spPr>
          <a:xfrm>
            <a:off x="9646920" y="2971800"/>
            <a:ext cx="1828800" cy="548640"/>
          </a:xfrm>
          <a:prstGeom prst="roundRect">
            <a:avLst>
              <a:gd name="adj" fmla="val 20000"/>
            </a:avLst>
          </a:prstGeom>
          <a:solidFill>
            <a:srgbClr val="FFFFFF"/>
          </a:solidFill>
          <a:ln w="12700">
            <a:solidFill>
              <a:srgbClr val="E3C4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692640" y="3017520"/>
            <a:ext cx="1737360" cy="457200"/>
          </a:xfrm>
          <a:prstGeom prst="rect">
            <a:avLst/>
          </a:prstGeom>
          <a:noFill/>
        </p:spPr>
        <p:txBody>
          <a:bodyPr wrap="square" lIns="0" tIns="0" rIns="0" bIns="0" anchor="ctr">
            <a:spAutoFit/>
          </a:bodyPr>
          <a:lstStyle/>
          <a:p>
            <a:pPr algn="ctr"/>
            <a:r>
              <a:rPr sz="1500" b="1" i="0">
                <a:solidFill>
                  <a:srgbClr val="500000"/>
                </a:solidFill>
                <a:latin typeface="Arial"/>
              </a:rPr>
              <a:t>10⁹× gap</a:t>
            </a:r>
          </a:p>
          <a:p>
            <a:pPr algn="ctr"/>
            <a:r>
              <a:rPr sz="1000" b="0" i="0">
                <a:solidFill>
                  <a:srgbClr val="64748B"/>
                </a:solidFill>
                <a:latin typeface="Arial"/>
              </a:rPr>
              <a:t>at 10k atoms</a:t>
            </a:r>
          </a:p>
        </p:txBody>
      </p:sp>
      <p:sp>
        <p:nvSpPr>
          <p:cNvPr id="25" name="Rounded Rectangle 24"/>
          <p:cNvSpPr/>
          <p:nvPr/>
        </p:nvSpPr>
        <p:spPr>
          <a:xfrm>
            <a:off x="548640" y="5852160"/>
            <a:ext cx="11091672" cy="457200"/>
          </a:xfrm>
          <a:prstGeom prst="roundRect">
            <a:avLst>
              <a:gd name="adj" fmla="val 24000"/>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FFFFFF"/>
                </a:solidFill>
                <a:latin typeface="Arial"/>
              </a:rPr>
              <a:t>MACE scales linearly: big systems and long simulations become possible</a:t>
            </a:r>
          </a:p>
        </p:txBody>
      </p:sp>
      <p:sp>
        <p:nvSpPr>
          <p:cNvPr id="26" name="TextBox 25"/>
          <p:cNvSpPr txBox="1"/>
          <p:nvPr/>
        </p:nvSpPr>
        <p:spPr>
          <a:xfrm>
            <a:off x="548640" y="6428232"/>
            <a:ext cx="9601200" cy="228600"/>
          </a:xfrm>
          <a:prstGeom prst="rect">
            <a:avLst/>
          </a:prstGeom>
          <a:noFill/>
        </p:spPr>
        <p:txBody>
          <a:bodyPr wrap="square" lIns="0" tIns="0" rIns="0" bIns="0" anchor="t">
            <a:spAutoFit/>
          </a:bodyPr>
          <a:lstStyle/>
          <a:p>
            <a:pPr algn="l"/>
            <a:r>
              <a:rPr sz="900" b="0" i="0">
                <a:solidFill>
                  <a:srgbClr val="94A3B8"/>
                </a:solidFill>
                <a:latin typeface="Arial"/>
              </a:rPr>
              <a:t>Scaling curves are illustrative (DFT ~ O(N³), local ML potentials ~ O(N)); constants vary by code and hardware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p:spPr>
        <p:txBody>
          <a:bodyPr wrap="square" lIns="0" tIns="0" rIns="0" bIns="0" anchor="t">
            <a:spAutoFit/>
          </a:bodyPr>
          <a:lstStyle/>
          <a:p>
            <a:pPr algn="l"/>
            <a:r>
              <a:rPr sz="1100" b="1" i="0">
                <a:solidFill>
                  <a:srgbClr val="B87878"/>
                </a:solidFill>
                <a:latin typeface="Arial"/>
              </a:rPr>
              <a:t>PART 2 · THE AGENT</a:t>
            </a:r>
          </a:p>
        </p:txBody>
      </p:sp>
      <p:sp>
        <p:nvSpPr>
          <p:cNvPr id="3" name="Title"/>
          <p:cNvSpPr txBox="1"/>
          <p:nvPr/>
        </p:nvSpPr>
        <p:spPr>
          <a:xfrm>
            <a:off x="548640" y="566928"/>
            <a:ext cx="11064240" cy="640080"/>
          </a:xfrm>
          <a:prstGeom prst="rect">
            <a:avLst/>
          </a:prstGeom>
          <a:noFill/>
        </p:spPr>
        <p:txBody>
          <a:bodyPr wrap="square" lIns="0" tIns="0" rIns="0" bIns="0" anchor="t">
            <a:spAutoFit/>
          </a:bodyPr>
          <a:lstStyle/>
          <a:p>
            <a:pPr algn="l"/>
            <a:r>
              <a:rPr sz="3400" b="1" i="0">
                <a:solidFill>
                  <a:srgbClr val="500000"/>
                </a:solidFill>
                <a:latin typeface="Arial"/>
              </a:rPr>
              <a:t>MACE as the agent's physics tool</a:t>
            </a:r>
          </a:p>
        </p:txBody>
      </p:sp>
      <p:sp>
        <p:nvSpPr>
          <p:cNvPr id="4" name="Subtitle"/>
          <p:cNvSpPr txBox="1"/>
          <p:nvPr/>
        </p:nvSpPr>
        <p:spPr>
          <a:xfrm>
            <a:off x="548640" y="1207008"/>
            <a:ext cx="11064240" cy="365760"/>
          </a:xfrm>
          <a:prstGeom prst="rect">
            <a:avLst/>
          </a:prstGeom>
          <a:noFill/>
        </p:spPr>
        <p:txBody>
          <a:bodyPr wrap="square" lIns="0" tIns="0" rIns="0" bIns="0" anchor="t">
            <a:spAutoFit/>
          </a:bodyPr>
          <a:lstStyle/>
          <a:p>
            <a:pPr algn="l"/>
            <a:r>
              <a:rPr sz="1500" b="0" i="1">
                <a:solidFill>
                  <a:srgbClr val="64748B"/>
                </a:solidFill>
                <a:latin typeface="Arial"/>
              </a:rPr>
              <a:t>The LLM plans and reasons; MACE answers “what would the atoms do?” in milliseconds</a:t>
            </a:r>
          </a:p>
        </p:txBody>
      </p:sp>
      <p:sp>
        <p:nvSpPr>
          <p:cNvPr id="5" name="TextBox 4"/>
          <p:cNvSpPr txBox="1"/>
          <p:nvPr/>
        </p:nvSpPr>
        <p:spPr>
          <a:xfrm>
            <a:off x="11155680" y="6400800"/>
            <a:ext cx="548640" cy="228600"/>
          </a:xfrm>
          <a:prstGeom prst="rect">
            <a:avLst/>
          </a:prstGeom>
          <a:noFill/>
        </p:spPr>
        <p:txBody>
          <a:bodyPr wrap="square" lIns="0" tIns="0" rIns="0" bIns="0" anchor="t">
            <a:spAutoFit/>
          </a:bodyPr>
          <a:lstStyle/>
          <a:p>
            <a:pPr algn="r"/>
            <a:r>
              <a:rPr sz="1000" b="1" i="0">
                <a:solidFill>
                  <a:srgbClr val="500000"/>
                </a:solidFill>
                <a:latin typeface="Arial"/>
              </a:rPr>
              <a:t>06</a:t>
            </a:r>
          </a:p>
        </p:txBody>
      </p:sp>
      <p:sp>
        <p:nvSpPr>
          <p:cNvPr id="6" name="Oval 5"/>
          <p:cNvSpPr/>
          <p:nvPr/>
        </p:nvSpPr>
        <p:spPr>
          <a:xfrm>
            <a:off x="2766060" y="3131820"/>
            <a:ext cx="1325880" cy="1325880"/>
          </a:xfrm>
          <a:prstGeom prst="ellipse">
            <a:avLst/>
          </a:prstGeom>
          <a:solidFill>
            <a:srgbClr val="FFFFFF"/>
          </a:solidFill>
          <a:ln w="25400">
            <a:solidFill>
              <a:srgbClr val="500000"/>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800" b="1" i="0">
                <a:solidFill>
                  <a:srgbClr val="500000"/>
                </a:solidFill>
                <a:latin typeface="Arial"/>
              </a:rPr>
              <a:t>LLM</a:t>
            </a:r>
          </a:p>
          <a:p>
            <a:pPr algn="ctr"/>
            <a:r>
              <a:rPr sz="1200" b="1" i="0">
                <a:solidFill>
                  <a:srgbClr val="500000"/>
                </a:solidFill>
                <a:latin typeface="Arial"/>
              </a:rPr>
              <a:t>agent</a:t>
            </a:r>
          </a:p>
        </p:txBody>
      </p:sp>
      <p:sp>
        <p:nvSpPr>
          <p:cNvPr id="7" name="Rounded Rectangle 6"/>
          <p:cNvSpPr/>
          <p:nvPr/>
        </p:nvSpPr>
        <p:spPr>
          <a:xfrm>
            <a:off x="2514600" y="1737360"/>
            <a:ext cx="182880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i="0">
                <a:solidFill>
                  <a:srgbClr val="1E293B"/>
                </a:solidFill>
                <a:latin typeface="Arial"/>
              </a:rPr>
              <a:t>Plan</a:t>
            </a:r>
          </a:p>
          <a:p>
            <a:pPr algn="ctr"/>
            <a:r>
              <a:rPr sz="1000" b="0" i="0">
                <a:solidFill>
                  <a:srgbClr val="1E293B"/>
                </a:solidFill>
                <a:latin typeface="Arial"/>
              </a:rPr>
              <a:t>hypothesis</a:t>
            </a:r>
          </a:p>
        </p:txBody>
      </p:sp>
      <p:sp>
        <p:nvSpPr>
          <p:cNvPr id="8" name="Rounded Rectangle 7"/>
          <p:cNvSpPr/>
          <p:nvPr/>
        </p:nvSpPr>
        <p:spPr>
          <a:xfrm>
            <a:off x="4526280" y="3429000"/>
            <a:ext cx="182880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i="0">
                <a:solidFill>
                  <a:srgbClr val="1E293B"/>
                </a:solidFill>
                <a:latin typeface="Arial"/>
              </a:rPr>
              <a:t>Build</a:t>
            </a:r>
          </a:p>
          <a:p>
            <a:pPr algn="ctr"/>
            <a:r>
              <a:rPr sz="1000" b="0" i="0">
                <a:solidFill>
                  <a:srgbClr val="1E293B"/>
                </a:solidFill>
                <a:latin typeface="Arial"/>
              </a:rPr>
              <a:t>ASE · pymatgen</a:t>
            </a:r>
          </a:p>
        </p:txBody>
      </p:sp>
      <p:sp>
        <p:nvSpPr>
          <p:cNvPr id="9" name="Rounded Rectangle 8"/>
          <p:cNvSpPr/>
          <p:nvPr/>
        </p:nvSpPr>
        <p:spPr>
          <a:xfrm>
            <a:off x="2514600" y="5120640"/>
            <a:ext cx="1828800" cy="731520"/>
          </a:xfrm>
          <a:prstGeom prst="roundRect">
            <a:avLst>
              <a:gd name="adj" fmla="val 18749"/>
            </a:avLst>
          </a:prstGeom>
          <a:solidFill>
            <a:srgbClr val="500000"/>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i="0">
                <a:solidFill>
                  <a:srgbClr val="FFFFFF"/>
                </a:solidFill>
                <a:latin typeface="Arial"/>
              </a:rPr>
              <a:t>Simulate</a:t>
            </a:r>
          </a:p>
          <a:p>
            <a:pPr algn="ctr"/>
            <a:r>
              <a:rPr sz="1000" b="0" i="0">
                <a:solidFill>
                  <a:srgbClr val="FFFFFF"/>
                </a:solidFill>
                <a:latin typeface="Arial"/>
              </a:rPr>
              <a:t>MACE: relax · MD</a:t>
            </a:r>
          </a:p>
        </p:txBody>
      </p:sp>
      <p:sp>
        <p:nvSpPr>
          <p:cNvPr id="10" name="Rounded Rectangle 9"/>
          <p:cNvSpPr/>
          <p:nvPr/>
        </p:nvSpPr>
        <p:spPr>
          <a:xfrm>
            <a:off x="548640" y="3429000"/>
            <a:ext cx="182880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i="0">
                <a:solidFill>
                  <a:srgbClr val="1E293B"/>
                </a:solidFill>
                <a:latin typeface="Arial"/>
              </a:rPr>
              <a:t>Analyze</a:t>
            </a:r>
          </a:p>
          <a:p>
            <a:pPr algn="ctr"/>
            <a:r>
              <a:rPr sz="1000" b="0" i="0">
                <a:solidFill>
                  <a:srgbClr val="1E293B"/>
                </a:solidFill>
                <a:latin typeface="Arial"/>
              </a:rPr>
              <a:t>rank · decide</a:t>
            </a:r>
          </a:p>
        </p:txBody>
      </p:sp>
      <p:cxnSp>
        <p:nvCxnSpPr>
          <p:cNvPr id="11" name="Connector 10"/>
          <p:cNvCxnSpPr/>
          <p:nvPr/>
        </p:nvCxnSpPr>
        <p:spPr>
          <a:xfrm>
            <a:off x="4389120" y="2286000"/>
            <a:ext cx="868680" cy="1097280"/>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4389120" y="4206240"/>
            <a:ext cx="868680" cy="1097280"/>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1645920" y="4206240"/>
            <a:ext cx="822960" cy="1097280"/>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645920" y="2286000"/>
            <a:ext cx="822960" cy="1097280"/>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03720" y="1783080"/>
            <a:ext cx="4754880" cy="822960"/>
          </a:xfrm>
          <a:prstGeom prst="roundRect">
            <a:avLst>
              <a:gd name="adj" fmla="val 13333"/>
            </a:avLst>
          </a:prstGeom>
          <a:solidFill>
            <a:srgbClr val="E3C4C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2000" b="1" i="0">
                <a:solidFill>
                  <a:srgbClr val="1E293B"/>
                </a:solidFill>
                <a:latin typeface="Arial"/>
              </a:rPr>
              <a:t>10⁶  </a:t>
            </a:r>
            <a:r>
              <a:rPr sz="1300" b="1" i="0">
                <a:solidFill>
                  <a:srgbClr val="1E293B"/>
                </a:solidFill>
                <a:latin typeface="Arial"/>
              </a:rPr>
              <a:t>ideas generated</a:t>
            </a:r>
          </a:p>
          <a:p>
            <a:pPr algn="ctr"/>
            <a:r>
              <a:rPr sz="1000" b="0" i="0">
                <a:solidFill>
                  <a:srgbClr val="1E293B"/>
                </a:solidFill>
                <a:latin typeface="Arial"/>
              </a:rPr>
              <a:t>agent / generative model</a:t>
            </a:r>
          </a:p>
        </p:txBody>
      </p:sp>
      <p:sp>
        <p:nvSpPr>
          <p:cNvPr id="16" name="Rounded Rectangle 15"/>
          <p:cNvSpPr/>
          <p:nvPr/>
        </p:nvSpPr>
        <p:spPr>
          <a:xfrm>
            <a:off x="7315200" y="2743200"/>
            <a:ext cx="3931920" cy="822960"/>
          </a:xfrm>
          <a:prstGeom prst="roundRect">
            <a:avLst>
              <a:gd name="adj" fmla="val 13333"/>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2000" b="1" i="0">
                <a:solidFill>
                  <a:srgbClr val="FFFFFF"/>
                </a:solidFill>
                <a:latin typeface="Arial"/>
              </a:rPr>
              <a:t>10⁴  </a:t>
            </a:r>
            <a:r>
              <a:rPr sz="1300" b="1" i="0">
                <a:solidFill>
                  <a:srgbClr val="FFFFFF"/>
                </a:solidFill>
                <a:latin typeface="Arial"/>
              </a:rPr>
              <a:t>screened with MACE</a:t>
            </a:r>
          </a:p>
          <a:p>
            <a:pPr algn="ctr"/>
            <a:r>
              <a:rPr sz="1000" b="0" i="0">
                <a:solidFill>
                  <a:srgbClr val="FFFFFF"/>
                </a:solidFill>
                <a:latin typeface="Arial"/>
              </a:rPr>
              <a:t>milliseconds each</a:t>
            </a:r>
          </a:p>
        </p:txBody>
      </p:sp>
      <p:sp>
        <p:nvSpPr>
          <p:cNvPr id="17" name="Rounded Rectangle 16"/>
          <p:cNvSpPr/>
          <p:nvPr/>
        </p:nvSpPr>
        <p:spPr>
          <a:xfrm>
            <a:off x="7726680" y="3703320"/>
            <a:ext cx="3108960" cy="822960"/>
          </a:xfrm>
          <a:prstGeom prst="roundRect">
            <a:avLst>
              <a:gd name="adj" fmla="val 13333"/>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2000" b="1" i="0">
                <a:solidFill>
                  <a:srgbClr val="FFFFFF"/>
                </a:solidFill>
                <a:latin typeface="Arial"/>
              </a:rPr>
              <a:t>10²  </a:t>
            </a:r>
            <a:r>
              <a:rPr sz="1300" b="1" i="0">
                <a:solidFill>
                  <a:srgbClr val="FFFFFF"/>
                </a:solidFill>
                <a:latin typeface="Arial"/>
              </a:rPr>
              <a:t>checked with DFT</a:t>
            </a:r>
          </a:p>
          <a:p>
            <a:pPr algn="ctr"/>
            <a:r>
              <a:rPr sz="1000" b="0" i="0">
                <a:solidFill>
                  <a:srgbClr val="FFFFFF"/>
                </a:solidFill>
                <a:latin typeface="Arial"/>
              </a:rPr>
              <a:t>hours each</a:t>
            </a:r>
          </a:p>
        </p:txBody>
      </p:sp>
      <p:sp>
        <p:nvSpPr>
          <p:cNvPr id="18" name="Rounded Rectangle 17"/>
          <p:cNvSpPr/>
          <p:nvPr/>
        </p:nvSpPr>
        <p:spPr>
          <a:xfrm>
            <a:off x="8138160" y="4663440"/>
            <a:ext cx="2286000" cy="822960"/>
          </a:xfrm>
          <a:prstGeom prst="roundRect">
            <a:avLst>
              <a:gd name="adj" fmla="val 13333"/>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2000" b="1" i="0">
                <a:solidFill>
                  <a:srgbClr val="FFFFFF"/>
                </a:solidFill>
                <a:latin typeface="Arial"/>
              </a:rPr>
              <a:t>10  </a:t>
            </a:r>
            <a:r>
              <a:rPr sz="1300" b="1" i="0">
                <a:solidFill>
                  <a:srgbClr val="FFFFFF"/>
                </a:solidFill>
                <a:latin typeface="Arial"/>
              </a:rPr>
              <a:t>made in the lab</a:t>
            </a:r>
          </a:p>
          <a:p>
            <a:pPr algn="ctr"/>
            <a:r>
              <a:rPr sz="1000" b="0" i="0">
                <a:solidFill>
                  <a:srgbClr val="FFFFFF"/>
                </a:solidFill>
                <a:latin typeface="Arial"/>
              </a:rPr>
              <a:t>weeks each</a:t>
            </a:r>
          </a:p>
        </p:txBody>
      </p:sp>
      <p:sp>
        <p:nvSpPr>
          <p:cNvPr id="19" name="Rounded Rectangle 18"/>
          <p:cNvSpPr/>
          <p:nvPr/>
        </p:nvSpPr>
        <p:spPr>
          <a:xfrm>
            <a:off x="6903720" y="5852160"/>
            <a:ext cx="4754880" cy="457200"/>
          </a:xfrm>
          <a:prstGeom prst="roundRect">
            <a:avLst>
              <a:gd name="adj" fmla="val 24000"/>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FFFFFF"/>
                </a:solidFill>
                <a:latin typeface="Arial"/>
              </a:rPr>
              <a:t>Physics cheap enough for an agent to think with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p:spPr>
        <p:txBody>
          <a:bodyPr wrap="square" lIns="0" tIns="0" rIns="0" bIns="0" anchor="t">
            <a:spAutoFit/>
          </a:bodyPr>
          <a:lstStyle/>
          <a:p>
            <a:pPr algn="l"/>
            <a:r>
              <a:rPr sz="1100" b="1" i="0">
                <a:solidFill>
                  <a:srgbClr val="B87878"/>
                </a:solidFill>
                <a:latin typeface="Arial"/>
              </a:rPr>
              <a:t>PART 2 · THE AGENT</a:t>
            </a:r>
          </a:p>
        </p:txBody>
      </p:sp>
      <p:sp>
        <p:nvSpPr>
          <p:cNvPr id="3" name="Title"/>
          <p:cNvSpPr txBox="1"/>
          <p:nvPr/>
        </p:nvSpPr>
        <p:spPr>
          <a:xfrm>
            <a:off x="548640" y="566928"/>
            <a:ext cx="11064240" cy="640080"/>
          </a:xfrm>
          <a:prstGeom prst="rect">
            <a:avLst/>
          </a:prstGeom>
          <a:noFill/>
        </p:spPr>
        <p:txBody>
          <a:bodyPr wrap="square" lIns="0" tIns="0" rIns="0" bIns="0" anchor="t">
            <a:spAutoFit/>
          </a:bodyPr>
          <a:lstStyle/>
          <a:p>
            <a:pPr algn="l"/>
            <a:r>
              <a:rPr sz="3400" b="1" i="0">
                <a:solidFill>
                  <a:srgbClr val="500000"/>
                </a:solidFill>
                <a:latin typeface="Arial"/>
              </a:rPr>
              <a:t>Evolution with MACE as the fitness function</a:t>
            </a:r>
          </a:p>
        </p:txBody>
      </p:sp>
      <p:sp>
        <p:nvSpPr>
          <p:cNvPr id="4" name="Subtitle"/>
          <p:cNvSpPr txBox="1"/>
          <p:nvPr/>
        </p:nvSpPr>
        <p:spPr>
          <a:xfrm>
            <a:off x="548640" y="1207008"/>
            <a:ext cx="11064240" cy="365760"/>
          </a:xfrm>
          <a:prstGeom prst="rect">
            <a:avLst/>
          </a:prstGeom>
          <a:noFill/>
        </p:spPr>
        <p:txBody>
          <a:bodyPr wrap="square" lIns="0" tIns="0" rIns="0" bIns="0" anchor="t">
            <a:spAutoFit/>
          </a:bodyPr>
          <a:lstStyle/>
          <a:p>
            <a:pPr algn="l"/>
            <a:r>
              <a:rPr sz="1500" b="0" i="1">
                <a:solidFill>
                  <a:srgbClr val="64748B"/>
                </a:solidFill>
                <a:latin typeface="Arial"/>
              </a:rPr>
              <a:t>Generate, score, select, repeat: the LLM can be the mutation operator</a:t>
            </a:r>
          </a:p>
        </p:txBody>
      </p:sp>
      <p:sp>
        <p:nvSpPr>
          <p:cNvPr id="5" name="TextBox 4"/>
          <p:cNvSpPr txBox="1"/>
          <p:nvPr/>
        </p:nvSpPr>
        <p:spPr>
          <a:xfrm>
            <a:off x="11155680" y="6400800"/>
            <a:ext cx="548640" cy="228600"/>
          </a:xfrm>
          <a:prstGeom prst="rect">
            <a:avLst/>
          </a:prstGeom>
          <a:noFill/>
        </p:spPr>
        <p:txBody>
          <a:bodyPr wrap="square" lIns="0" tIns="0" rIns="0" bIns="0" anchor="t">
            <a:spAutoFit/>
          </a:bodyPr>
          <a:lstStyle/>
          <a:p>
            <a:pPr algn="r"/>
            <a:r>
              <a:rPr sz="1000" b="1" i="0">
                <a:solidFill>
                  <a:srgbClr val="500000"/>
                </a:solidFill>
                <a:latin typeface="Arial"/>
              </a:rPr>
              <a:t>07</a:t>
            </a:r>
          </a:p>
        </p:txBody>
      </p:sp>
      <p:sp>
        <p:nvSpPr>
          <p:cNvPr id="6" name="Rounded Rectangle 5"/>
          <p:cNvSpPr/>
          <p:nvPr/>
        </p:nvSpPr>
        <p:spPr>
          <a:xfrm>
            <a:off x="2331720" y="1737360"/>
            <a:ext cx="192024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i="0">
                <a:solidFill>
                  <a:srgbClr val="1E293B"/>
                </a:solidFill>
                <a:latin typeface="Arial"/>
              </a:rPr>
              <a:t>Population</a:t>
            </a:r>
          </a:p>
          <a:p>
            <a:pPr algn="ctr"/>
            <a:r>
              <a:rPr sz="1000" b="0" i="0">
                <a:solidFill>
                  <a:srgbClr val="1E293B"/>
                </a:solidFill>
                <a:latin typeface="Arial"/>
              </a:rPr>
              <a:t>candidate structures</a:t>
            </a:r>
          </a:p>
        </p:txBody>
      </p:sp>
      <p:sp>
        <p:nvSpPr>
          <p:cNvPr id="7" name="Rounded Rectangle 6"/>
          <p:cNvSpPr/>
          <p:nvPr/>
        </p:nvSpPr>
        <p:spPr>
          <a:xfrm>
            <a:off x="4023360" y="3063240"/>
            <a:ext cx="192024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i="0">
                <a:solidFill>
                  <a:srgbClr val="1E293B"/>
                </a:solidFill>
                <a:latin typeface="Arial"/>
              </a:rPr>
              <a:t>Mutate</a:t>
            </a:r>
          </a:p>
          <a:p>
            <a:pPr algn="ctr"/>
            <a:r>
              <a:rPr sz="1000" b="0" i="0">
                <a:solidFill>
                  <a:srgbClr val="1E293B"/>
                </a:solidFill>
                <a:latin typeface="Arial"/>
              </a:rPr>
              <a:t>GA swaps  or  LLM ideas</a:t>
            </a:r>
          </a:p>
        </p:txBody>
      </p:sp>
      <p:sp>
        <p:nvSpPr>
          <p:cNvPr id="8" name="Rounded Rectangle 7"/>
          <p:cNvSpPr/>
          <p:nvPr/>
        </p:nvSpPr>
        <p:spPr>
          <a:xfrm>
            <a:off x="2331720" y="4389120"/>
            <a:ext cx="1920240" cy="731520"/>
          </a:xfrm>
          <a:prstGeom prst="roundRect">
            <a:avLst>
              <a:gd name="adj" fmla="val 18749"/>
            </a:avLst>
          </a:prstGeom>
          <a:solidFill>
            <a:srgbClr val="500000"/>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i="0">
                <a:solidFill>
                  <a:srgbClr val="FFFFFF"/>
                </a:solidFill>
                <a:latin typeface="Arial"/>
              </a:rPr>
              <a:t>Score</a:t>
            </a:r>
          </a:p>
          <a:p>
            <a:pPr algn="ctr"/>
            <a:r>
              <a:rPr sz="1000" b="0" i="0">
                <a:solidFill>
                  <a:srgbClr val="FFFFFF"/>
                </a:solidFill>
                <a:latin typeface="Arial"/>
              </a:rPr>
              <a:t>MACE energy</a:t>
            </a:r>
          </a:p>
        </p:txBody>
      </p:sp>
      <p:sp>
        <p:nvSpPr>
          <p:cNvPr id="9" name="Rounded Rectangle 8"/>
          <p:cNvSpPr/>
          <p:nvPr/>
        </p:nvSpPr>
        <p:spPr>
          <a:xfrm>
            <a:off x="640080" y="3063240"/>
            <a:ext cx="192024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i="0">
                <a:solidFill>
                  <a:srgbClr val="1E293B"/>
                </a:solidFill>
                <a:latin typeface="Arial"/>
              </a:rPr>
              <a:t>Select</a:t>
            </a:r>
          </a:p>
          <a:p>
            <a:pPr algn="ctr"/>
            <a:r>
              <a:rPr sz="1000" b="0" i="0">
                <a:solidFill>
                  <a:srgbClr val="1E293B"/>
                </a:solidFill>
                <a:latin typeface="Arial"/>
              </a:rPr>
              <a:t>keep the fittest</a:t>
            </a:r>
          </a:p>
        </p:txBody>
      </p:sp>
      <p:cxnSp>
        <p:nvCxnSpPr>
          <p:cNvPr id="10" name="Connector 9"/>
          <p:cNvCxnSpPr/>
          <p:nvPr/>
        </p:nvCxnSpPr>
        <p:spPr>
          <a:xfrm>
            <a:off x="3900830" y="2580436"/>
            <a:ext cx="473659" cy="371247"/>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900830" y="3906316"/>
            <a:ext cx="473659" cy="371247"/>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209190" y="3906316"/>
            <a:ext cx="473659" cy="371247"/>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209190" y="2580436"/>
            <a:ext cx="473659" cy="371247"/>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560320" y="3246120"/>
            <a:ext cx="1463040" cy="365760"/>
          </a:xfrm>
          <a:prstGeom prst="rect">
            <a:avLst/>
          </a:prstGeom>
          <a:noFill/>
        </p:spPr>
        <p:txBody>
          <a:bodyPr wrap="square" lIns="0" tIns="0" rIns="0" bIns="0" anchor="t">
            <a:spAutoFit/>
          </a:bodyPr>
          <a:lstStyle/>
          <a:p>
            <a:pPr algn="ctr"/>
            <a:r>
              <a:rPr sz="1200" b="0" i="1">
                <a:solidFill>
                  <a:srgbClr val="64748B"/>
                </a:solidFill>
                <a:latin typeface="Arial"/>
              </a:rPr>
              <a:t>×  generations</a:t>
            </a:r>
          </a:p>
        </p:txBody>
      </p:sp>
      <p:sp>
        <p:nvSpPr>
          <p:cNvPr id="15" name="TextBox 14"/>
          <p:cNvSpPr txBox="1"/>
          <p:nvPr/>
        </p:nvSpPr>
        <p:spPr>
          <a:xfrm>
            <a:off x="548640" y="5303520"/>
            <a:ext cx="5486400" cy="274320"/>
          </a:xfrm>
          <a:prstGeom prst="rect">
            <a:avLst/>
          </a:prstGeom>
          <a:noFill/>
        </p:spPr>
        <p:txBody>
          <a:bodyPr wrap="square" lIns="0" tIns="0" rIns="0" bIns="0" anchor="t">
            <a:spAutoFit/>
          </a:bodyPr>
          <a:lstStyle/>
          <a:p>
            <a:pPr algn="l"/>
            <a:r>
              <a:rPr sz="1000" b="1" i="0">
                <a:solidFill>
                  <a:srgbClr val="B87878"/>
                </a:solidFill>
                <a:latin typeface="Arial"/>
              </a:rPr>
              <a:t>GENOME: 32 SITES, 4 LAYERS  (shown: L1₀ CuAu, the known stable phase)</a:t>
            </a:r>
          </a:p>
        </p:txBody>
      </p:sp>
      <p:sp>
        <p:nvSpPr>
          <p:cNvPr id="16" name="Rounded Rectangle 15"/>
          <p:cNvSpPr/>
          <p:nvPr/>
        </p:nvSpPr>
        <p:spPr>
          <a:xfrm>
            <a:off x="548640"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713232"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877824"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1042416"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1207007"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1371600"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1536192"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1700784"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1975104"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2139696"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p:cNvSpPr/>
          <p:nvPr/>
        </p:nvSpPr>
        <p:spPr>
          <a:xfrm>
            <a:off x="2304288"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ounded Rectangle 26"/>
          <p:cNvSpPr/>
          <p:nvPr/>
        </p:nvSpPr>
        <p:spPr>
          <a:xfrm>
            <a:off x="2468880"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2633472"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ounded Rectangle 28"/>
          <p:cNvSpPr/>
          <p:nvPr/>
        </p:nvSpPr>
        <p:spPr>
          <a:xfrm>
            <a:off x="2798064"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ounded Rectangle 29"/>
          <p:cNvSpPr/>
          <p:nvPr/>
        </p:nvSpPr>
        <p:spPr>
          <a:xfrm>
            <a:off x="2962656"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3127248"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ounded Rectangle 31"/>
          <p:cNvSpPr/>
          <p:nvPr/>
        </p:nvSpPr>
        <p:spPr>
          <a:xfrm>
            <a:off x="3401568"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ounded Rectangle 32"/>
          <p:cNvSpPr/>
          <p:nvPr/>
        </p:nvSpPr>
        <p:spPr>
          <a:xfrm>
            <a:off x="3566160"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ounded Rectangle 33"/>
          <p:cNvSpPr/>
          <p:nvPr/>
        </p:nvSpPr>
        <p:spPr>
          <a:xfrm>
            <a:off x="3730752"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ounded Rectangle 34"/>
          <p:cNvSpPr/>
          <p:nvPr/>
        </p:nvSpPr>
        <p:spPr>
          <a:xfrm>
            <a:off x="3895344"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ounded Rectangle 35"/>
          <p:cNvSpPr/>
          <p:nvPr/>
        </p:nvSpPr>
        <p:spPr>
          <a:xfrm>
            <a:off x="4059935"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ounded Rectangle 36"/>
          <p:cNvSpPr/>
          <p:nvPr/>
        </p:nvSpPr>
        <p:spPr>
          <a:xfrm>
            <a:off x="4224528"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ounded Rectangle 37"/>
          <p:cNvSpPr/>
          <p:nvPr/>
        </p:nvSpPr>
        <p:spPr>
          <a:xfrm>
            <a:off x="4389120"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ounded Rectangle 38"/>
          <p:cNvSpPr/>
          <p:nvPr/>
        </p:nvSpPr>
        <p:spPr>
          <a:xfrm>
            <a:off x="4553712"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Rounded Rectangle 39"/>
          <p:cNvSpPr/>
          <p:nvPr/>
        </p:nvSpPr>
        <p:spPr>
          <a:xfrm>
            <a:off x="4828032"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Rounded Rectangle 40"/>
          <p:cNvSpPr/>
          <p:nvPr/>
        </p:nvSpPr>
        <p:spPr>
          <a:xfrm>
            <a:off x="4992624"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ounded Rectangle 41"/>
          <p:cNvSpPr/>
          <p:nvPr/>
        </p:nvSpPr>
        <p:spPr>
          <a:xfrm>
            <a:off x="5157216"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Rounded Rectangle 42"/>
          <p:cNvSpPr/>
          <p:nvPr/>
        </p:nvSpPr>
        <p:spPr>
          <a:xfrm>
            <a:off x="5321807"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Rounded Rectangle 43"/>
          <p:cNvSpPr/>
          <p:nvPr/>
        </p:nvSpPr>
        <p:spPr>
          <a:xfrm>
            <a:off x="5486400"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p:cNvSpPr/>
          <p:nvPr/>
        </p:nvSpPr>
        <p:spPr>
          <a:xfrm>
            <a:off x="5650992"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p:cNvSpPr/>
          <p:nvPr/>
        </p:nvSpPr>
        <p:spPr>
          <a:xfrm>
            <a:off x="5815583"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ounded Rectangle 46"/>
          <p:cNvSpPr/>
          <p:nvPr/>
        </p:nvSpPr>
        <p:spPr>
          <a:xfrm>
            <a:off x="5980176"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548640" y="6035040"/>
            <a:ext cx="5943600" cy="274320"/>
          </a:xfrm>
          <a:prstGeom prst="rect">
            <a:avLst/>
          </a:prstGeom>
          <a:noFill/>
        </p:spPr>
        <p:txBody>
          <a:bodyPr wrap="square" lIns="0" tIns="0" rIns="0" bIns="0" anchor="t">
            <a:spAutoFit/>
          </a:bodyPr>
          <a:lstStyle/>
          <a:p>
            <a:pPr algn="l"/>
            <a:r>
              <a:rPr sz="1100" b="0" i="0">
                <a:solidFill>
                  <a:srgbClr val="B87333"/>
                </a:solidFill>
                <a:latin typeface="Arial"/>
              </a:rPr>
              <a:t>■ </a:t>
            </a:r>
            <a:r>
              <a:rPr sz="1100" b="0" i="0">
                <a:solidFill>
                  <a:srgbClr val="64748B"/>
                </a:solidFill>
                <a:latin typeface="Arial"/>
              </a:rPr>
              <a:t>Cu    </a:t>
            </a:r>
            <a:r>
              <a:rPr sz="1100" b="0" i="0">
                <a:solidFill>
                  <a:srgbClr val="C9A227"/>
                </a:solidFill>
                <a:latin typeface="Arial"/>
              </a:rPr>
              <a:t>■ </a:t>
            </a:r>
            <a:r>
              <a:rPr sz="1100" b="0" i="0">
                <a:solidFill>
                  <a:srgbClr val="64748B"/>
                </a:solidFill>
                <a:latin typeface="Arial"/>
              </a:rPr>
              <a:t>Au</a:t>
            </a:r>
          </a:p>
        </p:txBody>
      </p:sp>
      <p:graphicFrame>
        <p:nvGraphicFramePr>
          <p:cNvPr id="49" name="Chart 48"/>
          <p:cNvGraphicFramePr>
            <a:graphicFrameLocks noGrp="1"/>
          </p:cNvGraphicFramePr>
          <p:nvPr/>
        </p:nvGraphicFramePr>
        <p:xfrm>
          <a:off x="6400800" y="1737360"/>
          <a:ext cx="525780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50" name="TextBox 49"/>
          <p:cNvSpPr txBox="1"/>
          <p:nvPr/>
        </p:nvSpPr>
        <p:spPr>
          <a:xfrm>
            <a:off x="548640" y="6428232"/>
            <a:ext cx="9601200" cy="228600"/>
          </a:xfrm>
          <a:prstGeom prst="rect">
            <a:avLst/>
          </a:prstGeom>
          <a:noFill/>
        </p:spPr>
        <p:txBody>
          <a:bodyPr wrap="square" lIns="0" tIns="0" rIns="0" bIns="0" anchor="t">
            <a:spAutoFit/>
          </a:bodyPr>
          <a:lstStyle/>
          <a:p>
            <a:pPr algn="l"/>
            <a:r>
              <a:rPr sz="900" b="0" i="0">
                <a:solidFill>
                  <a:srgbClr val="94A3B8"/>
                </a:solidFill>
                <a:latin typeface="Arial"/>
              </a:rPr>
              <a:t>Real run from today's demo: 32-atom Cu/Au cell, MACE-MP-0 (small), 235 MACE calls in 17 s on a laptop CPU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500000"/>
        </a:solidFill>
        <a:effectLst/>
      </p:bgPr>
    </p:bg>
    <p:spTree>
      <p:nvGrpSpPr>
        <p:cNvPr id="1" name=""/>
        <p:cNvGrpSpPr/>
        <p:nvPr/>
      </p:nvGrpSpPr>
      <p:grpSpPr>
        <a:xfrm>
          <a:off x="0" y="0"/>
          <a:ext cx="0" cy="0"/>
          <a:chOff x="0" y="0"/>
          <a:chExt cx="0" cy="0"/>
        </a:xfrm>
      </p:grpSpPr>
      <p:sp>
        <p:nvSpPr>
          <p:cNvPr id="2" name="TextBox 1"/>
          <p:cNvSpPr txBox="1"/>
          <p:nvPr/>
        </p:nvSpPr>
        <p:spPr>
          <a:xfrm>
            <a:off x="11155680" y="6400800"/>
            <a:ext cx="548640" cy="228600"/>
          </a:xfrm>
          <a:prstGeom prst="rect">
            <a:avLst/>
          </a:prstGeom>
          <a:noFill/>
        </p:spPr>
        <p:txBody>
          <a:bodyPr wrap="square" lIns="0" tIns="0" rIns="0" bIns="0" anchor="t">
            <a:spAutoFit/>
          </a:bodyPr>
          <a:lstStyle/>
          <a:p>
            <a:pPr algn="r"/>
            <a:r>
              <a:rPr sz="1000" b="1" i="0">
                <a:solidFill>
                  <a:srgbClr val="E3C4C4"/>
                </a:solidFill>
                <a:latin typeface="Arial"/>
              </a:rPr>
              <a:t>10</a:t>
            </a:r>
          </a:p>
        </p:txBody>
      </p:sp>
      <p:sp>
        <p:nvSpPr>
          <p:cNvPr id="3" name="TextBox 2"/>
          <p:cNvSpPr txBox="1"/>
          <p:nvPr/>
        </p:nvSpPr>
        <p:spPr>
          <a:xfrm>
            <a:off x="731520" y="914400"/>
            <a:ext cx="10058400" cy="320040"/>
          </a:xfrm>
          <a:prstGeom prst="rect">
            <a:avLst/>
          </a:prstGeom>
          <a:noFill/>
        </p:spPr>
        <p:txBody>
          <a:bodyPr wrap="square" lIns="0" tIns="0" rIns="0" bIns="0" anchor="t">
            <a:spAutoFit/>
          </a:bodyPr>
          <a:lstStyle/>
          <a:p>
            <a:pPr algn="l"/>
            <a:r>
              <a:rPr sz="1400" b="1" i="0">
                <a:solidFill>
                  <a:srgbClr val="E3C4C4"/>
                </a:solidFill>
                <a:latin typeface="Arial"/>
              </a:rPr>
              <a:t>LIVE DEMO</a:t>
            </a:r>
          </a:p>
        </p:txBody>
      </p:sp>
      <p:sp>
        <p:nvSpPr>
          <p:cNvPr id="4" name="TextBox 3"/>
          <p:cNvSpPr txBox="1"/>
          <p:nvPr/>
        </p:nvSpPr>
        <p:spPr>
          <a:xfrm>
            <a:off x="731520" y="1280160"/>
            <a:ext cx="10515600" cy="1005840"/>
          </a:xfrm>
          <a:prstGeom prst="rect">
            <a:avLst/>
          </a:prstGeom>
          <a:noFill/>
        </p:spPr>
        <p:txBody>
          <a:bodyPr wrap="square" lIns="0" tIns="0" rIns="0" bIns="0" anchor="t">
            <a:spAutoFit/>
          </a:bodyPr>
          <a:lstStyle/>
          <a:p>
            <a:pPr algn="l"/>
            <a:r>
              <a:rPr sz="5400" b="1" i="0">
                <a:solidFill>
                  <a:srgbClr val="FFFFFF"/>
                </a:solidFill>
                <a:latin typeface="Arial"/>
              </a:rPr>
              <a:t>Claude Code  ×  MACE</a:t>
            </a:r>
          </a:p>
        </p:txBody>
      </p:sp>
      <p:sp>
        <p:nvSpPr>
          <p:cNvPr id="5" name="TextBox 4"/>
          <p:cNvSpPr txBox="1"/>
          <p:nvPr/>
        </p:nvSpPr>
        <p:spPr>
          <a:xfrm>
            <a:off x="731520" y="2331720"/>
            <a:ext cx="10515600" cy="457200"/>
          </a:xfrm>
          <a:prstGeom prst="rect">
            <a:avLst/>
          </a:prstGeom>
          <a:noFill/>
        </p:spPr>
        <p:txBody>
          <a:bodyPr wrap="square" lIns="0" tIns="0" rIns="0" bIns="0" anchor="t">
            <a:spAutoFit/>
          </a:bodyPr>
          <a:lstStyle/>
          <a:p>
            <a:pPr algn="l"/>
            <a:r>
              <a:rPr sz="1800" b="0" i="0">
                <a:solidFill>
                  <a:srgbClr val="E3C4C4"/>
                </a:solidFill>
                <a:latin typeface="Arial"/>
              </a:rPr>
              <a:t>An LLM agent in VS Code using MACE as its physics tool, live on this laptop</a:t>
            </a:r>
          </a:p>
        </p:txBody>
      </p:sp>
      <p:sp>
        <p:nvSpPr>
          <p:cNvPr id="6" name="Rounded Rectangle 5"/>
          <p:cNvSpPr/>
          <p:nvPr/>
        </p:nvSpPr>
        <p:spPr>
          <a:xfrm>
            <a:off x="731520" y="3291840"/>
            <a:ext cx="3383280" cy="2377440"/>
          </a:xfrm>
          <a:prstGeom prst="roundRect">
            <a:avLst>
              <a:gd name="adj" fmla="val 5769"/>
            </a:avLst>
          </a:prstGeom>
          <a:solidFill>
            <a:srgbClr val="FFFFFF"/>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982980" y="3543300"/>
            <a:ext cx="685800" cy="68580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2200" b="1" i="0">
                <a:solidFill>
                  <a:srgbClr val="FFFFFF"/>
                </a:solidFill>
                <a:latin typeface="Arial"/>
              </a:rPr>
              <a:t>1</a:t>
            </a:r>
          </a:p>
        </p:txBody>
      </p:sp>
      <p:sp>
        <p:nvSpPr>
          <p:cNvPr id="8" name="TextBox 7"/>
          <p:cNvSpPr txBox="1"/>
          <p:nvPr/>
        </p:nvSpPr>
        <p:spPr>
          <a:xfrm>
            <a:off x="1005840" y="4434840"/>
            <a:ext cx="2834640" cy="365760"/>
          </a:xfrm>
          <a:prstGeom prst="rect">
            <a:avLst/>
          </a:prstGeom>
          <a:noFill/>
        </p:spPr>
        <p:txBody>
          <a:bodyPr wrap="square" lIns="0" tIns="0" rIns="0" bIns="0" anchor="t">
            <a:spAutoFit/>
          </a:bodyPr>
          <a:lstStyle/>
          <a:p>
            <a:pPr algn="l"/>
            <a:r>
              <a:rPr sz="1900" b="1" i="0">
                <a:solidFill>
                  <a:srgbClr val="500000"/>
                </a:solidFill>
                <a:latin typeface="Arial"/>
              </a:rPr>
              <a:t>Forces</a:t>
            </a:r>
          </a:p>
        </p:txBody>
      </p:sp>
      <p:sp>
        <p:nvSpPr>
          <p:cNvPr id="9" name="TextBox 8"/>
          <p:cNvSpPr txBox="1"/>
          <p:nvPr/>
        </p:nvSpPr>
        <p:spPr>
          <a:xfrm>
            <a:off x="1005840" y="4846320"/>
            <a:ext cx="2834640" cy="731520"/>
          </a:xfrm>
          <a:prstGeom prst="rect">
            <a:avLst/>
          </a:prstGeom>
          <a:noFill/>
        </p:spPr>
        <p:txBody>
          <a:bodyPr wrap="square" lIns="0" tIns="0" rIns="0" bIns="0" anchor="t">
            <a:spAutoFit/>
          </a:bodyPr>
          <a:lstStyle/>
          <a:p>
            <a:pPr algn="l"/>
            <a:r>
              <a:rPr sz="1300" b="0" i="0">
                <a:solidFill>
                  <a:srgbClr val="64748B"/>
                </a:solidFill>
                <a:latin typeface="Arial"/>
              </a:rPr>
              <a:t>Stretch a water molecule, read the forces, watch it relax</a:t>
            </a:r>
          </a:p>
        </p:txBody>
      </p:sp>
      <p:sp>
        <p:nvSpPr>
          <p:cNvPr id="10" name="Rounded Rectangle 9"/>
          <p:cNvSpPr/>
          <p:nvPr/>
        </p:nvSpPr>
        <p:spPr>
          <a:xfrm>
            <a:off x="4389120" y="3291840"/>
            <a:ext cx="3383280" cy="2377440"/>
          </a:xfrm>
          <a:prstGeom prst="roundRect">
            <a:avLst>
              <a:gd name="adj" fmla="val 5769"/>
            </a:avLst>
          </a:prstGeom>
          <a:solidFill>
            <a:srgbClr val="FFFFFF"/>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4640580" y="3543300"/>
            <a:ext cx="685800" cy="68580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2200" b="1" i="0">
                <a:solidFill>
                  <a:srgbClr val="FFFFFF"/>
                </a:solidFill>
                <a:latin typeface="Arial"/>
              </a:rPr>
              <a:t>2</a:t>
            </a:r>
          </a:p>
        </p:txBody>
      </p:sp>
      <p:sp>
        <p:nvSpPr>
          <p:cNvPr id="12" name="TextBox 11"/>
          <p:cNvSpPr txBox="1"/>
          <p:nvPr/>
        </p:nvSpPr>
        <p:spPr>
          <a:xfrm>
            <a:off x="4663440" y="4434840"/>
            <a:ext cx="2834640" cy="365760"/>
          </a:xfrm>
          <a:prstGeom prst="rect">
            <a:avLst/>
          </a:prstGeom>
          <a:noFill/>
        </p:spPr>
        <p:txBody>
          <a:bodyPr wrap="square" lIns="0" tIns="0" rIns="0" bIns="0" anchor="t">
            <a:spAutoFit/>
          </a:bodyPr>
          <a:lstStyle/>
          <a:p>
            <a:pPr algn="l"/>
            <a:r>
              <a:rPr sz="1900" b="1" i="0">
                <a:solidFill>
                  <a:srgbClr val="500000"/>
                </a:solidFill>
                <a:latin typeface="Arial"/>
              </a:rPr>
              <a:t>Blind evolution</a:t>
            </a:r>
          </a:p>
        </p:txBody>
      </p:sp>
      <p:sp>
        <p:nvSpPr>
          <p:cNvPr id="13" name="TextBox 12"/>
          <p:cNvSpPr txBox="1"/>
          <p:nvPr/>
        </p:nvSpPr>
        <p:spPr>
          <a:xfrm>
            <a:off x="4663440" y="4846320"/>
            <a:ext cx="2834640" cy="731520"/>
          </a:xfrm>
          <a:prstGeom prst="rect">
            <a:avLst/>
          </a:prstGeom>
          <a:noFill/>
        </p:spPr>
        <p:txBody>
          <a:bodyPr wrap="square" lIns="0" tIns="0" rIns="0" bIns="0" anchor="t">
            <a:spAutoFit/>
          </a:bodyPr>
          <a:lstStyle/>
          <a:p>
            <a:pPr algn="l"/>
            <a:r>
              <a:rPr sz="1300" b="0" i="0">
                <a:solidFill>
                  <a:srgbClr val="64748B"/>
                </a:solidFill>
                <a:latin typeface="Arial"/>
              </a:rPr>
              <a:t>A genetic algorithm scores 235 Cu/Au alloys in 17 s</a:t>
            </a:r>
          </a:p>
        </p:txBody>
      </p:sp>
      <p:sp>
        <p:nvSpPr>
          <p:cNvPr id="14" name="Rounded Rectangle 13"/>
          <p:cNvSpPr/>
          <p:nvPr/>
        </p:nvSpPr>
        <p:spPr>
          <a:xfrm>
            <a:off x="8046720" y="3291840"/>
            <a:ext cx="3383280" cy="2377440"/>
          </a:xfrm>
          <a:prstGeom prst="roundRect">
            <a:avLst>
              <a:gd name="adj" fmla="val 5769"/>
            </a:avLst>
          </a:prstGeom>
          <a:solidFill>
            <a:srgbClr val="FFFFFF"/>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8298180" y="3543300"/>
            <a:ext cx="685800" cy="68580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2200" b="1" i="0">
                <a:solidFill>
                  <a:srgbClr val="FFFFFF"/>
                </a:solidFill>
                <a:latin typeface="Arial"/>
              </a:rPr>
              <a:t>3</a:t>
            </a:r>
          </a:p>
        </p:txBody>
      </p:sp>
      <p:sp>
        <p:nvSpPr>
          <p:cNvPr id="16" name="TextBox 15"/>
          <p:cNvSpPr txBox="1"/>
          <p:nvPr/>
        </p:nvSpPr>
        <p:spPr>
          <a:xfrm>
            <a:off x="8321040" y="4434840"/>
            <a:ext cx="2834640" cy="365760"/>
          </a:xfrm>
          <a:prstGeom prst="rect">
            <a:avLst/>
          </a:prstGeom>
          <a:noFill/>
        </p:spPr>
        <p:txBody>
          <a:bodyPr wrap="square" lIns="0" tIns="0" rIns="0" bIns="0" anchor="t">
            <a:spAutoFit/>
          </a:bodyPr>
          <a:lstStyle/>
          <a:p>
            <a:pPr algn="l"/>
            <a:r>
              <a:rPr sz="1900" b="1" i="0">
                <a:solidFill>
                  <a:srgbClr val="500000"/>
                </a:solidFill>
                <a:latin typeface="Arial"/>
              </a:rPr>
              <a:t>Agent evolution</a:t>
            </a:r>
          </a:p>
        </p:txBody>
      </p:sp>
      <p:sp>
        <p:nvSpPr>
          <p:cNvPr id="17" name="TextBox 16"/>
          <p:cNvSpPr txBox="1"/>
          <p:nvPr/>
        </p:nvSpPr>
        <p:spPr>
          <a:xfrm>
            <a:off x="8321040" y="4846320"/>
            <a:ext cx="2834640" cy="731520"/>
          </a:xfrm>
          <a:prstGeom prst="rect">
            <a:avLst/>
          </a:prstGeom>
          <a:noFill/>
        </p:spPr>
        <p:txBody>
          <a:bodyPr wrap="square" lIns="0" tIns="0" rIns="0" bIns="0" anchor="t">
            <a:spAutoFit/>
          </a:bodyPr>
          <a:lstStyle/>
          <a:p>
            <a:pPr algn="l"/>
            <a:r>
              <a:rPr sz="1300" b="0" i="0">
                <a:solidFill>
                  <a:srgbClr val="64748B"/>
                </a:solidFill>
                <a:latin typeface="Arial"/>
              </a:rPr>
              <a:t>Claude proposes structures, MACE judges them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566928"/>
            <a:ext cx="11064240" cy="640080"/>
          </a:xfrm>
          <a:prstGeom prst="rect">
            <a:avLst/>
          </a:prstGeom>
          <a:noFill/>
        </p:spPr>
        <p:txBody>
          <a:bodyPr wrap="square" lIns="0" tIns="0" rIns="0" bIns="0" anchor="t">
            <a:spAutoFit/>
          </a:bodyPr>
          <a:lstStyle/>
          <a:p>
            <a:pPr algn="l"/>
            <a:r>
              <a:rPr sz="3400" b="1" i="0">
                <a:solidFill>
                  <a:srgbClr val="500000"/>
                </a:solidFill>
                <a:latin typeface="Arial"/>
              </a:rPr>
              <a:t>Key takeaways</a:t>
            </a:r>
          </a:p>
        </p:txBody>
      </p:sp>
      <p:sp>
        <p:nvSpPr>
          <p:cNvPr id="3" name="Subtitle"/>
          <p:cNvSpPr txBox="1"/>
          <p:nvPr/>
        </p:nvSpPr>
        <p:spPr>
          <a:xfrm>
            <a:off x="548640" y="1207008"/>
            <a:ext cx="11064240" cy="365760"/>
          </a:xfrm>
          <a:prstGeom prst="rect">
            <a:avLst/>
          </a:prstGeom>
          <a:noFill/>
        </p:spPr>
        <p:txBody>
          <a:bodyPr wrap="square" lIns="0" tIns="0" rIns="0" bIns="0" anchor="t">
            <a:spAutoFit/>
          </a:bodyPr>
          <a:lstStyle/>
          <a:p>
            <a:pPr algn="l"/>
            <a:r>
              <a:rPr sz="1500" b="0" i="1">
                <a:solidFill>
                  <a:srgbClr val="64748B"/>
                </a:solidFill>
                <a:latin typeface="Arial"/>
              </a:rPr>
              <a:t>Four ideas to leave with</a:t>
            </a:r>
          </a:p>
        </p:txBody>
      </p:sp>
      <p:sp>
        <p:nvSpPr>
          <p:cNvPr id="4" name="TextBox 3"/>
          <p:cNvSpPr txBox="1"/>
          <p:nvPr/>
        </p:nvSpPr>
        <p:spPr>
          <a:xfrm>
            <a:off x="11155680" y="6400800"/>
            <a:ext cx="548640" cy="228600"/>
          </a:xfrm>
          <a:prstGeom prst="rect">
            <a:avLst/>
          </a:prstGeom>
          <a:noFill/>
        </p:spPr>
        <p:txBody>
          <a:bodyPr wrap="square" lIns="0" tIns="0" rIns="0" bIns="0" anchor="t">
            <a:spAutoFit/>
          </a:bodyPr>
          <a:lstStyle/>
          <a:p>
            <a:pPr algn="r"/>
            <a:r>
              <a:rPr sz="1000" b="1" i="0">
                <a:solidFill>
                  <a:srgbClr val="500000"/>
                </a:solidFill>
                <a:latin typeface="Arial"/>
              </a:rPr>
              <a:t>11</a:t>
            </a:r>
          </a:p>
        </p:txBody>
      </p:sp>
      <p:sp>
        <p:nvSpPr>
          <p:cNvPr id="5" name="Rounded Rectangle 4"/>
          <p:cNvSpPr/>
          <p:nvPr/>
        </p:nvSpPr>
        <p:spPr>
          <a:xfrm>
            <a:off x="548640" y="1783080"/>
            <a:ext cx="2606040" cy="3291840"/>
          </a:xfrm>
          <a:prstGeom prst="roundRect">
            <a:avLst>
              <a:gd name="adj" fmla="val 526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00100" y="2080260"/>
            <a:ext cx="868680" cy="868680"/>
          </a:xfrm>
          <a:prstGeom prst="ellipse">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600" b="1" i="0">
                <a:solidFill>
                  <a:srgbClr val="500000"/>
                </a:solidFill>
                <a:latin typeface="Cambria Math"/>
              </a:rPr>
              <a:t>E→F</a:t>
            </a:r>
          </a:p>
        </p:txBody>
      </p:sp>
      <p:sp>
        <p:nvSpPr>
          <p:cNvPr id="7" name="TextBox 6"/>
          <p:cNvSpPr txBox="1"/>
          <p:nvPr/>
        </p:nvSpPr>
        <p:spPr>
          <a:xfrm>
            <a:off x="2377440" y="2103120"/>
            <a:ext cx="548640" cy="640080"/>
          </a:xfrm>
          <a:prstGeom prst="rect">
            <a:avLst/>
          </a:prstGeom>
          <a:noFill/>
        </p:spPr>
        <p:txBody>
          <a:bodyPr wrap="square" lIns="0" tIns="0" rIns="0" bIns="0" anchor="t">
            <a:spAutoFit/>
          </a:bodyPr>
          <a:lstStyle/>
          <a:p>
            <a:pPr algn="r"/>
            <a:r>
              <a:rPr sz="4000" b="1" i="0">
                <a:solidFill>
                  <a:srgbClr val="E3C4C4"/>
                </a:solidFill>
                <a:latin typeface="Arial"/>
              </a:rPr>
              <a:t>1</a:t>
            </a:r>
          </a:p>
        </p:txBody>
      </p:sp>
      <p:sp>
        <p:nvSpPr>
          <p:cNvPr id="8" name="TextBox 7"/>
          <p:cNvSpPr txBox="1"/>
          <p:nvPr/>
        </p:nvSpPr>
        <p:spPr>
          <a:xfrm>
            <a:off x="822959" y="3200400"/>
            <a:ext cx="2148840" cy="685800"/>
          </a:xfrm>
          <a:prstGeom prst="rect">
            <a:avLst/>
          </a:prstGeom>
          <a:noFill/>
        </p:spPr>
        <p:txBody>
          <a:bodyPr wrap="square" lIns="0" tIns="0" rIns="0" bIns="0" anchor="b">
            <a:spAutoFit/>
          </a:bodyPr>
          <a:lstStyle/>
          <a:p>
            <a:pPr algn="l"/>
            <a:r>
              <a:rPr sz="1700" b="1" i="0">
                <a:solidFill>
                  <a:srgbClr val="1E293B"/>
                </a:solidFill>
                <a:latin typeface="Arial"/>
              </a:rPr>
              <a:t>One model, all forces</a:t>
            </a:r>
          </a:p>
        </p:txBody>
      </p:sp>
      <p:sp>
        <p:nvSpPr>
          <p:cNvPr id="9" name="TextBox 8"/>
          <p:cNvSpPr txBox="1"/>
          <p:nvPr/>
        </p:nvSpPr>
        <p:spPr>
          <a:xfrm>
            <a:off x="822959" y="4023360"/>
            <a:ext cx="2148840" cy="1005840"/>
          </a:xfrm>
          <a:prstGeom prst="rect">
            <a:avLst/>
          </a:prstGeom>
          <a:noFill/>
        </p:spPr>
        <p:txBody>
          <a:bodyPr wrap="square" lIns="0" tIns="0" rIns="0" bIns="0" anchor="t">
            <a:spAutoFit/>
          </a:bodyPr>
          <a:lstStyle/>
          <a:p>
            <a:pPr algn="l"/>
            <a:r>
              <a:rPr sz="1300" b="0" i="0">
                <a:solidFill>
                  <a:srgbClr val="64748B"/>
                </a:solidFill>
                <a:latin typeface="Arial"/>
              </a:rPr>
              <a:t>Learn the energy; forces and stress come free by differentiation.</a:t>
            </a:r>
          </a:p>
        </p:txBody>
      </p:sp>
      <p:sp>
        <p:nvSpPr>
          <p:cNvPr id="10" name="Rounded Rectangle 9"/>
          <p:cNvSpPr/>
          <p:nvPr/>
        </p:nvSpPr>
        <p:spPr>
          <a:xfrm>
            <a:off x="3383280" y="1783080"/>
            <a:ext cx="2606040" cy="3291840"/>
          </a:xfrm>
          <a:prstGeom prst="roundRect">
            <a:avLst>
              <a:gd name="adj" fmla="val 526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3634740" y="2080260"/>
            <a:ext cx="868680" cy="868680"/>
          </a:xfrm>
          <a:prstGeom prst="ellipse">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600" b="1" i="0">
                <a:solidFill>
                  <a:srgbClr val="500000"/>
                </a:solidFill>
                <a:latin typeface="Cambria Math"/>
              </a:rPr>
              <a:t>ν</a:t>
            </a:r>
          </a:p>
        </p:txBody>
      </p:sp>
      <p:sp>
        <p:nvSpPr>
          <p:cNvPr id="12" name="TextBox 11"/>
          <p:cNvSpPr txBox="1"/>
          <p:nvPr/>
        </p:nvSpPr>
        <p:spPr>
          <a:xfrm>
            <a:off x="5212080" y="2103120"/>
            <a:ext cx="548640" cy="640080"/>
          </a:xfrm>
          <a:prstGeom prst="rect">
            <a:avLst/>
          </a:prstGeom>
          <a:noFill/>
        </p:spPr>
        <p:txBody>
          <a:bodyPr wrap="square" lIns="0" tIns="0" rIns="0" bIns="0" anchor="t">
            <a:spAutoFit/>
          </a:bodyPr>
          <a:lstStyle/>
          <a:p>
            <a:pPr algn="r"/>
            <a:r>
              <a:rPr sz="4000" b="1" i="0">
                <a:solidFill>
                  <a:srgbClr val="E3C4C4"/>
                </a:solidFill>
                <a:latin typeface="Arial"/>
              </a:rPr>
              <a:t>2</a:t>
            </a:r>
          </a:p>
        </p:txBody>
      </p:sp>
      <p:sp>
        <p:nvSpPr>
          <p:cNvPr id="13" name="TextBox 12"/>
          <p:cNvSpPr txBox="1"/>
          <p:nvPr/>
        </p:nvSpPr>
        <p:spPr>
          <a:xfrm>
            <a:off x="3657600" y="3200400"/>
            <a:ext cx="2148840" cy="685800"/>
          </a:xfrm>
          <a:prstGeom prst="rect">
            <a:avLst/>
          </a:prstGeom>
          <a:noFill/>
        </p:spPr>
        <p:txBody>
          <a:bodyPr wrap="square" lIns="0" tIns="0" rIns="0" bIns="0" anchor="b">
            <a:spAutoFit/>
          </a:bodyPr>
          <a:lstStyle/>
          <a:p>
            <a:pPr algn="l"/>
            <a:r>
              <a:rPr sz="1700" b="1" i="0">
                <a:solidFill>
                  <a:srgbClr val="1E293B"/>
                </a:solidFill>
                <a:latin typeface="Arial"/>
              </a:rPr>
              <a:t>Physics built in</a:t>
            </a:r>
          </a:p>
        </p:txBody>
      </p:sp>
      <p:sp>
        <p:nvSpPr>
          <p:cNvPr id="14" name="TextBox 13"/>
          <p:cNvSpPr txBox="1"/>
          <p:nvPr/>
        </p:nvSpPr>
        <p:spPr>
          <a:xfrm>
            <a:off x="3657600" y="4023360"/>
            <a:ext cx="2148840" cy="1005840"/>
          </a:xfrm>
          <a:prstGeom prst="rect">
            <a:avLst/>
          </a:prstGeom>
          <a:noFill/>
        </p:spPr>
        <p:txBody>
          <a:bodyPr wrap="square" lIns="0" tIns="0" rIns="0" bIns="0" anchor="t">
            <a:spAutoFit/>
          </a:bodyPr>
          <a:lstStyle/>
          <a:p>
            <a:pPr algn="l"/>
            <a:r>
              <a:rPr sz="1300" b="0" i="0">
                <a:solidFill>
                  <a:srgbClr val="64748B"/>
                </a:solidFill>
                <a:latin typeface="Arial"/>
              </a:rPr>
              <a:t>Equivariant, many-body messages make it accurate and fast.</a:t>
            </a:r>
          </a:p>
        </p:txBody>
      </p:sp>
      <p:sp>
        <p:nvSpPr>
          <p:cNvPr id="15" name="Rounded Rectangle 14"/>
          <p:cNvSpPr/>
          <p:nvPr/>
        </p:nvSpPr>
        <p:spPr>
          <a:xfrm>
            <a:off x="6217920" y="1783080"/>
            <a:ext cx="2606040" cy="3291840"/>
          </a:xfrm>
          <a:prstGeom prst="roundRect">
            <a:avLst>
              <a:gd name="adj" fmla="val 526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6469380" y="2080260"/>
            <a:ext cx="868680" cy="868680"/>
          </a:xfrm>
          <a:prstGeom prst="ellipse">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600" b="1" i="0">
                <a:solidFill>
                  <a:srgbClr val="500000"/>
                </a:solidFill>
                <a:latin typeface="Cambria Math"/>
              </a:rPr>
              <a:t>AI</a:t>
            </a:r>
          </a:p>
        </p:txBody>
      </p:sp>
      <p:sp>
        <p:nvSpPr>
          <p:cNvPr id="17" name="TextBox 16"/>
          <p:cNvSpPr txBox="1"/>
          <p:nvPr/>
        </p:nvSpPr>
        <p:spPr>
          <a:xfrm>
            <a:off x="8046720" y="2103120"/>
            <a:ext cx="548640" cy="640080"/>
          </a:xfrm>
          <a:prstGeom prst="rect">
            <a:avLst/>
          </a:prstGeom>
          <a:noFill/>
        </p:spPr>
        <p:txBody>
          <a:bodyPr wrap="square" lIns="0" tIns="0" rIns="0" bIns="0" anchor="t">
            <a:spAutoFit/>
          </a:bodyPr>
          <a:lstStyle/>
          <a:p>
            <a:pPr algn="r"/>
            <a:r>
              <a:rPr sz="4000" b="1" i="0">
                <a:solidFill>
                  <a:srgbClr val="E3C4C4"/>
                </a:solidFill>
                <a:latin typeface="Arial"/>
              </a:rPr>
              <a:t>3</a:t>
            </a:r>
          </a:p>
        </p:txBody>
      </p:sp>
      <p:sp>
        <p:nvSpPr>
          <p:cNvPr id="18" name="TextBox 17"/>
          <p:cNvSpPr txBox="1"/>
          <p:nvPr/>
        </p:nvSpPr>
        <p:spPr>
          <a:xfrm>
            <a:off x="6492240" y="3200400"/>
            <a:ext cx="2148840" cy="685800"/>
          </a:xfrm>
          <a:prstGeom prst="rect">
            <a:avLst/>
          </a:prstGeom>
          <a:noFill/>
        </p:spPr>
        <p:txBody>
          <a:bodyPr wrap="square" lIns="0" tIns="0" rIns="0" bIns="0" anchor="b">
            <a:spAutoFit/>
          </a:bodyPr>
          <a:lstStyle/>
          <a:p>
            <a:pPr algn="l"/>
            <a:r>
              <a:rPr sz="1700" b="1" i="0">
                <a:solidFill>
                  <a:srgbClr val="1E293B"/>
                </a:solidFill>
                <a:latin typeface="Arial"/>
              </a:rPr>
              <a:t>Agents need cheap physics</a:t>
            </a:r>
          </a:p>
        </p:txBody>
      </p:sp>
      <p:sp>
        <p:nvSpPr>
          <p:cNvPr id="19" name="TextBox 18"/>
          <p:cNvSpPr txBox="1"/>
          <p:nvPr/>
        </p:nvSpPr>
        <p:spPr>
          <a:xfrm>
            <a:off x="6492240" y="4023360"/>
            <a:ext cx="2148840" cy="1005840"/>
          </a:xfrm>
          <a:prstGeom prst="rect">
            <a:avLst/>
          </a:prstGeom>
          <a:noFill/>
        </p:spPr>
        <p:txBody>
          <a:bodyPr wrap="square" lIns="0" tIns="0" rIns="0" bIns="0" anchor="t">
            <a:spAutoFit/>
          </a:bodyPr>
          <a:lstStyle/>
          <a:p>
            <a:pPr algn="l"/>
            <a:r>
              <a:rPr sz="1300" b="0" i="0">
                <a:solidFill>
                  <a:srgbClr val="64748B"/>
                </a:solidFill>
                <a:latin typeface="Arial"/>
              </a:rPr>
              <a:t>MACE turns an LLM's hypotheses into numbers in milliseconds.</a:t>
            </a:r>
          </a:p>
        </p:txBody>
      </p:sp>
      <p:sp>
        <p:nvSpPr>
          <p:cNvPr id="20" name="Rounded Rectangle 19"/>
          <p:cNvSpPr/>
          <p:nvPr/>
        </p:nvSpPr>
        <p:spPr>
          <a:xfrm>
            <a:off x="9052560" y="1783080"/>
            <a:ext cx="2606040" cy="3291840"/>
          </a:xfrm>
          <a:prstGeom prst="roundRect">
            <a:avLst>
              <a:gd name="adj" fmla="val 526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9304020" y="2080260"/>
            <a:ext cx="868680" cy="868680"/>
          </a:xfrm>
          <a:prstGeom prst="ellipse">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600" b="1" i="0">
                <a:solidFill>
                  <a:srgbClr val="500000"/>
                </a:solidFill>
                <a:latin typeface="Cambria Math"/>
              </a:rPr>
              <a:t>✓</a:t>
            </a:r>
          </a:p>
        </p:txBody>
      </p:sp>
      <p:sp>
        <p:nvSpPr>
          <p:cNvPr id="22" name="TextBox 21"/>
          <p:cNvSpPr txBox="1"/>
          <p:nvPr/>
        </p:nvSpPr>
        <p:spPr>
          <a:xfrm>
            <a:off x="10881360" y="2103120"/>
            <a:ext cx="548640" cy="640080"/>
          </a:xfrm>
          <a:prstGeom prst="rect">
            <a:avLst/>
          </a:prstGeom>
          <a:noFill/>
        </p:spPr>
        <p:txBody>
          <a:bodyPr wrap="square" lIns="0" tIns="0" rIns="0" bIns="0" anchor="t">
            <a:spAutoFit/>
          </a:bodyPr>
          <a:lstStyle/>
          <a:p>
            <a:pPr algn="r"/>
            <a:r>
              <a:rPr sz="4000" b="1" i="0">
                <a:solidFill>
                  <a:srgbClr val="E3C4C4"/>
                </a:solidFill>
                <a:latin typeface="Arial"/>
              </a:rPr>
              <a:t>4</a:t>
            </a:r>
          </a:p>
        </p:txBody>
      </p:sp>
      <p:sp>
        <p:nvSpPr>
          <p:cNvPr id="23" name="TextBox 22"/>
          <p:cNvSpPr txBox="1"/>
          <p:nvPr/>
        </p:nvSpPr>
        <p:spPr>
          <a:xfrm>
            <a:off x="9326880" y="3200400"/>
            <a:ext cx="2148840" cy="685800"/>
          </a:xfrm>
          <a:prstGeom prst="rect">
            <a:avLst/>
          </a:prstGeom>
          <a:noFill/>
        </p:spPr>
        <p:txBody>
          <a:bodyPr wrap="square" lIns="0" tIns="0" rIns="0" bIns="0" anchor="b">
            <a:spAutoFit/>
          </a:bodyPr>
          <a:lstStyle/>
          <a:p>
            <a:pPr algn="l"/>
            <a:r>
              <a:rPr sz="1700" b="1" i="0">
                <a:solidFill>
                  <a:srgbClr val="1E293B"/>
                </a:solidFill>
                <a:latin typeface="Arial"/>
              </a:rPr>
              <a:t>Close the loop</a:t>
            </a:r>
          </a:p>
        </p:txBody>
      </p:sp>
      <p:sp>
        <p:nvSpPr>
          <p:cNvPr id="24" name="TextBox 23"/>
          <p:cNvSpPr txBox="1"/>
          <p:nvPr/>
        </p:nvSpPr>
        <p:spPr>
          <a:xfrm>
            <a:off x="9326880" y="4023360"/>
            <a:ext cx="2148840" cy="1005840"/>
          </a:xfrm>
          <a:prstGeom prst="rect">
            <a:avLst/>
          </a:prstGeom>
          <a:noFill/>
        </p:spPr>
        <p:txBody>
          <a:bodyPr wrap="square" lIns="0" tIns="0" rIns="0" bIns="0" anchor="t">
            <a:spAutoFit/>
          </a:bodyPr>
          <a:lstStyle/>
          <a:p>
            <a:pPr algn="l"/>
            <a:r>
              <a:rPr sz="1300" b="0" i="0">
                <a:solidFill>
                  <a:srgbClr val="64748B"/>
                </a:solidFill>
                <a:latin typeface="Arial"/>
              </a:rPr>
              <a:t>Evolve with MACE, verify winners with DFT and the lab.</a:t>
            </a:r>
          </a:p>
        </p:txBody>
      </p:sp>
      <p:sp>
        <p:nvSpPr>
          <p:cNvPr id="25" name="TextBox 24"/>
          <p:cNvSpPr txBox="1"/>
          <p:nvPr/>
        </p:nvSpPr>
        <p:spPr>
          <a:xfrm>
            <a:off x="548640" y="5440680"/>
            <a:ext cx="10972800" cy="731520"/>
          </a:xfrm>
          <a:prstGeom prst="rect">
            <a:avLst/>
          </a:prstGeom>
          <a:noFill/>
        </p:spPr>
        <p:txBody>
          <a:bodyPr wrap="square" lIns="0" tIns="0" rIns="0" bIns="0" anchor="t">
            <a:spAutoFit/>
          </a:bodyPr>
          <a:lstStyle/>
          <a:p>
            <a:pPr algn="l"/>
            <a:r>
              <a:rPr sz="3600" b="1" i="0">
                <a:solidFill>
                  <a:srgbClr val="500000"/>
                </a:solidFill>
                <a:latin typeface="Arial"/>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192</TotalTime>
  <Words>1087</Words>
  <Application>Microsoft Macintosh PowerPoint</Application>
  <PresentationFormat>Widescreen</PresentationFormat>
  <Paragraphs>134</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Jang, Joshua Hyungju</cp:lastModifiedBy>
  <cp:revision>2</cp:revision>
  <dcterms:created xsi:type="dcterms:W3CDTF">2013-01-27T09:14:16Z</dcterms:created>
  <dcterms:modified xsi:type="dcterms:W3CDTF">2026-10-06T21:17:23Z</dcterms:modified>
  <cp:category/>
</cp:coreProperties>
</file>
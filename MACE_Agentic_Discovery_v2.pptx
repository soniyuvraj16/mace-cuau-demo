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61" r:id="rId5"/>
    <p:sldId id="262" r:id="rId6"/>
    <p:sldId id="265" r:id="rId7"/>
    <p:sldId id="266" r:id="rId8"/>
    <p:sldId id="267" r:id="rId14"/>
    <p:sldId id="268" r:id="rId15"/>
    <p:sldId id="269" r:id="rId16"/>
    <p:sldId id="270" r:id="rId17"/>
    <p:sldId id="271" r:id="rId18"/>
    <p:sldId id="272" r:id="rId19"/>
    <p:sldId id="273" r:id="rId20"/>
    <p:sldId id="274"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88"/>
    <p:restoredTop sz="81160"/>
  </p:normalViewPr>
  <p:slideViewPr>
    <p:cSldViewPr snapToGrid="0" snapToObjects="1">
      <p:cViewPr>
        <p:scale>
          <a:sx n="119" d="100"/>
          <a:sy n="119" d="100"/>
        </p:scale>
        <p:origin x="216" y="-30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US" sz="1400" b="1">
                <a:solidFill>
                  <a:srgbClr val="500000"/>
                </a:solidFill>
              </a:rPr>
              <a:t>Relative compute vs. number of atoms</a:t>
            </a:r>
          </a:p>
        </c:rich>
      </c:tx>
      <c:overlay val="0"/>
    </c:title>
    <c:autoTitleDeleted val="0"/>
    <c:plotArea>
      <c:layout/>
      <c:lineChart>
        <c:grouping val="standard"/>
        <c:varyColors val="0"/>
        <c:ser>
          <c:idx val="0"/>
          <c:order val="0"/>
          <c:tx>
            <c:strRef>
              <c:f>Sheet1!$B$1</c:f>
              <c:strCache>
                <c:ptCount val="1"/>
                <c:pt idx="0">
                  <c:v>DFT  ∝ N³</c:v>
                </c:pt>
              </c:strCache>
            </c:strRef>
          </c:tx>
          <c:spPr>
            <a:ln w="34925">
              <a:solidFill>
                <a:srgbClr val="1E293B"/>
              </a:solidFill>
            </a:ln>
          </c:spPr>
          <c:marker>
            <c:symbol val="circle"/>
            <c:size val="7"/>
            <c:spPr>
              <a:solidFill>
                <a:srgbClr val="1E293B"/>
              </a:solidFill>
              <a:ln>
                <a:solidFill>
                  <a:srgbClr val="FFFFFF"/>
                </a:solidFill>
              </a:ln>
            </c:spPr>
          </c:marker>
          <c:cat>
            <c:strRef>
              <c:f>Sheet1!$A$2:$A$5</c:f>
              <c:strCache>
                <c:ptCount val="4"/>
                <c:pt idx="0">
                  <c:v>10</c:v>
                </c:pt>
                <c:pt idx="1">
                  <c:v>100</c:v>
                </c:pt>
                <c:pt idx="2">
                  <c:v>1,000</c:v>
                </c:pt>
                <c:pt idx="3">
                  <c:v>10,000</c:v>
                </c:pt>
              </c:strCache>
            </c:strRef>
          </c:cat>
          <c:val>
            <c:numRef>
              <c:f>Sheet1!$B$2:$B$5</c:f>
              <c:numCache>
                <c:formatCode>General</c:formatCode>
                <c:ptCount val="4"/>
                <c:pt idx="0">
                  <c:v>1000</c:v>
                </c:pt>
                <c:pt idx="1">
                  <c:v>1000000</c:v>
                </c:pt>
                <c:pt idx="2">
                  <c:v>1000000000</c:v>
                </c:pt>
                <c:pt idx="3">
                  <c:v>1000000000000</c:v>
                </c:pt>
              </c:numCache>
            </c:numRef>
          </c:val>
          <c:smooth val="0"/>
          <c:extLst>
            <c:ext xmlns:c16="http://schemas.microsoft.com/office/drawing/2014/chart" uri="{C3380CC4-5D6E-409C-BE32-E72D297353CC}">
              <c16:uniqueId val="{00000000-AB92-684E-AD66-BD16D4B8CE96}"/>
            </c:ext>
          </c:extLst>
        </c:ser>
        <c:ser>
          <c:idx val="1"/>
          <c:order val="1"/>
          <c:tx>
            <c:strRef>
              <c:f>Sheet1!$C$1</c:f>
              <c:strCache>
                <c:ptCount val="1"/>
                <c:pt idx="0">
                  <c:v>MACE  ∝ N</c:v>
                </c:pt>
              </c:strCache>
            </c:strRef>
          </c:tx>
          <c:spPr>
            <a:ln w="34925">
              <a:solidFill>
                <a:srgbClr val="500000"/>
              </a:solidFill>
            </a:ln>
          </c:spPr>
          <c:marker>
            <c:symbol val="circle"/>
            <c:size val="7"/>
            <c:spPr>
              <a:solidFill>
                <a:srgbClr val="500000"/>
              </a:solidFill>
              <a:ln>
                <a:solidFill>
                  <a:srgbClr val="FFFFFF"/>
                </a:solidFill>
              </a:ln>
            </c:spPr>
          </c:marker>
          <c:cat>
            <c:strRef>
              <c:f>Sheet1!$A$2:$A$5</c:f>
              <c:strCache>
                <c:ptCount val="4"/>
                <c:pt idx="0">
                  <c:v>10</c:v>
                </c:pt>
                <c:pt idx="1">
                  <c:v>100</c:v>
                </c:pt>
                <c:pt idx="2">
                  <c:v>1,000</c:v>
                </c:pt>
                <c:pt idx="3">
                  <c:v>10,000</c:v>
                </c:pt>
              </c:strCache>
            </c:strRef>
          </c:cat>
          <c:val>
            <c:numRef>
              <c:f>Sheet1!$C$2:$C$5</c:f>
              <c:numCache>
                <c:formatCode>General</c:formatCode>
                <c:ptCount val="4"/>
                <c:pt idx="0">
                  <c:v>1</c:v>
                </c:pt>
                <c:pt idx="1">
                  <c:v>10</c:v>
                </c:pt>
                <c:pt idx="2">
                  <c:v>100</c:v>
                </c:pt>
                <c:pt idx="3">
                  <c:v>1000</c:v>
                </c:pt>
              </c:numCache>
            </c:numRef>
          </c:val>
          <c:smooth val="0"/>
          <c:extLst>
            <c:ext xmlns:c16="http://schemas.microsoft.com/office/drawing/2014/chart" uri="{C3380CC4-5D6E-409C-BE32-E72D297353CC}">
              <c16:uniqueId val="{00000001-AB92-684E-AD66-BD16D4B8CE96}"/>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title>
          <c:tx>
            <c:rich>
              <a:bodyPr/>
              <a:lstStyle/>
              <a:p>
                <a:r>
                  <a:rPr lang="en-US" sz="1100" b="0">
                    <a:solidFill>
                      <a:srgbClr val="64748B"/>
                    </a:solidFill>
                  </a:rPr>
                  <a:t>atoms in the simulation</a:t>
                </a:r>
              </a:p>
            </c:rich>
          </c:tx>
          <c:overlay val="0"/>
        </c:title>
        <c:numFmt formatCode="General" sourceLinked="0"/>
        <c:majorTickMark val="out"/>
        <c:minorTickMark val="none"/>
        <c:tickLblPos val="nextTo"/>
        <c:spPr>
          <a:ln>
            <a:solidFill>
              <a:srgbClr val="94A3B8"/>
            </a:solidFill>
          </a:ln>
        </c:spPr>
        <c:txPr>
          <a:bodyPr/>
          <a:lstStyle/>
          <a:p>
            <a:pPr>
              <a:defRPr sz="1100"/>
            </a:pPr>
            <a:endParaRPr lang="en-US"/>
          </a:p>
        </c:txPr>
        <c:crossAx val="2140495176"/>
        <c:crosses val="autoZero"/>
        <c:auto val="1"/>
        <c:lblAlgn val="ctr"/>
        <c:lblOffset val="100"/>
        <c:noMultiLvlLbl val="0"/>
      </c:catAx>
      <c:valAx>
        <c:axId val="2140495176"/>
        <c:scaling>
          <c:logBase val="10"/>
          <c:orientation val="minMax"/>
        </c:scaling>
        <c:delete val="0"/>
        <c:axPos val="l"/>
        <c:majorGridlines>
          <c:spPr>
            <a:ln>
              <a:solidFill>
                <a:srgbClr val="E2E8F0"/>
              </a:solidFill>
            </a:ln>
          </c:spPr>
        </c:majorGridlines>
        <c:title>
          <c:tx>
            <c:rich>
              <a:bodyPr/>
              <a:lstStyle/>
              <a:p>
                <a:r>
                  <a:rPr lang="en-US" sz="1100" b="0">
                    <a:solidFill>
                      <a:srgbClr val="64748B"/>
                    </a:solidFill>
                  </a:rPr>
                  <a:t>relative cost (log)</a:t>
                </a:r>
              </a:p>
            </c:rich>
          </c:tx>
          <c:overlay val="0"/>
        </c:title>
        <c:numFmt formatCode="0E+0" sourceLinked="0"/>
        <c:majorTickMark val="out"/>
        <c:minorTickMark val="none"/>
        <c:tickLblPos val="nextTo"/>
        <c:spPr>
          <a:ln>
            <a:noFill/>
          </a:ln>
        </c:spPr>
        <c:txPr>
          <a:bodyPr/>
          <a:lstStyle/>
          <a:p>
            <a:pPr>
              <a:defRPr sz="1100"/>
            </a:pPr>
            <a:endParaRPr lang="en-US"/>
          </a:p>
        </c:txPr>
        <c:crossAx val="2118791784"/>
        <c:crosses val="autoZero"/>
        <c:crossBetween val="between"/>
      </c:valAx>
    </c:plotArea>
    <c:legend>
      <c:legendPos val="b"/>
      <c:overlay val="0"/>
      <c:txPr>
        <a:bodyPr/>
        <a:lstStyle/>
        <a:p>
          <a:pPr>
            <a:defRPr sz="1100"/>
          </a:pPr>
          <a:endParaRPr lang="en-US"/>
        </a:p>
      </c:txPr>
    </c:legend>
    <c:plotVisOnly val="1"/>
    <c:dispBlanksAs val="gap"/>
    <c:showDLblsOverMax val="0"/>
  </c:chart>
  <c:txPr>
    <a:bodyPr/>
    <a:lstStyle/>
    <a:p>
      <a:pPr>
        <a:defRPr sz="1100">
          <a:solidFill>
            <a:srgbClr val="64748B"/>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US" sz="1400" b="1">
                <a:solidFill>
                  <a:srgbClr val="500000"/>
                </a:solidFill>
              </a:rPr>
              <a:t>GA best -52 (MACE)  ·  DFT says -43 meV/atom for the same structure</a:t>
            </a:r>
          </a:p>
        </c:rich>
      </c:tx>
      <c:overlay val="0"/>
    </c:title>
    <c:autoTitleDeleted val="0"/>
    <c:plotArea>
      <c:layout/>
      <c:lineChart>
        <c:grouping val="standard"/>
        <c:varyColors val="0"/>
        <c:ser>
          <c:idx val="0"/>
          <c:order val="0"/>
          <c:tx>
            <c:strRef>
              <c:f>Sheet1!$B$1</c:f>
              <c:strCache>
                <c:ptCount val="1"/>
                <c:pt idx="0">
                  <c:v>population mean (MACE)</c:v>
                </c:pt>
              </c:strCache>
            </c:strRef>
          </c:tx>
          <c:spPr>
            <a:ln w="25400">
              <a:solidFill>
                <a:srgbClr val="E3C4C4"/>
              </a:solidFill>
            </a:ln>
          </c:spPr>
          <c:marker>
            <c:symbol val="circle"/>
            <c:size val="5"/>
            <c:spPr>
              <a:solidFill>
                <a:srgbClr val="E3C4C4"/>
              </a:solidFill>
              <a:ln>
                <a:solidFill>
                  <a:srgbClr val="FFFFFF"/>
                </a:solidFill>
              </a:ln>
            </c:spPr>
          </c:marker>
          <c:cat>
            <c:strRef>
              <c:f>Sheet1!$A$2:$A$9</c:f>
              <c:strCache>
                <c:ptCount val="8"/>
                <c:pt idx="0">
                  <c:v>0</c:v>
                </c:pt>
                <c:pt idx="1">
                  <c:v>1</c:v>
                </c:pt>
                <c:pt idx="2">
                  <c:v>2</c:v>
                </c:pt>
                <c:pt idx="3">
                  <c:v>3</c:v>
                </c:pt>
                <c:pt idx="4">
                  <c:v>4</c:v>
                </c:pt>
                <c:pt idx="5">
                  <c:v>5</c:v>
                </c:pt>
                <c:pt idx="6">
                  <c:v>6</c:v>
                </c:pt>
                <c:pt idx="7">
                  <c:v>7</c:v>
                </c:pt>
              </c:strCache>
            </c:strRef>
          </c:cat>
          <c:val>
            <c:numRef>
              <c:f>Sheet1!$B$2:$B$9</c:f>
              <c:numCache>
                <c:formatCode>General</c:formatCode>
                <c:ptCount val="8"/>
                <c:pt idx="0">
                  <c:v>-15.1</c:v>
                </c:pt>
                <c:pt idx="1">
                  <c:v>-34.7</c:v>
                </c:pt>
                <c:pt idx="2">
                  <c:v>-24.2</c:v>
                </c:pt>
                <c:pt idx="3">
                  <c:v>-5.1</c:v>
                </c:pt>
                <c:pt idx="4">
                  <c:v>-38.3</c:v>
                </c:pt>
                <c:pt idx="5">
                  <c:v>-16.8</c:v>
                </c:pt>
                <c:pt idx="6">
                  <c:v>-32.0</c:v>
                </c:pt>
                <c:pt idx="7">
                  <c:v>-24.3</c:v>
                </c:pt>
              </c:numCache>
            </c:numRef>
          </c:val>
          <c:smooth val="0"/>
          <c:extLst>
            <c:ext xmlns:c16="http://schemas.microsoft.com/office/drawing/2014/chart" uri="{C3380CC4-5D6E-409C-BE32-E72D297353CC}">
              <c16:uniqueId val="{00000000-A357-8B45-B36B-E73E0CEF3691}"/>
            </c:ext>
          </c:extLst>
        </c:ser>
        <c:ser>
          <c:idx val="1"/>
          <c:order val="1"/>
          <c:tx>
            <c:strRef>
              <c:f>Sheet1!$C$1</c:f>
              <c:strCache>
                <c:ptCount val="1"/>
                <c:pt idx="0">
                  <c:v>GA best (MACE)</c:v>
                </c:pt>
              </c:strCache>
            </c:strRef>
          </c:tx>
          <c:spPr>
            <a:ln w="34925">
              <a:solidFill>
                <a:srgbClr val="500000"/>
              </a:solidFill>
            </a:ln>
          </c:spPr>
          <c:marker>
            <c:symbol val="circle"/>
            <c:size val="7"/>
            <c:spPr>
              <a:solidFill>
                <a:srgbClr val="500000"/>
              </a:solidFill>
              <a:ln>
                <a:solidFill>
                  <a:srgbClr val="FFFFFF"/>
                </a:solidFill>
              </a:ln>
            </c:spPr>
          </c:marker>
          <c:cat>
            <c:strRef>
              <c:f>Sheet1!$A$2:$A$9</c:f>
              <c:strCache>
                <c:ptCount val="8"/>
                <c:pt idx="0">
                  <c:v>0</c:v>
                </c:pt>
                <c:pt idx="1">
                  <c:v>1</c:v>
                </c:pt>
                <c:pt idx="2">
                  <c:v>2</c:v>
                </c:pt>
                <c:pt idx="3">
                  <c:v>3</c:v>
                </c:pt>
                <c:pt idx="4">
                  <c:v>4</c:v>
                </c:pt>
                <c:pt idx="5">
                  <c:v>5</c:v>
                </c:pt>
                <c:pt idx="6">
                  <c:v>6</c:v>
                </c:pt>
                <c:pt idx="7">
                  <c:v>7</c:v>
                </c:pt>
              </c:strCache>
            </c:strRef>
          </c:cat>
          <c:val>
            <c:numRef>
              <c:f>Sheet1!$C$2:$C$9</c:f>
              <c:numCache>
                <c:formatCode>General</c:formatCode>
                <c:ptCount val="8"/>
                <c:pt idx="0">
                  <c:v>-52.1</c:v>
                </c:pt>
                <c:pt idx="1">
                  <c:v>-52.1</c:v>
                </c:pt>
                <c:pt idx="2">
                  <c:v>-52.1</c:v>
                </c:pt>
                <c:pt idx="3">
                  <c:v>-52.1</c:v>
                </c:pt>
                <c:pt idx="4">
                  <c:v>-52.1</c:v>
                </c:pt>
                <c:pt idx="5">
                  <c:v>-52.1</c:v>
                </c:pt>
                <c:pt idx="6">
                  <c:v>-52.1</c:v>
                </c:pt>
                <c:pt idx="7">
                  <c:v>-52.1</c:v>
                </c:pt>
              </c:numCache>
            </c:numRef>
          </c:val>
          <c:smooth val="0"/>
          <c:extLst>
            <c:ext xmlns:c16="http://schemas.microsoft.com/office/drawing/2014/chart" uri="{C3380CC4-5D6E-409C-BE32-E72D297353CC}">
              <c16:uniqueId val="{00000001-A357-8B45-B36B-E73E0CEF3691}"/>
            </c:ext>
          </c:extLst>
        </c:ser>
        <c:ser>
          <c:idx val="2"/>
          <c:order val="2"/>
          <c:tx>
            <c:strRef>
              <c:f>Sheet1!$D$1</c:f>
              <c:strCache>
                <c:ptCount val="1"/>
                <c:pt idx="0">
                  <c:v>DFT energy of the GA's pick</c:v>
                </c:pt>
              </c:strCache>
            </c:strRef>
          </c:tx>
          <c:spPr>
            <a:ln w="28575">
              <a:solidFill>
                <a:srgbClr val="1E293B"/>
              </a:solidFill>
              <a:prstDash val="dash"/>
            </a:ln>
          </c:spPr>
          <c:marker>
            <c:symbol val="none"/>
          </c:marker>
          <c:cat>
            <c:strRef>
              <c:f>Sheet1!$A$2:$A$9</c:f>
              <c:strCache>
                <c:ptCount val="8"/>
                <c:pt idx="0">
                  <c:v>0</c:v>
                </c:pt>
                <c:pt idx="1">
                  <c:v>1</c:v>
                </c:pt>
                <c:pt idx="2">
                  <c:v>2</c:v>
                </c:pt>
                <c:pt idx="3">
                  <c:v>3</c:v>
                </c:pt>
                <c:pt idx="4">
                  <c:v>4</c:v>
                </c:pt>
                <c:pt idx="5">
                  <c:v>5</c:v>
                </c:pt>
                <c:pt idx="6">
                  <c:v>6</c:v>
                </c:pt>
                <c:pt idx="7">
                  <c:v>7</c:v>
                </c:pt>
              </c:strCache>
            </c:strRef>
          </c:cat>
          <c:val>
            <c:numRef>
              <c:f>Sheet1!$D$2:$D$9</c:f>
              <c:numCache>
                <c:formatCode>General</c:formatCode>
                <c:ptCount val="8"/>
                <c:pt idx="0">
                  <c:v>-42.9</c:v>
                </c:pt>
                <c:pt idx="1">
                  <c:v>-42.9</c:v>
                </c:pt>
                <c:pt idx="2">
                  <c:v>-42.9</c:v>
                </c:pt>
                <c:pt idx="3">
                  <c:v>-42.9</c:v>
                </c:pt>
                <c:pt idx="4">
                  <c:v>-42.9</c:v>
                </c:pt>
                <c:pt idx="5">
                  <c:v>-42.9</c:v>
                </c:pt>
                <c:pt idx="6">
                  <c:v>-42.9</c:v>
                </c:pt>
                <c:pt idx="7">
                  <c:v>-42.9</c:v>
                </c:pt>
              </c:numCache>
            </c:numRef>
          </c:val>
          <c:smooth val="0"/>
          <c:extLst>
            <c:ext xmlns:c16="http://schemas.microsoft.com/office/drawing/2014/chart" uri="{C3380CC4-5D6E-409C-BE32-E72D297353CC}">
              <c16:uniqueId val="{00000002-A357-8B45-B36B-E73E0CEF3691}"/>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title>
          <c:tx>
            <c:rich>
              <a:bodyPr/>
              <a:lstStyle/>
              <a:p>
                <a:r>
                  <a:rPr lang="en-US" sz="1100" b="0">
                    <a:solidFill>
                      <a:srgbClr val="64748B"/>
                    </a:solidFill>
                  </a:rPr>
                  <a:t>generation</a:t>
                </a:r>
              </a:p>
            </c:rich>
          </c:tx>
          <c:overlay val="0"/>
        </c:title>
        <c:numFmt formatCode="General" sourceLinked="0"/>
        <c:majorTickMark val="out"/>
        <c:minorTickMark val="none"/>
        <c:tickLblPos val="low"/>
        <c:spPr>
          <a:ln>
            <a:solidFill>
              <a:srgbClr val="94A3B8"/>
            </a:solidFill>
          </a:ln>
        </c:spPr>
        <c:txPr>
          <a:bodyPr/>
          <a:lstStyle/>
          <a:p>
            <a:pPr>
              <a:defRPr sz="1100"/>
            </a:pPr>
            <a:endParaRPr lang="en-US"/>
          </a:p>
        </c:txPr>
        <c:crossAx val="2140495176"/>
        <c:crosses val="autoZero"/>
        <c:auto val="1"/>
        <c:lblAlgn val="ctr"/>
        <c:lblOffset val="100"/>
        <c:noMultiLvlLbl val="0"/>
      </c:catAx>
      <c:valAx>
        <c:axId val="2140495176"/>
        <c:scaling>
          <c:orientation val="minMax"/>
          <c:max val="10.0"/>
          <c:min val="-60.0"/>
        </c:scaling>
        <c:delete val="0"/>
        <c:axPos val="l"/>
        <c:majorGridlines>
          <c:spPr>
            <a:ln>
              <a:solidFill>
                <a:srgbClr val="E2E8F0"/>
              </a:solidFill>
            </a:ln>
          </c:spPr>
        </c:majorGridlines>
        <c:title>
          <c:tx>
            <c:rich>
              <a:bodyPr/>
              <a:lstStyle/>
              <a:p>
                <a:r>
                  <a:rPr lang="en-US" sz="1100" b="0">
                    <a:solidFill>
                      <a:srgbClr val="64748B"/>
                    </a:solidFill>
                  </a:rPr>
                  <a:t>formation energy (meV/atom)</a:t>
                </a:r>
              </a:p>
            </c:rich>
          </c:tx>
          <c:overlay val="0"/>
        </c:title>
        <c:numFmt formatCode="General" sourceLinked="1"/>
        <c:majorTickMark val="out"/>
        <c:minorTickMark val="none"/>
        <c:tickLblPos val="nextTo"/>
        <c:spPr>
          <a:ln>
            <a:noFill/>
          </a:ln>
        </c:spPr>
        <c:txPr>
          <a:bodyPr/>
          <a:lstStyle/>
          <a:p>
            <a:pPr>
              <a:defRPr sz="1100"/>
            </a:pPr>
            <a:endParaRPr lang="en-US"/>
          </a:p>
        </c:txPr>
        <c:crossAx val="2118791784"/>
        <c:crosses val="autoZero"/>
        <c:crossBetween val="between"/>
        <c:majorUnit val="10.0"/>
      </c:valAx>
    </c:plotArea>
    <c:legend>
      <c:legendPos val="b"/>
      <c:overlay val="0"/>
      <c:txPr>
        <a:bodyPr/>
        <a:lstStyle/>
        <a:p>
          <a:pPr>
            <a:defRPr sz="1100"/>
          </a:pPr>
          <a:endParaRPr lang="en-US"/>
        </a:p>
      </c:txPr>
    </c:legend>
    <c:plotVisOnly val="1"/>
    <c:dispBlanksAs val="gap"/>
    <c:showDLblsOverMax val="0"/>
  </c:chart>
  <c:txPr>
    <a:bodyPr/>
    <a:lstStyle/>
    <a:p>
      <a:pPr>
        <a:defRPr sz="1100">
          <a:solidFill>
            <a:srgbClr val="64748B"/>
          </a:solidFill>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146996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p/>
        </p:txBody>
      </p:sp>
      <p:sp>
        <p:nvSpPr>
          <p:cNvPr id="3" name="Notes Placeholder 2"/>
          <p:cNvSpPr>
            <a:spLocks noGrp="1"/>
          </p:cNvSpPr>
          <p:nvPr>
            <p:ph type="body" sz="quarter" idx="3"/>
          </p:nvPr>
        </p:nvSpPr>
        <p:spPr/>
        <p:txBody>
          <a:bodyPr/>
          <a:lstStyle/>
          <a:p>
            <a:r>
              <a:t>[0:00-0:15] Today: MACE, a machine-learned model of atomic forces, and why it is the kind of tool an AI agent needs to do real materials discovery. Three minutes of slides, then a seven-minute live demo where an agent fine-tunes MACE on our own DFT data, searches for the most stable copper-gold arrangement, and checks its answer against DFT.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[0:15–0:45] MACE is a machine-learned interatomic potential. You give it atoms (where they are and what element they are) and it returns the energy, the force on every atom, and the stress on the cell. It is trained on quantum-mechanical DFT calculations, so it is close to DFT accuracy but thousands of times faster. Users: materials scientists, chemists, simulation engineers, and increasingly AI agents that need a physics tool they can call.</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[0:45–1:15] Trade-off map. Classical force fields are fast but crude. DFT is accurate but expensive and scales as N cubed. Coupled cluster is the gold standard and even slower. MACE learns from DFT once, then predicts at a tiny fraction of the cost, and it scales linearly with the number of atoms, so the gap grows with system size.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[2:40–3:20] Where agents come in. The LLM is good at planning and reasoning but cannot know what atoms will do. MACE is a tool it can call: build a structure, relax it or run dynamics, read the energies and forces, decide what to try next. In a discovery funnel, the agent can generate a million ideas, MACE screens ten thousand in milliseconds each, DFT checks the top hundred, and only ten go to the lab.</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[2:00-2:40] An evolutionary workflow: a population of candidate arrangements, each an 8-bit string saying which lattice sites are copper and which gold. Mutate and cross them, score every child with the fine-tuned network, keep the fittest, repeat. The chart is a real run: 21 network calls in about two seconds. The GA lands on L1-two Cu3Au; the dashed line is what the slow simulator says about that same structure. The network sits a few meV low across the board, but the ranking is right, and that is what the verify step confirms. You will see exactly this live in a minute.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[3:00] Switch to the dashboard. Paste the README prompt to the agent. Narrate from the presenter view: block 0 (DFT labels, done overnight on the cluster), block 1 learn, block 2 test, block 3 search, block 4 verify. Keep the audience on the dashboard; the terminal is the agent's.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[after demo, ~20 s] Recap: MACE learns the energy and gets forces for free; its equivariant many-body design is why it's accurate and fast; agents need exactly this kind of cheap, callable physics; and the loop closes with DFT and lab verification. Questions?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Backup: DFT for a non-specialist. What it is, why we trust it, and the three reasons it cannot sit inside a search loop.</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Backup: the three design principles every machine-learned potential shares, and where MACE sits in the lineage.</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Backup: the mental model. Graph, messages, products for many-body information, two layers, readout, differentiate for forces.</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Backup: invariance (scalars stay the same) vs equivariance (vectors transform along). MACE's features are equivariant by construction.</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Backup: the four equations. Sum of atomic energies; two-body collection; products for many-body terms (ACE); update, read out, differentiate.</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Backup: the quantitative result. Use when asked 'why fine-tune at all' or 'how good is it'.</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Backup: the system is real and the answer is known, which is why the audience can judge the result.</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Backup: what was computed and why each group exists.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10/6/26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chart" Target="../charts/char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chart" Target="../charts/char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title_network.png"/>
          <p:cNvPicPr>
            <a:picLocks noChangeAspect="1"/>
          </p:cNvPicPr>
          <p:nvPr/>
        </p:nvPicPr>
        <p:blipFill>
          <a:blip r:embed="rId3">
            <a:alphaModFix amt="70000"/>
          </a:blip>
          <a:srcRect r="12088"/>
          <a:stretch>
            <a:fillRect/>
          </a:stretch>
        </p:blipFill>
        <p:spPr>
          <a:xfrm>
            <a:off x="5760720" y="0"/>
            <a:ext cx="6430975" cy="6858000"/>
          </a:xfrm>
          <a:prstGeom prst="rect">
            <a:avLst/>
          </a:prstGeom>
        </p:spPr>
      </p:pic>
      <p:sp>
        <p:nvSpPr>
          <p:cNvPr id="3" name="TextBox 2"/>
          <p:cNvSpPr txBox="1"/>
          <p:nvPr/>
        </p:nvSpPr>
        <p:spPr>
          <a:xfrm>
            <a:off x="731520" y="1783080"/>
            <a:ext cx="6400800" cy="320040"/>
          </a:xfrm>
          <a:prstGeom prst="rect">
            <a:avLst/>
          </a:prstGeom>
          <a:noFill/>
        </p:spPr>
        <p:txBody>
          <a:bodyPr wrap="square" lIns="0" tIns="0" rIns="0" bIns="0" anchor="t">
            <a:spAutoFit/>
          </a:bodyPr>
          <a:lstStyle/>
          <a:p>
            <a:pPr algn="l"/>
            <a:r>
              <a:rPr sz="1400" b="1" i="0">
                <a:solidFill>
                  <a:srgbClr val="500000"/>
                </a:solidFill>
                <a:latin typeface="Arial"/>
              </a:rPr>
              <a:t>AGENTIC DISCOVERY &amp; DEVELOPMENT  ·  TEXAS A&amp;M</a:t>
            </a:r>
          </a:p>
        </p:txBody>
      </p:sp>
      <p:sp>
        <p:nvSpPr>
          <p:cNvPr id="4" name="TextBox 3"/>
          <p:cNvSpPr txBox="1"/>
          <p:nvPr/>
        </p:nvSpPr>
        <p:spPr>
          <a:xfrm>
            <a:off x="685800" y="2148840"/>
            <a:ext cx="6400800" cy="1463040"/>
          </a:xfrm>
          <a:prstGeom prst="rect">
            <a:avLst/>
          </a:prstGeom>
          <a:noFill/>
        </p:spPr>
        <p:txBody>
          <a:bodyPr wrap="square" lIns="0" tIns="0" rIns="0" bIns="0" anchor="t">
            <a:spAutoFit/>
          </a:bodyPr>
          <a:lstStyle/>
          <a:p>
            <a:pPr algn="l"/>
            <a:r>
              <a:rPr sz="11000" b="1" i="0">
                <a:solidFill>
                  <a:srgbClr val="1E293B"/>
                </a:solidFill>
                <a:latin typeface="Arial"/>
              </a:rPr>
              <a:t>MACE</a:t>
            </a:r>
          </a:p>
        </p:txBody>
      </p:sp>
      <p:sp>
        <p:nvSpPr>
          <p:cNvPr id="5" name="TextBox 4"/>
          <p:cNvSpPr txBox="1"/>
          <p:nvPr/>
        </p:nvSpPr>
        <p:spPr>
          <a:xfrm>
            <a:off x="731520" y="3703320"/>
            <a:ext cx="4846320" cy="914400"/>
          </a:xfrm>
          <a:prstGeom prst="rect">
            <a:avLst/>
          </a:prstGeom>
          <a:noFill/>
        </p:spPr>
        <p:txBody>
          <a:bodyPr wrap="square" lIns="0" tIns="0" rIns="0" bIns="0" anchor="t">
            <a:spAutoFit/>
          </a:bodyPr>
          <a:lstStyle/>
          <a:p>
            <a:pPr algn="l"/>
            <a:r>
              <a:rPr sz="2400" b="0" i="0">
                <a:solidFill>
                  <a:srgbClr val="64748B"/>
                </a:solidFill>
                <a:latin typeface="Arial"/>
              </a:rPr>
              <a:t>Machine-learned atomic forces as an agent's physics engine</a:t>
            </a:r>
          </a:p>
        </p:txBody>
      </p:sp>
      <p:sp>
        <p:nvSpPr>
          <p:cNvPr id="6" name="TextBox 5"/>
          <p:cNvSpPr txBox="1"/>
          <p:nvPr/>
        </p:nvSpPr>
        <p:spPr>
          <a:xfrm>
            <a:off x="731520" y="4892040"/>
            <a:ext cx="5486400" cy="320040"/>
          </a:xfrm>
          <a:prstGeom prst="rect">
            <a:avLst/>
          </a:prstGeom>
          <a:noFill/>
        </p:spPr>
        <p:txBody>
          <a:bodyPr wrap="square" lIns="0" tIns="0" rIns="0" bIns="0" anchor="t">
            <a:spAutoFit/>
          </a:bodyPr>
          <a:lstStyle/>
          <a:p>
            <a:pPr algn="l"/>
            <a:r>
              <a:rPr sz="1400" b="0" i="1">
                <a:solidFill>
                  <a:srgbClr val="94A3B8"/>
                </a:solidFill>
                <a:latin typeface="Arial"/>
              </a:rPr>
              <a:t>Joshua Jang  ·  Yuvraj Soni  ·  Fall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Kicker"/>
          <p:cNvSpPr txBox="1"/>
          <p:nvPr/>
        </p:nvSpPr>
        <p:spPr>
          <a:xfrm>
            <a:off x="548640" y="347472"/>
            <a:ext cx="8229600" cy="274320"/>
          </a:xfrm>
          <a:prstGeom prst="rect">
            <a:avLst/>
          </a:prstGeom>
          <a:noFill/>
        </p:spPr>
        <p:txBody>
          <a:bodyPr wrap="square" lIns="0" tIns="0" rIns="0" bIns="0" anchor="t">
            <a:spAutoFit/>
          </a:bodyPr>
          <a:lstStyle/>
          <a:p>
            <a:pPr algn="l"/>
            <a:r>
              <a:rPr sz="1100" b="1" i="0">
                <a:solidFill>
                  <a:srgbClr val="B87878"/>
                </a:solidFill>
                <a:latin typeface="Arial"/>
              </a:rPr>
              <a:t>PART 1 · THE MODEL</a:t>
            </a:r>
          </a:p>
        </p:txBody>
      </p:sp>
      <p:sp>
        <p:nvSpPr>
          <p:cNvPr id="3" name="Title"/>
          <p:cNvSpPr txBox="1"/>
          <p:nvPr/>
        </p:nvSpPr>
        <p:spPr>
          <a:xfrm>
            <a:off x="548640" y="566928"/>
            <a:ext cx="11064240" cy="640080"/>
          </a:xfrm>
          <a:prstGeom prst="rect">
            <a:avLst/>
          </a:prstGeom>
          <a:noFill/>
        </p:spPr>
        <p:txBody>
          <a:bodyPr wrap="square" lIns="0" tIns="0" rIns="0" bIns="0" anchor="t">
            <a:spAutoFit/>
          </a:bodyPr>
          <a:lstStyle/>
          <a:p>
            <a:pPr algn="l"/>
            <a:r>
              <a:rPr sz="3400" b="1" i="0">
                <a:solidFill>
                  <a:srgbClr val="500000"/>
                </a:solidFill>
                <a:latin typeface="Arial"/>
              </a:rPr>
              <a:t>What is MACE?</a:t>
            </a:r>
          </a:p>
        </p:txBody>
      </p:sp>
      <p:sp>
        <p:nvSpPr>
          <p:cNvPr id="4" name="Subtitle"/>
          <p:cNvSpPr txBox="1"/>
          <p:nvPr/>
        </p:nvSpPr>
        <p:spPr>
          <a:xfrm>
            <a:off x="548640" y="1207008"/>
            <a:ext cx="11064240" cy="365760"/>
          </a:xfrm>
          <a:prstGeom prst="rect">
            <a:avLst/>
          </a:prstGeom>
          <a:noFill/>
        </p:spPr>
        <p:txBody>
          <a:bodyPr wrap="square" lIns="0" tIns="0" rIns="0" bIns="0" anchor="t">
            <a:spAutoFit/>
          </a:bodyPr>
          <a:lstStyle/>
          <a:p>
            <a:pPr algn="l"/>
            <a:r>
              <a:rPr sz="1500" b="0" i="1">
                <a:solidFill>
                  <a:srgbClr val="64748B"/>
                </a:solidFill>
                <a:latin typeface="Arial"/>
              </a:rPr>
              <a:t>A machine-learned interatomic potential: quantum-level accuracy at force-field speed</a:t>
            </a:r>
          </a:p>
        </p:txBody>
      </p:sp>
      <p:sp>
        <p:nvSpPr>
          <p:cNvPr id="5" name="TextBox 4"/>
          <p:cNvSpPr txBox="1"/>
          <p:nvPr/>
        </p:nvSpPr>
        <p:spPr>
          <a:xfrm>
            <a:off x="11155680" y="6400800"/>
            <a:ext cx="548640" cy="228600"/>
          </a:xfrm>
          <a:prstGeom prst="rect">
            <a:avLst/>
          </a:prstGeom>
          <a:noFill/>
        </p:spPr>
        <p:txBody>
          <a:bodyPr wrap="square" lIns="0" tIns="0" rIns="0" bIns="0" anchor="t">
            <a:spAutoFit/>
          </a:bodyPr>
          <a:lstStyle/>
          <a:p>
            <a:pPr algn="r"/>
            <a:r>
              <a:rPr sz="1000" b="1" i="0">
                <a:solidFill>
                  <a:srgbClr val="500000"/>
                </a:solidFill>
                <a:latin typeface="Arial"/>
              </a:rPr>
              <a:t>02</a:t>
            </a:r>
          </a:p>
        </p:txBody>
      </p:sp>
      <p:sp>
        <p:nvSpPr>
          <p:cNvPr id="6" name="Rounded Rectangle 5"/>
          <p:cNvSpPr/>
          <p:nvPr/>
        </p:nvSpPr>
        <p:spPr>
          <a:xfrm>
            <a:off x="548640" y="1783080"/>
            <a:ext cx="3017520" cy="2148840"/>
          </a:xfrm>
          <a:prstGeom prst="roundRect">
            <a:avLst>
              <a:gd name="adj" fmla="val 6382"/>
            </a:avLst>
          </a:prstGeom>
          <a:solidFill>
            <a:srgbClr val="F5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cxnSp>
        <p:nvCxnSpPr>
          <p:cNvPr id="7" name="Connector 6"/>
          <p:cNvCxnSpPr/>
          <p:nvPr/>
        </p:nvCxnSpPr>
        <p:spPr>
          <a:xfrm flipV="1">
            <a:off x="1417320" y="2286000"/>
            <a:ext cx="685800" cy="228600"/>
          </a:xfrm>
          <a:prstGeom prst="line">
            <a:avLst/>
          </a:prstGeom>
          <a:ln w="31750">
            <a:solidFill>
              <a:srgbClr val="94A3B8"/>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417320" y="2514600"/>
            <a:ext cx="548640" cy="411480"/>
          </a:xfrm>
          <a:prstGeom prst="line">
            <a:avLst/>
          </a:prstGeom>
          <a:ln w="31750">
            <a:solidFill>
              <a:srgbClr val="94A3B8"/>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914400" y="2514600"/>
            <a:ext cx="502920" cy="457200"/>
          </a:xfrm>
          <a:prstGeom prst="line">
            <a:avLst/>
          </a:prstGeom>
          <a:ln w="31750">
            <a:solidFill>
              <a:srgbClr val="94A3B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103120" y="2286000"/>
            <a:ext cx="594360" cy="411480"/>
          </a:xfrm>
          <a:prstGeom prst="line">
            <a:avLst/>
          </a:prstGeom>
          <a:ln w="31750">
            <a:solidFill>
              <a:srgbClr val="94A3B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965960" y="2697480"/>
            <a:ext cx="731520" cy="228600"/>
          </a:xfrm>
          <a:prstGeom prst="line">
            <a:avLst/>
          </a:prstGeom>
          <a:ln w="31750">
            <a:solidFill>
              <a:srgbClr val="94A3B8"/>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225296" y="2322576"/>
            <a:ext cx="384048" cy="384048"/>
          </a:xfrm>
          <a:prstGeom prst="ellipse">
            <a:avLst/>
          </a:prstGeom>
          <a:solidFill>
            <a:srgbClr val="50000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Oval 12"/>
          <p:cNvSpPr/>
          <p:nvPr/>
        </p:nvSpPr>
        <p:spPr>
          <a:xfrm>
            <a:off x="1956815" y="2139696"/>
            <a:ext cx="292608" cy="292608"/>
          </a:xfrm>
          <a:prstGeom prst="ellipse">
            <a:avLst/>
          </a:prstGeom>
          <a:solidFill>
            <a:srgbClr val="B87878"/>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Oval 13"/>
          <p:cNvSpPr/>
          <p:nvPr/>
        </p:nvSpPr>
        <p:spPr>
          <a:xfrm>
            <a:off x="1819656" y="2779776"/>
            <a:ext cx="292608" cy="292608"/>
          </a:xfrm>
          <a:prstGeom prst="ellipse">
            <a:avLst/>
          </a:prstGeom>
          <a:solidFill>
            <a:srgbClr val="B87878"/>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Oval 14"/>
          <p:cNvSpPr/>
          <p:nvPr/>
        </p:nvSpPr>
        <p:spPr>
          <a:xfrm>
            <a:off x="768096" y="2825496"/>
            <a:ext cx="292608" cy="292608"/>
          </a:xfrm>
          <a:prstGeom prst="ellipse">
            <a:avLst/>
          </a:prstGeom>
          <a:solidFill>
            <a:srgbClr val="1E293B"/>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Oval 15"/>
          <p:cNvSpPr/>
          <p:nvPr/>
        </p:nvSpPr>
        <p:spPr>
          <a:xfrm>
            <a:off x="2569464" y="2569464"/>
            <a:ext cx="256032" cy="256032"/>
          </a:xfrm>
          <a:prstGeom prst="ellipse">
            <a:avLst/>
          </a:prstGeom>
          <a:solidFill>
            <a:srgbClr val="94A3B8"/>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777240" y="3291840"/>
            <a:ext cx="2651760" cy="274320"/>
          </a:xfrm>
          <a:prstGeom prst="rect">
            <a:avLst/>
          </a:prstGeom>
          <a:noFill/>
        </p:spPr>
        <p:txBody>
          <a:bodyPr wrap="square" lIns="0" tIns="0" rIns="0" bIns="0" anchor="t">
            <a:spAutoFit/>
          </a:bodyPr>
          <a:lstStyle/>
          <a:p>
            <a:pPr algn="l"/>
            <a:r>
              <a:rPr sz="1600" b="1" i="0">
                <a:solidFill>
                  <a:srgbClr val="1E293B"/>
                </a:solidFill>
                <a:latin typeface="Arial"/>
              </a:rPr>
              <a:t>Atoms in</a:t>
            </a:r>
          </a:p>
        </p:txBody>
      </p:sp>
      <p:sp>
        <p:nvSpPr>
          <p:cNvPr id="18" name="TextBox 17"/>
          <p:cNvSpPr txBox="1"/>
          <p:nvPr/>
        </p:nvSpPr>
        <p:spPr>
          <a:xfrm>
            <a:off x="777240" y="3584448"/>
            <a:ext cx="2651760" cy="274320"/>
          </a:xfrm>
          <a:prstGeom prst="rect">
            <a:avLst/>
          </a:prstGeom>
          <a:noFill/>
        </p:spPr>
        <p:txBody>
          <a:bodyPr wrap="square" lIns="0" tIns="0" rIns="0" bIns="0" anchor="t">
            <a:spAutoFit/>
          </a:bodyPr>
          <a:lstStyle/>
          <a:p>
            <a:pPr algn="l"/>
            <a:r>
              <a:rPr sz="1200" b="0" i="0">
                <a:solidFill>
                  <a:srgbClr val="64748B"/>
                </a:solidFill>
                <a:latin typeface="Arial"/>
              </a:rPr>
              <a:t>positions r</a:t>
            </a:r>
            <a:r>
              <a:rPr sz="1200" b="0" i="0" baseline="-25000">
                <a:solidFill>
                  <a:srgbClr val="64748B"/>
                </a:solidFill>
                <a:latin typeface="Arial"/>
              </a:rPr>
              <a:t>i</a:t>
            </a:r>
            <a:r>
              <a:rPr sz="1200" b="0" i="0">
                <a:solidFill>
                  <a:srgbClr val="64748B"/>
                </a:solidFill>
                <a:latin typeface="Arial"/>
              </a:rPr>
              <a:t>  +  elements Z</a:t>
            </a:r>
            <a:r>
              <a:rPr sz="1200" b="0" i="0" baseline="-25000">
                <a:solidFill>
                  <a:srgbClr val="64748B"/>
                </a:solidFill>
                <a:latin typeface="Arial"/>
              </a:rPr>
              <a:t>i</a:t>
            </a:r>
          </a:p>
        </p:txBody>
      </p:sp>
      <p:cxnSp>
        <p:nvCxnSpPr>
          <p:cNvPr id="19" name="Connector 18"/>
          <p:cNvCxnSpPr/>
          <p:nvPr/>
        </p:nvCxnSpPr>
        <p:spPr>
          <a:xfrm>
            <a:off x="3657600" y="2852928"/>
            <a:ext cx="502920" cy="0"/>
          </a:xfrm>
          <a:prstGeom prst="line">
            <a:avLst/>
          </a:prstGeom>
          <a:ln w="31750">
            <a:solidFill>
              <a:srgbClr val="5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4251960" y="1783080"/>
            <a:ext cx="3108960" cy="2148840"/>
          </a:xfrm>
          <a:prstGeom prst="roundRect">
            <a:avLst>
              <a:gd name="adj" fmla="val 6382"/>
            </a:avLst>
          </a:prstGeom>
          <a:solidFill>
            <a:srgbClr val="500000"/>
          </a:solidFill>
          <a:ln>
            <a:noFill/>
          </a:ln>
          <a:effectLst>
            <a:outerShdw blurRad="114300" dist="25400" dir="5400000" algn="t" rotWithShape="0">
              <a:srgbClr val="1E293B">
                <a:alpha val="14000"/>
              </a:srgbClr>
            </a:outerShdw>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3600" b="1" i="0">
                <a:solidFill>
                  <a:srgbClr val="FFFFFF"/>
                </a:solidFill>
                <a:latin typeface="Arial"/>
              </a:rPr>
              <a:t>MACE</a:t>
            </a:r>
          </a:p>
          <a:p>
            <a:pPr algn="ctr"/>
            <a:r>
              <a:rPr sz="1300" b="0" i="0">
                <a:solidFill>
                  <a:srgbClr val="FFFFFF"/>
                </a:solidFill>
                <a:latin typeface="Arial"/>
              </a:rPr>
              <a:t>equivariant graph</a:t>
            </a:r>
          </a:p>
          <a:p>
            <a:pPr algn="ctr"/>
            <a:r>
              <a:rPr sz="1300" b="0" i="0">
                <a:solidFill>
                  <a:srgbClr val="FFFFFF"/>
                </a:solidFill>
                <a:latin typeface="Arial"/>
              </a:rPr>
              <a:t>neural network</a:t>
            </a:r>
          </a:p>
        </p:txBody>
      </p:sp>
      <p:cxnSp>
        <p:nvCxnSpPr>
          <p:cNvPr id="21" name="Connector 20"/>
          <p:cNvCxnSpPr/>
          <p:nvPr/>
        </p:nvCxnSpPr>
        <p:spPr>
          <a:xfrm>
            <a:off x="7452360" y="2852928"/>
            <a:ext cx="502919" cy="0"/>
          </a:xfrm>
          <a:prstGeom prst="line">
            <a:avLst/>
          </a:prstGeom>
          <a:ln w="31750">
            <a:solidFill>
              <a:srgbClr val="5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046720" y="1783080"/>
            <a:ext cx="3611880" cy="640080"/>
          </a:xfrm>
          <a:prstGeom prst="roundRect">
            <a:avLst>
              <a:gd name="adj" fmla="val 17142"/>
            </a:avLst>
          </a:prstGeom>
          <a:solidFill>
            <a:srgbClr val="FFFFFF"/>
          </a:solidFill>
          <a:ln w="12700">
            <a:solidFill>
              <a:srgbClr val="E2E8F0"/>
            </a:solidFill>
          </a:ln>
          <a:effectLst>
            <a:outerShdw blurRad="114300" dist="25400" dir="5400000" algn="t" rotWithShape="0">
              <a:srgbClr val="1E293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Oval 22"/>
          <p:cNvSpPr/>
          <p:nvPr/>
        </p:nvSpPr>
        <p:spPr>
          <a:xfrm>
            <a:off x="8183879" y="1874519"/>
            <a:ext cx="457200" cy="457200"/>
          </a:xfrm>
          <a:prstGeom prst="ellipse">
            <a:avLst/>
          </a:prstGeom>
          <a:solidFill>
            <a:srgbClr val="E3C4C4"/>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1500" b="1" i="0">
                <a:solidFill>
                  <a:srgbClr val="500000"/>
                </a:solidFill>
                <a:latin typeface="Cambria Math"/>
              </a:rPr>
              <a:t>E</a:t>
            </a:r>
          </a:p>
        </p:txBody>
      </p:sp>
      <p:sp>
        <p:nvSpPr>
          <p:cNvPr id="24" name="TextBox 23"/>
          <p:cNvSpPr txBox="1"/>
          <p:nvPr/>
        </p:nvSpPr>
        <p:spPr>
          <a:xfrm>
            <a:off x="8796528" y="1892807"/>
            <a:ext cx="2743200" cy="457200"/>
          </a:xfrm>
          <a:prstGeom prst="rect">
            <a:avLst/>
          </a:prstGeom>
          <a:noFill/>
        </p:spPr>
        <p:txBody>
          <a:bodyPr wrap="square" lIns="0" tIns="0" rIns="0" bIns="0" anchor="ctr">
            <a:spAutoFit/>
          </a:bodyPr>
          <a:lstStyle/>
          <a:p>
            <a:pPr algn="l"/>
            <a:r>
              <a:rPr sz="1400" b="1" i="0">
                <a:solidFill>
                  <a:srgbClr val="1E293B"/>
                </a:solidFill>
                <a:latin typeface="Arial"/>
              </a:rPr>
              <a:t>total energy</a:t>
            </a:r>
            <a:r>
              <a:rPr sz="1400" b="0" i="0">
                <a:solidFill>
                  <a:srgbClr val="94A3B8"/>
                </a:solidFill>
                <a:latin typeface="Arial"/>
              </a:rPr>
              <a:t>   eV</a:t>
            </a:r>
          </a:p>
        </p:txBody>
      </p:sp>
      <p:sp>
        <p:nvSpPr>
          <p:cNvPr id="25" name="Rounded Rectangle 24"/>
          <p:cNvSpPr/>
          <p:nvPr/>
        </p:nvSpPr>
        <p:spPr>
          <a:xfrm>
            <a:off x="8046720" y="2532888"/>
            <a:ext cx="3611880" cy="640080"/>
          </a:xfrm>
          <a:prstGeom prst="roundRect">
            <a:avLst>
              <a:gd name="adj" fmla="val 17142"/>
            </a:avLst>
          </a:prstGeom>
          <a:solidFill>
            <a:srgbClr val="FFFFFF"/>
          </a:solidFill>
          <a:ln w="12700">
            <a:solidFill>
              <a:srgbClr val="E2E8F0"/>
            </a:solidFill>
          </a:ln>
          <a:effectLst>
            <a:outerShdw blurRad="114300" dist="25400" dir="5400000" algn="t" rotWithShape="0">
              <a:srgbClr val="1E293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Oval 25"/>
          <p:cNvSpPr/>
          <p:nvPr/>
        </p:nvSpPr>
        <p:spPr>
          <a:xfrm>
            <a:off x="8183879" y="2624328"/>
            <a:ext cx="457200" cy="457200"/>
          </a:xfrm>
          <a:prstGeom prst="ellipse">
            <a:avLst/>
          </a:prstGeom>
          <a:solidFill>
            <a:srgbClr val="5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1500" b="1" i="0">
                <a:solidFill>
                  <a:srgbClr val="FFFFFF"/>
                </a:solidFill>
                <a:latin typeface="Cambria Math"/>
              </a:rPr>
              <a:t>F</a:t>
            </a:r>
            <a:r>
              <a:rPr sz="1500" b="1" i="0" baseline="-25000">
                <a:solidFill>
                  <a:srgbClr val="FFFFFF"/>
                </a:solidFill>
                <a:latin typeface="Cambria Math"/>
              </a:rPr>
              <a:t>i</a:t>
            </a:r>
          </a:p>
        </p:txBody>
      </p:sp>
      <p:sp>
        <p:nvSpPr>
          <p:cNvPr id="27" name="TextBox 26"/>
          <p:cNvSpPr txBox="1"/>
          <p:nvPr/>
        </p:nvSpPr>
        <p:spPr>
          <a:xfrm>
            <a:off x="8796528" y="2642616"/>
            <a:ext cx="2743200" cy="457200"/>
          </a:xfrm>
          <a:prstGeom prst="rect">
            <a:avLst/>
          </a:prstGeom>
          <a:noFill/>
        </p:spPr>
        <p:txBody>
          <a:bodyPr wrap="square" lIns="0" tIns="0" rIns="0" bIns="0" anchor="ctr">
            <a:spAutoFit/>
          </a:bodyPr>
          <a:lstStyle/>
          <a:p>
            <a:pPr algn="l"/>
            <a:r>
              <a:rPr sz="1400" b="1" i="0">
                <a:solidFill>
                  <a:srgbClr val="1E293B"/>
                </a:solidFill>
                <a:latin typeface="Arial"/>
              </a:rPr>
              <a:t>force on every atom</a:t>
            </a:r>
            <a:r>
              <a:rPr sz="1400" b="0" i="0">
                <a:solidFill>
                  <a:srgbClr val="94A3B8"/>
                </a:solidFill>
                <a:latin typeface="Arial"/>
              </a:rPr>
              <a:t>   eV/Å</a:t>
            </a:r>
          </a:p>
        </p:txBody>
      </p:sp>
      <p:sp>
        <p:nvSpPr>
          <p:cNvPr id="28" name="Rounded Rectangle 27"/>
          <p:cNvSpPr/>
          <p:nvPr/>
        </p:nvSpPr>
        <p:spPr>
          <a:xfrm>
            <a:off x="8046720" y="3282696"/>
            <a:ext cx="3611880" cy="640080"/>
          </a:xfrm>
          <a:prstGeom prst="roundRect">
            <a:avLst>
              <a:gd name="adj" fmla="val 17142"/>
            </a:avLst>
          </a:prstGeom>
          <a:solidFill>
            <a:srgbClr val="FFFFFF"/>
          </a:solidFill>
          <a:ln w="12700">
            <a:solidFill>
              <a:srgbClr val="E2E8F0"/>
            </a:solidFill>
          </a:ln>
          <a:effectLst>
            <a:outerShdw blurRad="114300" dist="25400" dir="5400000" algn="t" rotWithShape="0">
              <a:srgbClr val="1E293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Oval 28"/>
          <p:cNvSpPr/>
          <p:nvPr/>
        </p:nvSpPr>
        <p:spPr>
          <a:xfrm>
            <a:off x="8183879" y="3374136"/>
            <a:ext cx="457200" cy="457200"/>
          </a:xfrm>
          <a:prstGeom prst="ellipse">
            <a:avLst/>
          </a:prstGeom>
          <a:solidFill>
            <a:srgbClr val="E3C4C4"/>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1500" b="1" i="0">
                <a:solidFill>
                  <a:srgbClr val="500000"/>
                </a:solidFill>
                <a:latin typeface="Cambria Math"/>
              </a:rPr>
              <a:t>σ</a:t>
            </a:r>
          </a:p>
        </p:txBody>
      </p:sp>
      <p:sp>
        <p:nvSpPr>
          <p:cNvPr id="30" name="TextBox 29"/>
          <p:cNvSpPr txBox="1"/>
          <p:nvPr/>
        </p:nvSpPr>
        <p:spPr>
          <a:xfrm>
            <a:off x="8796528" y="3392424"/>
            <a:ext cx="2743200" cy="457200"/>
          </a:xfrm>
          <a:prstGeom prst="rect">
            <a:avLst/>
          </a:prstGeom>
          <a:noFill/>
        </p:spPr>
        <p:txBody>
          <a:bodyPr wrap="square" lIns="0" tIns="0" rIns="0" bIns="0" anchor="ctr">
            <a:spAutoFit/>
          </a:bodyPr>
          <a:lstStyle/>
          <a:p>
            <a:pPr algn="l"/>
            <a:r>
              <a:rPr sz="1400" b="1" i="0">
                <a:solidFill>
                  <a:srgbClr val="1E293B"/>
                </a:solidFill>
                <a:latin typeface="Arial"/>
              </a:rPr>
              <a:t>stress on the cell</a:t>
            </a:r>
            <a:r>
              <a:rPr sz="1400" b="0" i="0">
                <a:solidFill>
                  <a:srgbClr val="94A3B8"/>
                </a:solidFill>
                <a:latin typeface="Arial"/>
              </a:rPr>
              <a:t>   GPa</a:t>
            </a:r>
          </a:p>
        </p:txBody>
      </p:sp>
      <p:sp>
        <p:nvSpPr>
          <p:cNvPr id="31" name="TextBox 30"/>
          <p:cNvSpPr txBox="1"/>
          <p:nvPr/>
        </p:nvSpPr>
        <p:spPr>
          <a:xfrm>
            <a:off x="548640" y="4224528"/>
            <a:ext cx="5486400" cy="274320"/>
          </a:xfrm>
          <a:prstGeom prst="rect">
            <a:avLst/>
          </a:prstGeom>
          <a:noFill/>
        </p:spPr>
        <p:txBody>
          <a:bodyPr wrap="square" lIns="0" tIns="0" rIns="0" bIns="0" anchor="t">
            <a:spAutoFit/>
          </a:bodyPr>
          <a:lstStyle/>
          <a:p>
            <a:pPr algn="l"/>
            <a:r>
              <a:rPr sz="1100" b="1" i="0">
                <a:solidFill>
                  <a:srgbClr val="B87878"/>
                </a:solidFill>
                <a:latin typeface="Arial"/>
              </a:rPr>
              <a:t>WHO USES IT</a:t>
            </a:r>
          </a:p>
        </p:txBody>
      </p:sp>
      <p:sp>
        <p:nvSpPr>
          <p:cNvPr id="32" name="Rounded Rectangle 31"/>
          <p:cNvSpPr/>
          <p:nvPr/>
        </p:nvSpPr>
        <p:spPr>
          <a:xfrm>
            <a:off x="548640" y="4526280"/>
            <a:ext cx="2606040" cy="1691640"/>
          </a:xfrm>
          <a:prstGeom prst="roundRect">
            <a:avLst>
              <a:gd name="adj" fmla="val 8108"/>
            </a:avLst>
          </a:prstGeom>
          <a:solidFill>
            <a:srgbClr val="F5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Oval 32"/>
          <p:cNvSpPr/>
          <p:nvPr/>
        </p:nvSpPr>
        <p:spPr>
          <a:xfrm>
            <a:off x="768095" y="4700016"/>
            <a:ext cx="566928" cy="566928"/>
          </a:xfrm>
          <a:prstGeom prst="ellipse">
            <a:avLst/>
          </a:prstGeom>
          <a:solidFill>
            <a:srgbClr val="5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1500" b="1" i="0">
                <a:solidFill>
                  <a:srgbClr val="FFFFFF"/>
                </a:solidFill>
                <a:latin typeface="Arial"/>
              </a:rPr>
              <a:t>Li</a:t>
            </a:r>
          </a:p>
        </p:txBody>
      </p:sp>
      <p:sp>
        <p:nvSpPr>
          <p:cNvPr id="34" name="TextBox 33"/>
          <p:cNvSpPr txBox="1"/>
          <p:nvPr/>
        </p:nvSpPr>
        <p:spPr>
          <a:xfrm>
            <a:off x="777240" y="5394960"/>
            <a:ext cx="2240280" cy="274320"/>
          </a:xfrm>
          <a:prstGeom prst="rect">
            <a:avLst/>
          </a:prstGeom>
          <a:noFill/>
        </p:spPr>
        <p:txBody>
          <a:bodyPr wrap="square" lIns="0" tIns="0" rIns="0" bIns="0" anchor="t">
            <a:spAutoFit/>
          </a:bodyPr>
          <a:lstStyle/>
          <a:p>
            <a:pPr algn="l"/>
            <a:r>
              <a:rPr sz="1500" b="1" i="0">
                <a:solidFill>
                  <a:srgbClr val="1E293B"/>
                </a:solidFill>
                <a:latin typeface="Arial"/>
              </a:rPr>
              <a:t>Materials scientists</a:t>
            </a:r>
          </a:p>
        </p:txBody>
      </p:sp>
      <p:sp>
        <p:nvSpPr>
          <p:cNvPr id="35" name="TextBox 34"/>
          <p:cNvSpPr txBox="1"/>
          <p:nvPr/>
        </p:nvSpPr>
        <p:spPr>
          <a:xfrm>
            <a:off x="777240" y="5669280"/>
            <a:ext cx="2240280" cy="457200"/>
          </a:xfrm>
          <a:prstGeom prst="rect">
            <a:avLst/>
          </a:prstGeom>
          <a:noFill/>
        </p:spPr>
        <p:txBody>
          <a:bodyPr wrap="square" lIns="0" tIns="0" rIns="0" bIns="0" anchor="t">
            <a:spAutoFit/>
          </a:bodyPr>
          <a:lstStyle/>
          <a:p>
            <a:pPr algn="l"/>
            <a:r>
              <a:rPr sz="1200" b="0" i="0">
                <a:solidFill>
                  <a:srgbClr val="64748B"/>
                </a:solidFill>
                <a:latin typeface="Arial"/>
              </a:rPr>
              <a:t>batteries, catalysts, alloys</a:t>
            </a:r>
          </a:p>
        </p:txBody>
      </p:sp>
      <p:sp>
        <p:nvSpPr>
          <p:cNvPr id="36" name="Rounded Rectangle 35"/>
          <p:cNvSpPr/>
          <p:nvPr/>
        </p:nvSpPr>
        <p:spPr>
          <a:xfrm>
            <a:off x="3383280" y="4526280"/>
            <a:ext cx="2606040" cy="1691640"/>
          </a:xfrm>
          <a:prstGeom prst="roundRect">
            <a:avLst>
              <a:gd name="adj" fmla="val 8108"/>
            </a:avLst>
          </a:prstGeom>
          <a:solidFill>
            <a:srgbClr val="F5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Oval 36"/>
          <p:cNvSpPr/>
          <p:nvPr/>
        </p:nvSpPr>
        <p:spPr>
          <a:xfrm>
            <a:off x="3602736" y="4700016"/>
            <a:ext cx="566928" cy="566928"/>
          </a:xfrm>
          <a:prstGeom prst="ellipse">
            <a:avLst/>
          </a:prstGeom>
          <a:solidFill>
            <a:srgbClr val="5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1500" b="1" i="0">
                <a:solidFill>
                  <a:srgbClr val="FFFFFF"/>
                </a:solidFill>
                <a:latin typeface="Arial"/>
              </a:rPr>
              <a:t>C</a:t>
            </a:r>
          </a:p>
        </p:txBody>
      </p:sp>
      <p:sp>
        <p:nvSpPr>
          <p:cNvPr id="38" name="TextBox 37"/>
          <p:cNvSpPr txBox="1"/>
          <p:nvPr/>
        </p:nvSpPr>
        <p:spPr>
          <a:xfrm>
            <a:off x="3611880" y="5394960"/>
            <a:ext cx="2240280" cy="274320"/>
          </a:xfrm>
          <a:prstGeom prst="rect">
            <a:avLst/>
          </a:prstGeom>
          <a:noFill/>
        </p:spPr>
        <p:txBody>
          <a:bodyPr wrap="square" lIns="0" tIns="0" rIns="0" bIns="0" anchor="t">
            <a:spAutoFit/>
          </a:bodyPr>
          <a:lstStyle/>
          <a:p>
            <a:pPr algn="l"/>
            <a:r>
              <a:rPr sz="1500" b="1" i="0">
                <a:solidFill>
                  <a:srgbClr val="1E293B"/>
                </a:solidFill>
                <a:latin typeface="Arial"/>
              </a:rPr>
              <a:t>Chemists &amp; pharma</a:t>
            </a:r>
          </a:p>
        </p:txBody>
      </p:sp>
      <p:sp>
        <p:nvSpPr>
          <p:cNvPr id="39" name="TextBox 38"/>
          <p:cNvSpPr txBox="1"/>
          <p:nvPr/>
        </p:nvSpPr>
        <p:spPr>
          <a:xfrm>
            <a:off x="3611880" y="5669280"/>
            <a:ext cx="2240280" cy="457200"/>
          </a:xfrm>
          <a:prstGeom prst="rect">
            <a:avLst/>
          </a:prstGeom>
          <a:noFill/>
        </p:spPr>
        <p:txBody>
          <a:bodyPr wrap="square" lIns="0" tIns="0" rIns="0" bIns="0" anchor="t">
            <a:spAutoFit/>
          </a:bodyPr>
          <a:lstStyle/>
          <a:p>
            <a:pPr algn="l"/>
            <a:r>
              <a:rPr sz="1200" b="0" i="0">
                <a:solidFill>
                  <a:srgbClr val="64748B"/>
                </a:solidFill>
                <a:latin typeface="Arial"/>
              </a:rPr>
              <a:t>molecules, liquids, drug-like systems</a:t>
            </a:r>
          </a:p>
        </p:txBody>
      </p:sp>
      <p:sp>
        <p:nvSpPr>
          <p:cNvPr id="40" name="Rounded Rectangle 39"/>
          <p:cNvSpPr/>
          <p:nvPr/>
        </p:nvSpPr>
        <p:spPr>
          <a:xfrm>
            <a:off x="6217920" y="4526280"/>
            <a:ext cx="2606040" cy="1691640"/>
          </a:xfrm>
          <a:prstGeom prst="roundRect">
            <a:avLst>
              <a:gd name="adj" fmla="val 8108"/>
            </a:avLst>
          </a:prstGeom>
          <a:solidFill>
            <a:srgbClr val="F5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Oval 40"/>
          <p:cNvSpPr/>
          <p:nvPr/>
        </p:nvSpPr>
        <p:spPr>
          <a:xfrm>
            <a:off x="6437376" y="4700016"/>
            <a:ext cx="566928" cy="566928"/>
          </a:xfrm>
          <a:prstGeom prst="ellipse">
            <a:avLst/>
          </a:prstGeom>
          <a:solidFill>
            <a:srgbClr val="5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1500" b="1" i="0">
                <a:solidFill>
                  <a:srgbClr val="FFFFFF"/>
                </a:solidFill>
                <a:latin typeface="Arial"/>
              </a:rPr>
              <a:t>MD</a:t>
            </a:r>
          </a:p>
        </p:txBody>
      </p:sp>
      <p:sp>
        <p:nvSpPr>
          <p:cNvPr id="42" name="TextBox 41"/>
          <p:cNvSpPr txBox="1"/>
          <p:nvPr/>
        </p:nvSpPr>
        <p:spPr>
          <a:xfrm>
            <a:off x="6446520" y="5394960"/>
            <a:ext cx="2240280" cy="274320"/>
          </a:xfrm>
          <a:prstGeom prst="rect">
            <a:avLst/>
          </a:prstGeom>
          <a:noFill/>
        </p:spPr>
        <p:txBody>
          <a:bodyPr wrap="square" lIns="0" tIns="0" rIns="0" bIns="0" anchor="t">
            <a:spAutoFit/>
          </a:bodyPr>
          <a:lstStyle/>
          <a:p>
            <a:pPr algn="l"/>
            <a:r>
              <a:rPr sz="1500" b="1" i="0">
                <a:solidFill>
                  <a:srgbClr val="1E293B"/>
                </a:solidFill>
                <a:latin typeface="Arial"/>
              </a:rPr>
              <a:t>Simulation engineers</a:t>
            </a:r>
          </a:p>
        </p:txBody>
      </p:sp>
      <p:sp>
        <p:nvSpPr>
          <p:cNvPr id="43" name="TextBox 42"/>
          <p:cNvSpPr txBox="1"/>
          <p:nvPr/>
        </p:nvSpPr>
        <p:spPr>
          <a:xfrm>
            <a:off x="6446520" y="5669280"/>
            <a:ext cx="2240280" cy="457200"/>
          </a:xfrm>
          <a:prstGeom prst="rect">
            <a:avLst/>
          </a:prstGeom>
          <a:noFill/>
        </p:spPr>
        <p:txBody>
          <a:bodyPr wrap="square" lIns="0" tIns="0" rIns="0" bIns="0" anchor="t">
            <a:spAutoFit/>
          </a:bodyPr>
          <a:lstStyle/>
          <a:p>
            <a:pPr algn="l"/>
            <a:r>
              <a:rPr sz="1200" b="0" i="0">
                <a:solidFill>
                  <a:srgbClr val="64748B"/>
                </a:solidFill>
                <a:latin typeface="Arial"/>
              </a:rPr>
              <a:t>10⁴–10⁶ atoms, nanoseconds of motion</a:t>
            </a:r>
          </a:p>
        </p:txBody>
      </p:sp>
      <p:sp>
        <p:nvSpPr>
          <p:cNvPr id="44" name="Rounded Rectangle 43"/>
          <p:cNvSpPr/>
          <p:nvPr/>
        </p:nvSpPr>
        <p:spPr>
          <a:xfrm>
            <a:off x="9052560" y="4526280"/>
            <a:ext cx="2606040" cy="1691640"/>
          </a:xfrm>
          <a:prstGeom prst="roundRect">
            <a:avLst>
              <a:gd name="adj" fmla="val 8108"/>
            </a:avLst>
          </a:prstGeom>
          <a:solidFill>
            <a:srgbClr val="500000"/>
          </a:solidFill>
          <a:ln>
            <a:noFill/>
          </a:ln>
          <a:effectLst>
            <a:outerShdw blurRad="114300" dist="25400" dir="5400000" algn="t" rotWithShape="0">
              <a:srgbClr val="1E293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Oval 44"/>
          <p:cNvSpPr/>
          <p:nvPr/>
        </p:nvSpPr>
        <p:spPr>
          <a:xfrm>
            <a:off x="9272016" y="4700016"/>
            <a:ext cx="566928" cy="56692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1500" b="1" i="0">
                <a:solidFill>
                  <a:srgbClr val="500000"/>
                </a:solidFill>
                <a:latin typeface="Arial"/>
              </a:rPr>
              <a:t>AI</a:t>
            </a:r>
          </a:p>
        </p:txBody>
      </p:sp>
      <p:sp>
        <p:nvSpPr>
          <p:cNvPr id="46" name="TextBox 45"/>
          <p:cNvSpPr txBox="1"/>
          <p:nvPr/>
        </p:nvSpPr>
        <p:spPr>
          <a:xfrm>
            <a:off x="9281160" y="5394960"/>
            <a:ext cx="2240280" cy="274320"/>
          </a:xfrm>
          <a:prstGeom prst="rect">
            <a:avLst/>
          </a:prstGeom>
          <a:noFill/>
        </p:spPr>
        <p:txBody>
          <a:bodyPr wrap="square" lIns="0" tIns="0" rIns="0" bIns="0" anchor="t">
            <a:spAutoFit/>
          </a:bodyPr>
          <a:lstStyle/>
          <a:p>
            <a:pPr algn="l"/>
            <a:r>
              <a:rPr sz="1500" b="1" i="0">
                <a:solidFill>
                  <a:srgbClr val="FFFFFF"/>
                </a:solidFill>
                <a:latin typeface="Arial"/>
              </a:rPr>
              <a:t>AI agents</a:t>
            </a:r>
          </a:p>
        </p:txBody>
      </p:sp>
      <p:sp>
        <p:nvSpPr>
          <p:cNvPr id="47" name="TextBox 46"/>
          <p:cNvSpPr txBox="1"/>
          <p:nvPr/>
        </p:nvSpPr>
        <p:spPr>
          <a:xfrm>
            <a:off x="9281160" y="5669280"/>
            <a:ext cx="2240280" cy="457200"/>
          </a:xfrm>
          <a:prstGeom prst="rect">
            <a:avLst/>
          </a:prstGeom>
          <a:noFill/>
        </p:spPr>
        <p:txBody>
          <a:bodyPr wrap="square" lIns="0" tIns="0" rIns="0" bIns="0" anchor="t">
            <a:spAutoFit/>
          </a:bodyPr>
          <a:lstStyle/>
          <a:p>
            <a:pPr algn="l"/>
            <a:r>
              <a:rPr sz="1200" b="0" i="0">
                <a:solidFill>
                  <a:srgbClr val="E3C4C4"/>
                </a:solidFill>
                <a:latin typeface="Arial"/>
              </a:rPr>
              <a:t>a fast, callable physics oracle</a:t>
            </a:r>
          </a:p>
        </p:txBody>
      </p:sp>
      <p:sp>
        <p:nvSpPr>
          <p:cNvPr id="48" name="TextBox 47"/>
          <p:cNvSpPr txBox="1"/>
          <p:nvPr/>
        </p:nvSpPr>
        <p:spPr>
          <a:xfrm>
            <a:off x="548640" y="6428232"/>
            <a:ext cx="9601200" cy="228600"/>
          </a:xfrm>
          <a:prstGeom prst="rect">
            <a:avLst/>
          </a:prstGeom>
          <a:noFill/>
        </p:spPr>
        <p:txBody>
          <a:bodyPr wrap="square" lIns="0" tIns="0" rIns="0" bIns="0" anchor="t">
            <a:spAutoFit/>
          </a:bodyPr>
          <a:lstStyle/>
          <a:p>
            <a:pPr algn="l"/>
            <a:r>
              <a:rPr sz="900" b="0" i="0">
                <a:solidFill>
                  <a:srgbClr val="94A3B8"/>
                </a:solidFill>
                <a:latin typeface="Arial"/>
              </a:rPr>
              <a:t>Batatia et al., NeurIPS 2022 (MACE); MACE-MP-0 foundation model covers 89 elements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Kicker"/>
          <p:cNvSpPr txBox="1"/>
          <p:nvPr/>
        </p:nvSpPr>
        <p:spPr>
          <a:xfrm>
            <a:off x="548640" y="347472"/>
            <a:ext cx="8229600" cy="274320"/>
          </a:xfrm>
          <a:prstGeom prst="rect">
            <a:avLst/>
          </a:prstGeom>
          <a:noFill/>
        </p:spPr>
        <p:txBody>
          <a:bodyPr wrap="square" lIns="0" tIns="0" rIns="0" bIns="0" anchor="t">
            <a:spAutoFit/>
          </a:bodyPr>
          <a:lstStyle/>
          <a:p>
            <a:pPr algn="l"/>
            <a:r>
              <a:rPr sz="1100" b="1" i="0">
                <a:solidFill>
                  <a:srgbClr val="B87878"/>
                </a:solidFill>
                <a:latin typeface="Arial"/>
              </a:rPr>
              <a:t>PART 1 · THE MODEL</a:t>
            </a:r>
          </a:p>
        </p:txBody>
      </p:sp>
      <p:sp>
        <p:nvSpPr>
          <p:cNvPr id="3" name="Title"/>
          <p:cNvSpPr txBox="1"/>
          <p:nvPr/>
        </p:nvSpPr>
        <p:spPr>
          <a:xfrm>
            <a:off x="548640" y="566928"/>
            <a:ext cx="11064240" cy="640080"/>
          </a:xfrm>
          <a:prstGeom prst="rect">
            <a:avLst/>
          </a:prstGeom>
          <a:noFill/>
        </p:spPr>
        <p:txBody>
          <a:bodyPr wrap="square" lIns="0" tIns="0" rIns="0" bIns="0" anchor="t">
            <a:spAutoFit/>
          </a:bodyPr>
          <a:lstStyle/>
          <a:p>
            <a:pPr algn="l"/>
            <a:r>
              <a:rPr sz="3400" b="1" i="0">
                <a:solidFill>
                  <a:srgbClr val="500000"/>
                </a:solidFill>
                <a:latin typeface="Arial"/>
              </a:rPr>
              <a:t>Where MACE sits: accuracy vs. cost</a:t>
            </a:r>
          </a:p>
        </p:txBody>
      </p:sp>
      <p:sp>
        <p:nvSpPr>
          <p:cNvPr id="4" name="Subtitle"/>
          <p:cNvSpPr txBox="1"/>
          <p:nvPr/>
        </p:nvSpPr>
        <p:spPr>
          <a:xfrm>
            <a:off x="548640" y="1207008"/>
            <a:ext cx="11064240" cy="365760"/>
          </a:xfrm>
          <a:prstGeom prst="rect">
            <a:avLst/>
          </a:prstGeom>
          <a:noFill/>
        </p:spPr>
        <p:txBody>
          <a:bodyPr wrap="square" lIns="0" tIns="0" rIns="0" bIns="0" anchor="t">
            <a:spAutoFit/>
          </a:bodyPr>
          <a:lstStyle/>
          <a:p>
            <a:pPr algn="l"/>
            <a:r>
              <a:rPr sz="1500" b="0" i="1">
                <a:solidFill>
                  <a:srgbClr val="64748B"/>
                </a:solidFill>
                <a:latin typeface="Arial"/>
              </a:rPr>
              <a:t>Learn from expensive quantum calculations once, then predict cheaply forever</a:t>
            </a:r>
          </a:p>
        </p:txBody>
      </p:sp>
      <p:sp>
        <p:nvSpPr>
          <p:cNvPr id="5" name="TextBox 4"/>
          <p:cNvSpPr txBox="1"/>
          <p:nvPr/>
        </p:nvSpPr>
        <p:spPr>
          <a:xfrm>
            <a:off x="11155680" y="6400800"/>
            <a:ext cx="548640" cy="228600"/>
          </a:xfrm>
          <a:prstGeom prst="rect">
            <a:avLst/>
          </a:prstGeom>
          <a:noFill/>
        </p:spPr>
        <p:txBody>
          <a:bodyPr wrap="square" lIns="0" tIns="0" rIns="0" bIns="0" anchor="t">
            <a:spAutoFit/>
          </a:bodyPr>
          <a:lstStyle/>
          <a:p>
            <a:pPr algn="r"/>
            <a:r>
              <a:rPr sz="1000" b="1" i="0">
                <a:solidFill>
                  <a:srgbClr val="500000"/>
                </a:solidFill>
                <a:latin typeface="Arial"/>
              </a:rPr>
              <a:t>03</a:t>
            </a:r>
          </a:p>
        </p:txBody>
      </p:sp>
      <p:cxnSp>
        <p:nvCxnSpPr>
          <p:cNvPr id="6" name="Connector 5"/>
          <p:cNvCxnSpPr/>
          <p:nvPr/>
        </p:nvCxnSpPr>
        <p:spPr>
          <a:xfrm>
            <a:off x="1005840" y="5394960"/>
            <a:ext cx="4937760" cy="0"/>
          </a:xfrm>
          <a:prstGeom prst="line">
            <a:avLst/>
          </a:prstGeom>
          <a:ln w="19050">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1005840" y="1783080"/>
            <a:ext cx="0" cy="3611880"/>
          </a:xfrm>
          <a:prstGeom prst="line">
            <a:avLst/>
          </a:prstGeom>
          <a:ln w="19050">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005840" y="5486400"/>
            <a:ext cx="4937760" cy="274320"/>
          </a:xfrm>
          <a:prstGeom prst="rect">
            <a:avLst/>
          </a:prstGeom>
          <a:noFill/>
        </p:spPr>
        <p:txBody>
          <a:bodyPr wrap="square" lIns="0" tIns="0" rIns="0" bIns="0" anchor="t">
            <a:spAutoFit/>
          </a:bodyPr>
          <a:lstStyle/>
          <a:p>
            <a:pPr algn="l"/>
            <a:r>
              <a:rPr sz="1200" b="0" i="0">
                <a:solidFill>
                  <a:srgbClr val="64748B"/>
                </a:solidFill>
                <a:latin typeface="Arial"/>
              </a:rPr>
              <a:t>compute cost per calculation  (log scale)  →</a:t>
            </a:r>
          </a:p>
        </p:txBody>
      </p:sp>
      <p:sp>
        <p:nvSpPr>
          <p:cNvPr id="9" name="TextBox 8"/>
          <p:cNvSpPr txBox="1"/>
          <p:nvPr/>
        </p:nvSpPr>
        <p:spPr>
          <a:xfrm rot="16200000">
            <a:off x="-502920" y="3383280"/>
            <a:ext cx="2011680" cy="320040"/>
          </a:xfrm>
          <a:prstGeom prst="rect">
            <a:avLst/>
          </a:prstGeom>
          <a:noFill/>
        </p:spPr>
        <p:txBody>
          <a:bodyPr wrap="square" lIns="0" tIns="0" rIns="0" bIns="0" anchor="ctr">
            <a:spAutoFit/>
          </a:bodyPr>
          <a:lstStyle/>
          <a:p>
            <a:pPr algn="ctr"/>
            <a:r>
              <a:rPr sz="1200" b="0" i="0">
                <a:solidFill>
                  <a:srgbClr val="64748B"/>
                </a:solidFill>
                <a:latin typeface="Arial"/>
              </a:rPr>
              <a:t>accuracy  →</a:t>
            </a:r>
          </a:p>
        </p:txBody>
      </p:sp>
      <p:sp>
        <p:nvSpPr>
          <p:cNvPr id="10" name="Oval 9"/>
          <p:cNvSpPr/>
          <p:nvPr/>
        </p:nvSpPr>
        <p:spPr>
          <a:xfrm>
            <a:off x="1348740" y="4457700"/>
            <a:ext cx="502920" cy="502920"/>
          </a:xfrm>
          <a:prstGeom prst="ellipse">
            <a:avLst/>
          </a:prstGeom>
          <a:solidFill>
            <a:srgbClr val="94A3B8"/>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Oval 10"/>
          <p:cNvSpPr/>
          <p:nvPr/>
        </p:nvSpPr>
        <p:spPr>
          <a:xfrm>
            <a:off x="2263140" y="2263140"/>
            <a:ext cx="868680" cy="868680"/>
          </a:xfrm>
          <a:prstGeom prst="ellipse">
            <a:avLst/>
          </a:prstGeom>
          <a:solidFill>
            <a:srgbClr val="50000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Oval 11"/>
          <p:cNvSpPr/>
          <p:nvPr/>
        </p:nvSpPr>
        <p:spPr>
          <a:xfrm>
            <a:off x="4183380" y="2171700"/>
            <a:ext cx="685800" cy="685800"/>
          </a:xfrm>
          <a:prstGeom prst="ellipse">
            <a:avLst/>
          </a:prstGeom>
          <a:solidFill>
            <a:srgbClr val="1E293B"/>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Oval 12"/>
          <p:cNvSpPr/>
          <p:nvPr/>
        </p:nvSpPr>
        <p:spPr>
          <a:xfrm>
            <a:off x="5212080" y="1737360"/>
            <a:ext cx="548640" cy="548640"/>
          </a:xfrm>
          <a:prstGeom prst="ellipse">
            <a:avLst/>
          </a:prstGeom>
          <a:solidFill>
            <a:srgbClr val="64748B"/>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cxnSp>
        <p:nvCxnSpPr>
          <p:cNvPr id="14" name="Connector 13"/>
          <p:cNvCxnSpPr/>
          <p:nvPr/>
        </p:nvCxnSpPr>
        <p:spPr>
          <a:xfrm flipH="1">
            <a:off x="3200400" y="2578608"/>
            <a:ext cx="960120" cy="91440"/>
          </a:xfrm>
          <a:prstGeom prst="line">
            <a:avLst/>
          </a:prstGeom>
          <a:ln w="28575">
            <a:solidFill>
              <a:srgbClr val="C9A227"/>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3154680" y="2011680"/>
            <a:ext cx="1463040" cy="274320"/>
          </a:xfrm>
          <a:prstGeom prst="rect">
            <a:avLst/>
          </a:prstGeom>
          <a:noFill/>
        </p:spPr>
        <p:txBody>
          <a:bodyPr wrap="square" lIns="0" tIns="0" rIns="0" bIns="0" anchor="t">
            <a:spAutoFit/>
          </a:bodyPr>
          <a:lstStyle/>
          <a:p>
            <a:pPr algn="l"/>
            <a:r>
              <a:rPr sz="1100" b="1" i="1">
                <a:solidFill>
                  <a:srgbClr val="C9A227"/>
                </a:solidFill>
                <a:latin typeface="Arial"/>
              </a:rPr>
              <a:t>trained on DFT</a:t>
            </a:r>
          </a:p>
        </p:txBody>
      </p:sp>
      <p:sp>
        <p:nvSpPr>
          <p:cNvPr id="16" name="TextBox 15"/>
          <p:cNvSpPr txBox="1"/>
          <p:nvPr/>
        </p:nvSpPr>
        <p:spPr>
          <a:xfrm>
            <a:off x="1051560" y="4023360"/>
            <a:ext cx="1371600" cy="457200"/>
          </a:xfrm>
          <a:prstGeom prst="rect">
            <a:avLst/>
          </a:prstGeom>
          <a:noFill/>
        </p:spPr>
        <p:txBody>
          <a:bodyPr wrap="square" lIns="0" tIns="0" rIns="0" bIns="0" anchor="t">
            <a:spAutoFit/>
          </a:bodyPr>
          <a:lstStyle/>
          <a:p>
            <a:pPr algn="ctr"/>
            <a:r>
              <a:rPr sz="1200" b="0" i="0">
                <a:solidFill>
                  <a:srgbClr val="64748B"/>
                </a:solidFill>
                <a:latin typeface="Arial"/>
              </a:rPr>
              <a:t>Classical force fields</a:t>
            </a:r>
          </a:p>
        </p:txBody>
      </p:sp>
      <p:sp>
        <p:nvSpPr>
          <p:cNvPr id="17" name="TextBox 16"/>
          <p:cNvSpPr txBox="1"/>
          <p:nvPr/>
        </p:nvSpPr>
        <p:spPr>
          <a:xfrm>
            <a:off x="2057400" y="3200400"/>
            <a:ext cx="1280160" cy="274320"/>
          </a:xfrm>
          <a:prstGeom prst="rect">
            <a:avLst/>
          </a:prstGeom>
          <a:noFill/>
        </p:spPr>
        <p:txBody>
          <a:bodyPr wrap="square" lIns="0" tIns="0" rIns="0" bIns="0" anchor="t">
            <a:spAutoFit/>
          </a:bodyPr>
          <a:lstStyle/>
          <a:p>
            <a:pPr algn="ctr"/>
            <a:r>
              <a:rPr sz="1400" b="1" i="0">
                <a:solidFill>
                  <a:srgbClr val="500000"/>
                </a:solidFill>
                <a:latin typeface="Arial"/>
              </a:rPr>
              <a:t>MACE</a:t>
            </a:r>
          </a:p>
        </p:txBody>
      </p:sp>
      <p:sp>
        <p:nvSpPr>
          <p:cNvPr id="18" name="TextBox 17"/>
          <p:cNvSpPr txBox="1"/>
          <p:nvPr/>
        </p:nvSpPr>
        <p:spPr>
          <a:xfrm>
            <a:off x="3977639" y="2926080"/>
            <a:ext cx="1097280" cy="274320"/>
          </a:xfrm>
          <a:prstGeom prst="rect">
            <a:avLst/>
          </a:prstGeom>
          <a:noFill/>
        </p:spPr>
        <p:txBody>
          <a:bodyPr wrap="square" lIns="0" tIns="0" rIns="0" bIns="0" anchor="t">
            <a:spAutoFit/>
          </a:bodyPr>
          <a:lstStyle/>
          <a:p>
            <a:pPr algn="ctr"/>
            <a:r>
              <a:rPr sz="1300" b="1" i="0">
                <a:solidFill>
                  <a:srgbClr val="1E293B"/>
                </a:solidFill>
                <a:latin typeface="Arial"/>
              </a:rPr>
              <a:t>DFT</a:t>
            </a:r>
          </a:p>
        </p:txBody>
      </p:sp>
      <p:sp>
        <p:nvSpPr>
          <p:cNvPr id="19" name="TextBox 18"/>
          <p:cNvSpPr txBox="1"/>
          <p:nvPr/>
        </p:nvSpPr>
        <p:spPr>
          <a:xfrm>
            <a:off x="4846320" y="2377440"/>
            <a:ext cx="1280160" cy="457200"/>
          </a:xfrm>
          <a:prstGeom prst="rect">
            <a:avLst/>
          </a:prstGeom>
          <a:noFill/>
        </p:spPr>
        <p:txBody>
          <a:bodyPr wrap="square" lIns="0" tIns="0" rIns="0" bIns="0" anchor="t">
            <a:spAutoFit/>
          </a:bodyPr>
          <a:lstStyle/>
          <a:p>
            <a:pPr algn="ctr"/>
            <a:r>
              <a:rPr sz="1200" b="0" i="0">
                <a:solidFill>
                  <a:srgbClr val="64748B"/>
                </a:solidFill>
                <a:latin typeface="Arial"/>
              </a:rPr>
              <a:t>Coupled cluster</a:t>
            </a:r>
          </a:p>
        </p:txBody>
      </p:sp>
      <p:sp>
        <p:nvSpPr>
          <p:cNvPr id="20" name="Rounded Rectangle 19"/>
          <p:cNvSpPr/>
          <p:nvPr/>
        </p:nvSpPr>
        <p:spPr>
          <a:xfrm>
            <a:off x="3017520" y="3657600"/>
            <a:ext cx="2743200" cy="914400"/>
          </a:xfrm>
          <a:prstGeom prst="roundRect">
            <a:avLst>
              <a:gd name="adj" fmla="val 12000"/>
            </a:avLst>
          </a:prstGeom>
          <a:solidFill>
            <a:srgbClr val="F5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3154680" y="3703320"/>
            <a:ext cx="2514600" cy="822960"/>
          </a:xfrm>
          <a:prstGeom prst="rect">
            <a:avLst/>
          </a:prstGeom>
          <a:noFill/>
        </p:spPr>
        <p:txBody>
          <a:bodyPr wrap="square" lIns="0" tIns="0" rIns="0" bIns="0" anchor="ctr">
            <a:spAutoFit/>
          </a:bodyPr>
          <a:lstStyle/>
          <a:p>
            <a:pPr algn="l"/>
            <a:r>
              <a:rPr sz="1300" b="1" i="0">
                <a:solidFill>
                  <a:srgbClr val="500000"/>
                </a:solidFill>
                <a:latin typeface="Arial"/>
              </a:rPr>
              <a:t>Sweet spot: </a:t>
            </a:r>
            <a:r>
              <a:rPr sz="1300" b="0" i="0">
                <a:solidFill>
                  <a:srgbClr val="1E293B"/>
                </a:solidFill>
                <a:latin typeface="Arial"/>
              </a:rPr>
              <a:t>near-DFT accuracy at a tiny fraction of the cost</a:t>
            </a:r>
          </a:p>
        </p:txBody>
      </p:sp>
      <p:graphicFrame>
        <p:nvGraphicFramePr>
          <p:cNvPr id="22" name="Chart 21"/>
          <p:cNvGraphicFramePr>
            <a:graphicFrameLocks noGrp="1"/>
          </p:cNvGraphicFramePr>
          <p:nvPr/>
        </p:nvGraphicFramePr>
        <p:xfrm>
          <a:off x="6492240" y="1691640"/>
          <a:ext cx="5166360" cy="3977639"/>
        </p:xfrm>
        <a:graphic>
          <a:graphicData uri="http://schemas.openxmlformats.org/drawingml/2006/chart">
            <c:chart xmlns:c="http://schemas.openxmlformats.org/drawingml/2006/chart" xmlns:r="http://schemas.openxmlformats.org/officeDocument/2006/relationships" r:id="rId3"/>
          </a:graphicData>
        </a:graphic>
      </p:graphicFrame>
      <p:sp>
        <p:nvSpPr>
          <p:cNvPr id="23" name="Rounded Rectangle 22"/>
          <p:cNvSpPr/>
          <p:nvPr/>
        </p:nvSpPr>
        <p:spPr>
          <a:xfrm>
            <a:off x="9646920" y="2971800"/>
            <a:ext cx="1828800" cy="548640"/>
          </a:xfrm>
          <a:prstGeom prst="roundRect">
            <a:avLst>
              <a:gd name="adj" fmla="val 20000"/>
            </a:avLst>
          </a:prstGeom>
          <a:solidFill>
            <a:srgbClr val="FFFFFF"/>
          </a:solidFill>
          <a:ln w="12700">
            <a:solidFill>
              <a:srgbClr val="E3C4C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9692640" y="3017520"/>
            <a:ext cx="1737360" cy="457200"/>
          </a:xfrm>
          <a:prstGeom prst="rect">
            <a:avLst/>
          </a:prstGeom>
          <a:noFill/>
        </p:spPr>
        <p:txBody>
          <a:bodyPr wrap="square" lIns="0" tIns="0" rIns="0" bIns="0" anchor="ctr">
            <a:spAutoFit/>
          </a:bodyPr>
          <a:lstStyle/>
          <a:p>
            <a:pPr algn="ctr"/>
            <a:r>
              <a:rPr sz="1500" b="1" i="0">
                <a:solidFill>
                  <a:srgbClr val="500000"/>
                </a:solidFill>
                <a:latin typeface="Arial"/>
              </a:rPr>
              <a:t>10⁹× gap</a:t>
            </a:r>
          </a:p>
          <a:p>
            <a:pPr algn="ctr"/>
            <a:r>
              <a:rPr sz="1000" b="0" i="0">
                <a:solidFill>
                  <a:srgbClr val="64748B"/>
                </a:solidFill>
                <a:latin typeface="Arial"/>
              </a:rPr>
              <a:t>at 10k atoms</a:t>
            </a:r>
          </a:p>
        </p:txBody>
      </p:sp>
      <p:sp>
        <p:nvSpPr>
          <p:cNvPr id="25" name="Rounded Rectangle 24"/>
          <p:cNvSpPr/>
          <p:nvPr/>
        </p:nvSpPr>
        <p:spPr>
          <a:xfrm>
            <a:off x="548640" y="5852160"/>
            <a:ext cx="11091672" cy="457200"/>
          </a:xfrm>
          <a:prstGeom prst="roundRect">
            <a:avLst>
              <a:gd name="adj" fmla="val 24000"/>
            </a:avLst>
          </a:prstGeom>
          <a:solidFill>
            <a:srgbClr val="50000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500" b="1" i="0">
                <a:solidFill>
                  <a:srgbClr val="FFFFFF"/>
                </a:solidFill>
                <a:latin typeface="Arial"/>
              </a:rPr>
              <a:t>MACE scales linearly: big systems and long simulations become possible</a:t>
            </a:r>
          </a:p>
        </p:txBody>
      </p:sp>
      <p:sp>
        <p:nvSpPr>
          <p:cNvPr id="26" name="TextBox 25"/>
          <p:cNvSpPr txBox="1"/>
          <p:nvPr/>
        </p:nvSpPr>
        <p:spPr>
          <a:xfrm>
            <a:off x="548640" y="6428232"/>
            <a:ext cx="9601200" cy="228600"/>
          </a:xfrm>
          <a:prstGeom prst="rect">
            <a:avLst/>
          </a:prstGeom>
          <a:noFill/>
        </p:spPr>
        <p:txBody>
          <a:bodyPr wrap="square" lIns="0" tIns="0" rIns="0" bIns="0" anchor="t">
            <a:spAutoFit/>
          </a:bodyPr>
          <a:lstStyle/>
          <a:p>
            <a:pPr algn="l"/>
            <a:r>
              <a:rPr sz="900" b="0" i="0">
                <a:solidFill>
                  <a:srgbClr val="94A3B8"/>
                </a:solidFill>
                <a:latin typeface="Arial"/>
              </a:rPr>
              <a:t>Scaling curves are illustrative (DFT ~ O(N³), local ML potentials ~ O(N)); constants vary by code and hardware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Kicker"/>
          <p:cNvSpPr txBox="1"/>
          <p:nvPr/>
        </p:nvSpPr>
        <p:spPr>
          <a:xfrm>
            <a:off x="548640" y="347472"/>
            <a:ext cx="8229600" cy="274320"/>
          </a:xfrm>
          <a:prstGeom prst="rect">
            <a:avLst/>
          </a:prstGeom>
          <a:noFill/>
        </p:spPr>
        <p:txBody>
          <a:bodyPr wrap="square" lIns="0" tIns="0" rIns="0" bIns="0" anchor="t">
            <a:spAutoFit/>
          </a:bodyPr>
          <a:lstStyle/>
          <a:p>
            <a:pPr algn="l"/>
            <a:r>
              <a:rPr sz="1100" b="1" i="0">
                <a:solidFill>
                  <a:srgbClr val="B87878"/>
                </a:solidFill>
                <a:latin typeface="Arial"/>
              </a:rPr>
              <a:t>PART 2 · THE AGENT</a:t>
            </a:r>
          </a:p>
        </p:txBody>
      </p:sp>
      <p:sp>
        <p:nvSpPr>
          <p:cNvPr id="3" name="Title"/>
          <p:cNvSpPr txBox="1"/>
          <p:nvPr/>
        </p:nvSpPr>
        <p:spPr>
          <a:xfrm>
            <a:off x="548640" y="566928"/>
            <a:ext cx="11064240" cy="640080"/>
          </a:xfrm>
          <a:prstGeom prst="rect">
            <a:avLst/>
          </a:prstGeom>
          <a:noFill/>
        </p:spPr>
        <p:txBody>
          <a:bodyPr wrap="square" lIns="0" tIns="0" rIns="0" bIns="0" anchor="t">
            <a:spAutoFit/>
          </a:bodyPr>
          <a:lstStyle/>
          <a:p>
            <a:pPr algn="l"/>
            <a:r>
              <a:rPr sz="3400" b="1" i="0">
                <a:solidFill>
                  <a:srgbClr val="500000"/>
                </a:solidFill>
                <a:latin typeface="Arial"/>
              </a:rPr>
              <a:t>MACE as the agent's physics tool</a:t>
            </a:r>
          </a:p>
        </p:txBody>
      </p:sp>
      <p:sp>
        <p:nvSpPr>
          <p:cNvPr id="4" name="Subtitle"/>
          <p:cNvSpPr txBox="1"/>
          <p:nvPr/>
        </p:nvSpPr>
        <p:spPr>
          <a:xfrm>
            <a:off x="548640" y="1207008"/>
            <a:ext cx="11064240" cy="365760"/>
          </a:xfrm>
          <a:prstGeom prst="rect">
            <a:avLst/>
          </a:prstGeom>
          <a:noFill/>
        </p:spPr>
        <p:txBody>
          <a:bodyPr wrap="square" lIns="0" tIns="0" rIns="0" bIns="0" anchor="t">
            <a:spAutoFit/>
          </a:bodyPr>
          <a:lstStyle/>
          <a:p>
            <a:pPr algn="l"/>
            <a:r>
              <a:rPr sz="1500" b="0" i="1">
                <a:solidFill>
                  <a:srgbClr val="64748B"/>
                </a:solidFill>
                <a:latin typeface="Arial"/>
              </a:rPr>
              <a:t>The LLM plans and reasons; MACE answers “what would the atoms do?” in milliseconds</a:t>
            </a:r>
          </a:p>
        </p:txBody>
      </p:sp>
      <p:sp>
        <p:nvSpPr>
          <p:cNvPr id="5" name="TextBox 4"/>
          <p:cNvSpPr txBox="1"/>
          <p:nvPr/>
        </p:nvSpPr>
        <p:spPr>
          <a:xfrm>
            <a:off x="11155680" y="6400800"/>
            <a:ext cx="548640" cy="228600"/>
          </a:xfrm>
          <a:prstGeom prst="rect">
            <a:avLst/>
          </a:prstGeom>
          <a:noFill/>
        </p:spPr>
        <p:txBody>
          <a:bodyPr wrap="square" lIns="0" tIns="0" rIns="0" bIns="0" anchor="t">
            <a:spAutoFit/>
          </a:bodyPr>
          <a:lstStyle/>
          <a:p>
            <a:pPr algn="r"/>
            <a:r>
              <a:rPr sz="1000" b="1" i="0">
                <a:solidFill>
                  <a:srgbClr val="500000"/>
                </a:solidFill>
                <a:latin typeface="Arial"/>
              </a:rPr>
              <a:t>06</a:t>
            </a:r>
          </a:p>
        </p:txBody>
      </p:sp>
      <p:sp>
        <p:nvSpPr>
          <p:cNvPr id="6" name="Oval 5"/>
          <p:cNvSpPr/>
          <p:nvPr/>
        </p:nvSpPr>
        <p:spPr>
          <a:xfrm>
            <a:off x="2766060" y="3131820"/>
            <a:ext cx="1325880" cy="1325880"/>
          </a:xfrm>
          <a:prstGeom prst="ellipse">
            <a:avLst/>
          </a:prstGeom>
          <a:solidFill>
            <a:srgbClr val="FFFFFF"/>
          </a:solidFill>
          <a:ln w="25400">
            <a:solidFill>
              <a:srgbClr val="500000"/>
            </a:solid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1800" b="1" i="0">
                <a:solidFill>
                  <a:srgbClr val="500000"/>
                </a:solidFill>
                <a:latin typeface="Arial"/>
              </a:rPr>
              <a:t>LLM</a:t>
            </a:r>
          </a:p>
          <a:p>
            <a:pPr algn="ctr"/>
            <a:r>
              <a:rPr sz="1200" b="1" i="0">
                <a:solidFill>
                  <a:srgbClr val="500000"/>
                </a:solidFill>
                <a:latin typeface="Arial"/>
              </a:rPr>
              <a:t>agent</a:t>
            </a:r>
          </a:p>
        </p:txBody>
      </p:sp>
      <p:sp>
        <p:nvSpPr>
          <p:cNvPr id="7" name="Rounded Rectangle 6"/>
          <p:cNvSpPr/>
          <p:nvPr/>
        </p:nvSpPr>
        <p:spPr>
          <a:xfrm>
            <a:off x="2514600" y="1737360"/>
            <a:ext cx="1828800" cy="731520"/>
          </a:xfrm>
          <a:prstGeom prst="roundRect">
            <a:avLst>
              <a:gd name="adj" fmla="val 18749"/>
            </a:avLst>
          </a:prstGeom>
          <a:solidFill>
            <a:srgbClr val="F5F1F1"/>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400" b="1" i="0">
                <a:solidFill>
                  <a:srgbClr val="1E293B"/>
                </a:solidFill>
                <a:latin typeface="Arial"/>
              </a:rPr>
              <a:t>Plan</a:t>
            </a:r>
          </a:p>
          <a:p>
            <a:pPr algn="ctr"/>
            <a:r>
              <a:rPr sz="1000" b="0" i="0">
                <a:solidFill>
                  <a:srgbClr val="1E293B"/>
                </a:solidFill>
                <a:latin typeface="Arial"/>
              </a:rPr>
              <a:t>hypothesis</a:t>
            </a:r>
          </a:p>
        </p:txBody>
      </p:sp>
      <p:sp>
        <p:nvSpPr>
          <p:cNvPr id="8" name="Rounded Rectangle 7"/>
          <p:cNvSpPr/>
          <p:nvPr/>
        </p:nvSpPr>
        <p:spPr>
          <a:xfrm>
            <a:off x="4526280" y="3429000"/>
            <a:ext cx="1828800" cy="731520"/>
          </a:xfrm>
          <a:prstGeom prst="roundRect">
            <a:avLst>
              <a:gd name="adj" fmla="val 18749"/>
            </a:avLst>
          </a:prstGeom>
          <a:solidFill>
            <a:srgbClr val="F5F1F1"/>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400" b="1" i="0">
                <a:solidFill>
                  <a:srgbClr val="1E293B"/>
                </a:solidFill>
                <a:latin typeface="Arial"/>
              </a:rPr>
              <a:t>Build</a:t>
            </a:r>
          </a:p>
          <a:p>
            <a:pPr algn="ctr"/>
            <a:r>
              <a:rPr sz="1000" b="0" i="0">
                <a:solidFill>
                  <a:srgbClr val="1E293B"/>
                </a:solidFill>
                <a:latin typeface="Arial"/>
              </a:rPr>
              <a:t>ASE · pymatgen</a:t>
            </a:r>
          </a:p>
        </p:txBody>
      </p:sp>
      <p:sp>
        <p:nvSpPr>
          <p:cNvPr id="9" name="Rounded Rectangle 8"/>
          <p:cNvSpPr/>
          <p:nvPr/>
        </p:nvSpPr>
        <p:spPr>
          <a:xfrm>
            <a:off x="2514600" y="5120640"/>
            <a:ext cx="1828800" cy="731520"/>
          </a:xfrm>
          <a:prstGeom prst="roundRect">
            <a:avLst>
              <a:gd name="adj" fmla="val 18749"/>
            </a:avLst>
          </a:prstGeom>
          <a:solidFill>
            <a:srgbClr val="500000"/>
          </a:solidFill>
          <a:ln>
            <a:noFill/>
          </a:ln>
          <a:effectLst>
            <a:outerShdw blurRad="114300" dist="25400" dir="5400000" algn="t" rotWithShape="0">
              <a:srgbClr val="1E293B">
                <a:alpha val="14000"/>
              </a:srgbClr>
            </a:outerShdw>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400" b="1" i="0">
                <a:solidFill>
                  <a:srgbClr val="FFFFFF"/>
                </a:solidFill>
                <a:latin typeface="Arial"/>
              </a:rPr>
              <a:t>Simulate</a:t>
            </a:r>
          </a:p>
          <a:p>
            <a:pPr algn="ctr"/>
            <a:r>
              <a:rPr sz="1000" b="0" i="0">
                <a:solidFill>
                  <a:srgbClr val="FFFFFF"/>
                </a:solidFill>
                <a:latin typeface="Arial"/>
              </a:rPr>
              <a:t>MACE: relax · MD</a:t>
            </a:r>
          </a:p>
        </p:txBody>
      </p:sp>
      <p:sp>
        <p:nvSpPr>
          <p:cNvPr id="10" name="Rounded Rectangle 9"/>
          <p:cNvSpPr/>
          <p:nvPr/>
        </p:nvSpPr>
        <p:spPr>
          <a:xfrm>
            <a:off x="548640" y="3429000"/>
            <a:ext cx="1828800" cy="731520"/>
          </a:xfrm>
          <a:prstGeom prst="roundRect">
            <a:avLst>
              <a:gd name="adj" fmla="val 18749"/>
            </a:avLst>
          </a:prstGeom>
          <a:solidFill>
            <a:srgbClr val="F5F1F1"/>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400" b="1" i="0">
                <a:solidFill>
                  <a:srgbClr val="1E293B"/>
                </a:solidFill>
                <a:latin typeface="Arial"/>
              </a:rPr>
              <a:t>Analyze</a:t>
            </a:r>
          </a:p>
          <a:p>
            <a:pPr algn="ctr"/>
            <a:r>
              <a:rPr sz="1000" b="0" i="0">
                <a:solidFill>
                  <a:srgbClr val="1E293B"/>
                </a:solidFill>
                <a:latin typeface="Arial"/>
              </a:rPr>
              <a:t>rank · decide</a:t>
            </a:r>
          </a:p>
        </p:txBody>
      </p:sp>
      <p:cxnSp>
        <p:nvCxnSpPr>
          <p:cNvPr id="11" name="Connector 10"/>
          <p:cNvCxnSpPr/>
          <p:nvPr/>
        </p:nvCxnSpPr>
        <p:spPr>
          <a:xfrm>
            <a:off x="4389120" y="2286000"/>
            <a:ext cx="868680" cy="1097280"/>
          </a:xfrm>
          <a:prstGeom prst="line">
            <a:avLst/>
          </a:prstGeom>
          <a:ln w="25400">
            <a:solidFill>
              <a:srgbClr val="5000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4389120" y="4206240"/>
            <a:ext cx="868680" cy="1097280"/>
          </a:xfrm>
          <a:prstGeom prst="line">
            <a:avLst/>
          </a:prstGeom>
          <a:ln w="25400">
            <a:solidFill>
              <a:srgbClr val="5000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flipV="1">
            <a:off x="1645920" y="4206240"/>
            <a:ext cx="822960" cy="1097280"/>
          </a:xfrm>
          <a:prstGeom prst="line">
            <a:avLst/>
          </a:prstGeom>
          <a:ln w="25400">
            <a:solidFill>
              <a:srgbClr val="5000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1645920" y="2286000"/>
            <a:ext cx="822960" cy="1097280"/>
          </a:xfrm>
          <a:prstGeom prst="line">
            <a:avLst/>
          </a:prstGeom>
          <a:ln w="25400">
            <a:solidFill>
              <a:srgbClr val="5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903720" y="1783080"/>
            <a:ext cx="4754880" cy="822960"/>
          </a:xfrm>
          <a:prstGeom prst="roundRect">
            <a:avLst>
              <a:gd name="adj" fmla="val 13333"/>
            </a:avLst>
          </a:prstGeom>
          <a:solidFill>
            <a:srgbClr val="E3C4C4"/>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2000" b="1" i="0">
                <a:solidFill>
                  <a:srgbClr val="1E293B"/>
                </a:solidFill>
                <a:latin typeface="Arial"/>
              </a:rPr>
              <a:t>10⁶  </a:t>
            </a:r>
            <a:r>
              <a:rPr sz="1300" b="1" i="0">
                <a:solidFill>
                  <a:srgbClr val="1E293B"/>
                </a:solidFill>
                <a:latin typeface="Arial"/>
              </a:rPr>
              <a:t>ideas generated</a:t>
            </a:r>
          </a:p>
          <a:p>
            <a:pPr algn="ctr"/>
            <a:r>
              <a:rPr sz="1000" b="0" i="0">
                <a:solidFill>
                  <a:srgbClr val="1E293B"/>
                </a:solidFill>
                <a:latin typeface="Arial"/>
              </a:rPr>
              <a:t>agent / generative model</a:t>
            </a:r>
          </a:p>
        </p:txBody>
      </p:sp>
      <p:sp>
        <p:nvSpPr>
          <p:cNvPr id="16" name="Rounded Rectangle 15"/>
          <p:cNvSpPr/>
          <p:nvPr/>
        </p:nvSpPr>
        <p:spPr>
          <a:xfrm>
            <a:off x="7315200" y="2743200"/>
            <a:ext cx="3931920" cy="822960"/>
          </a:xfrm>
          <a:prstGeom prst="roundRect">
            <a:avLst>
              <a:gd name="adj" fmla="val 13333"/>
            </a:avLst>
          </a:prstGeom>
          <a:solidFill>
            <a:srgbClr val="B8787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2000" b="1" i="0">
                <a:solidFill>
                  <a:srgbClr val="FFFFFF"/>
                </a:solidFill>
                <a:latin typeface="Arial"/>
              </a:rPr>
              <a:t>10⁴  </a:t>
            </a:r>
            <a:r>
              <a:rPr sz="1300" b="1" i="0">
                <a:solidFill>
                  <a:srgbClr val="FFFFFF"/>
                </a:solidFill>
                <a:latin typeface="Arial"/>
              </a:rPr>
              <a:t>screened with MACE</a:t>
            </a:r>
          </a:p>
          <a:p>
            <a:pPr algn="ctr"/>
            <a:r>
              <a:rPr sz="1000" b="0" i="0">
                <a:solidFill>
                  <a:srgbClr val="FFFFFF"/>
                </a:solidFill>
                <a:latin typeface="Arial"/>
              </a:rPr>
              <a:t>milliseconds each</a:t>
            </a:r>
          </a:p>
        </p:txBody>
      </p:sp>
      <p:sp>
        <p:nvSpPr>
          <p:cNvPr id="17" name="Rounded Rectangle 16"/>
          <p:cNvSpPr/>
          <p:nvPr/>
        </p:nvSpPr>
        <p:spPr>
          <a:xfrm>
            <a:off x="7726680" y="3703320"/>
            <a:ext cx="3108960" cy="822960"/>
          </a:xfrm>
          <a:prstGeom prst="roundRect">
            <a:avLst>
              <a:gd name="adj" fmla="val 13333"/>
            </a:avLst>
          </a:prstGeom>
          <a:solidFill>
            <a:srgbClr val="7A2E2E"/>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2000" b="1" i="0">
                <a:solidFill>
                  <a:srgbClr val="FFFFFF"/>
                </a:solidFill>
                <a:latin typeface="Arial"/>
              </a:rPr>
              <a:t>10²  </a:t>
            </a:r>
            <a:r>
              <a:rPr sz="1300" b="1" i="0">
                <a:solidFill>
                  <a:srgbClr val="FFFFFF"/>
                </a:solidFill>
                <a:latin typeface="Arial"/>
              </a:rPr>
              <a:t>checked with DFT</a:t>
            </a:r>
          </a:p>
          <a:p>
            <a:pPr algn="ctr"/>
            <a:r>
              <a:rPr sz="1000" b="0" i="0">
                <a:solidFill>
                  <a:srgbClr val="FFFFFF"/>
                </a:solidFill>
                <a:latin typeface="Arial"/>
              </a:rPr>
              <a:t>hours each</a:t>
            </a:r>
          </a:p>
        </p:txBody>
      </p:sp>
      <p:sp>
        <p:nvSpPr>
          <p:cNvPr id="18" name="Rounded Rectangle 17"/>
          <p:cNvSpPr/>
          <p:nvPr/>
        </p:nvSpPr>
        <p:spPr>
          <a:xfrm>
            <a:off x="8138160" y="4663440"/>
            <a:ext cx="2286000" cy="822960"/>
          </a:xfrm>
          <a:prstGeom prst="roundRect">
            <a:avLst>
              <a:gd name="adj" fmla="val 13333"/>
            </a:avLst>
          </a:prstGeom>
          <a:solidFill>
            <a:srgbClr val="50000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2000" b="1" i="0">
                <a:solidFill>
                  <a:srgbClr val="FFFFFF"/>
                </a:solidFill>
                <a:latin typeface="Arial"/>
              </a:rPr>
              <a:t>10  </a:t>
            </a:r>
            <a:r>
              <a:rPr sz="1300" b="1" i="0">
                <a:solidFill>
                  <a:srgbClr val="FFFFFF"/>
                </a:solidFill>
                <a:latin typeface="Arial"/>
              </a:rPr>
              <a:t>made in the lab</a:t>
            </a:r>
          </a:p>
          <a:p>
            <a:pPr algn="ctr"/>
            <a:r>
              <a:rPr sz="1000" b="0" i="0">
                <a:solidFill>
                  <a:srgbClr val="FFFFFF"/>
                </a:solidFill>
                <a:latin typeface="Arial"/>
              </a:rPr>
              <a:t>weeks each</a:t>
            </a:r>
          </a:p>
        </p:txBody>
      </p:sp>
      <p:sp>
        <p:nvSpPr>
          <p:cNvPr id="19" name="Rounded Rectangle 18"/>
          <p:cNvSpPr/>
          <p:nvPr/>
        </p:nvSpPr>
        <p:spPr>
          <a:xfrm>
            <a:off x="6903720" y="5852160"/>
            <a:ext cx="4754880" cy="457200"/>
          </a:xfrm>
          <a:prstGeom prst="roundRect">
            <a:avLst>
              <a:gd name="adj" fmla="val 24000"/>
            </a:avLst>
          </a:prstGeom>
          <a:solidFill>
            <a:srgbClr val="50000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500" b="1" i="0">
                <a:solidFill>
                  <a:srgbClr val="FFFFFF"/>
                </a:solidFill>
                <a:latin typeface="Arial"/>
              </a:rPr>
              <a:t>Physics cheap enough for an agent to think with</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Kicker"/>
          <p:cNvSpPr txBox="1"/>
          <p:nvPr/>
        </p:nvSpPr>
        <p:spPr>
          <a:xfrm>
            <a:off x="548640" y="347472"/>
            <a:ext cx="8229600" cy="274320"/>
          </a:xfrm>
          <a:prstGeom prst="rect">
            <a:avLst/>
          </a:prstGeom>
          <a:noFill/>
        </p:spPr>
        <p:txBody>
          <a:bodyPr wrap="square" lIns="0" tIns="0" rIns="0" bIns="0" anchor="t">
            <a:spAutoFit/>
          </a:bodyPr>
          <a:lstStyle/>
          <a:p>
            <a:pPr algn="l"/>
            <a:r>
              <a:rPr sz="1100" b="1" i="0">
                <a:solidFill>
                  <a:srgbClr val="B87878"/>
                </a:solidFill>
                <a:latin typeface="Arial"/>
              </a:rPr>
              <a:t>PART 2 · THE AGENT</a:t>
            </a:r>
          </a:p>
        </p:txBody>
      </p:sp>
      <p:sp>
        <p:nvSpPr>
          <p:cNvPr id="3" name="Title"/>
          <p:cNvSpPr txBox="1"/>
          <p:nvPr/>
        </p:nvSpPr>
        <p:spPr>
          <a:xfrm>
            <a:off x="548640" y="566928"/>
            <a:ext cx="11064240" cy="640080"/>
          </a:xfrm>
          <a:prstGeom prst="rect">
            <a:avLst/>
          </a:prstGeom>
          <a:noFill/>
        </p:spPr>
        <p:txBody>
          <a:bodyPr wrap="square" lIns="0" tIns="0" rIns="0" bIns="0" anchor="t">
            <a:spAutoFit/>
          </a:bodyPr>
          <a:lstStyle/>
          <a:p>
            <a:pPr algn="l"/>
            <a:r>
              <a:rPr sz="3400" b="1" i="0">
                <a:solidFill>
                  <a:srgbClr val="500000"/>
                </a:solidFill>
                <a:latin typeface="Arial"/>
              </a:rPr>
              <a:t>Evolution with MACE as the fitness function</a:t>
            </a:r>
          </a:p>
        </p:txBody>
      </p:sp>
      <p:sp>
        <p:nvSpPr>
          <p:cNvPr id="4" name="Subtitle"/>
          <p:cNvSpPr txBox="1"/>
          <p:nvPr/>
        </p:nvSpPr>
        <p:spPr>
          <a:xfrm>
            <a:off x="548640" y="1207008"/>
            <a:ext cx="11064240" cy="365760"/>
          </a:xfrm>
          <a:prstGeom prst="rect">
            <a:avLst/>
          </a:prstGeom>
          <a:noFill/>
        </p:spPr>
        <p:txBody>
          <a:bodyPr wrap="square" lIns="0" tIns="0" rIns="0" bIns="0" anchor="t">
            <a:spAutoFit/>
          </a:bodyPr>
          <a:lstStyle/>
          <a:p>
            <a:pPr algn="l"/>
            <a:r>
              <a:rPr sz="1500" b="0" i="1">
                <a:solidFill>
                  <a:srgbClr val="64748B"/>
                </a:solidFill>
                <a:latin typeface="Arial"/>
              </a:rPr>
              <a:t>Generate, score, select, repeat — then verify the winner with the slow simulator (DFT)</a:t>
            </a:r>
          </a:p>
        </p:txBody>
      </p:sp>
      <p:sp>
        <p:nvSpPr>
          <p:cNvPr id="5" name="TextBox 4"/>
          <p:cNvSpPr txBox="1"/>
          <p:nvPr/>
        </p:nvSpPr>
        <p:spPr>
          <a:xfrm>
            <a:off x="11155680" y="6400800"/>
            <a:ext cx="548640" cy="228600"/>
          </a:xfrm>
          <a:prstGeom prst="rect">
            <a:avLst/>
          </a:prstGeom>
          <a:noFill/>
        </p:spPr>
        <p:txBody>
          <a:bodyPr wrap="square" lIns="0" tIns="0" rIns="0" bIns="0" anchor="t">
            <a:spAutoFit/>
          </a:bodyPr>
          <a:lstStyle/>
          <a:p>
            <a:pPr algn="r"/>
            <a:r>
              <a:rPr sz="1000" b="1" i="0">
                <a:solidFill>
                  <a:srgbClr val="500000"/>
                </a:solidFill>
                <a:latin typeface="Arial"/>
              </a:rPr>
              <a:t>07</a:t>
            </a:r>
          </a:p>
        </p:txBody>
      </p:sp>
      <p:sp>
        <p:nvSpPr>
          <p:cNvPr id="6" name="Rounded Rectangle 5"/>
          <p:cNvSpPr/>
          <p:nvPr/>
        </p:nvSpPr>
        <p:spPr>
          <a:xfrm>
            <a:off x="2331720" y="1737360"/>
            <a:ext cx="1920240" cy="731520"/>
          </a:xfrm>
          <a:prstGeom prst="roundRect">
            <a:avLst>
              <a:gd name="adj" fmla="val 18749"/>
            </a:avLst>
          </a:prstGeom>
          <a:solidFill>
            <a:srgbClr val="F5F1F1"/>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400" b="1" i="0">
                <a:solidFill>
                  <a:srgbClr val="1E293B"/>
                </a:solidFill>
                <a:latin typeface="Arial"/>
              </a:rPr>
              <a:t>Population</a:t>
            </a:r>
          </a:p>
          <a:p>
            <a:pPr algn="ctr"/>
            <a:r>
              <a:rPr sz="1000" b="0" i="0">
                <a:solidFill>
                  <a:srgbClr val="1E293B"/>
                </a:solidFill>
                <a:latin typeface="Arial"/>
              </a:rPr>
              <a:t>candidate structures</a:t>
            </a:r>
          </a:p>
        </p:txBody>
      </p:sp>
      <p:sp>
        <p:nvSpPr>
          <p:cNvPr id="7" name="Rounded Rectangle 6"/>
          <p:cNvSpPr/>
          <p:nvPr/>
        </p:nvSpPr>
        <p:spPr>
          <a:xfrm>
            <a:off x="4023360" y="3063240"/>
            <a:ext cx="1920240" cy="731520"/>
          </a:xfrm>
          <a:prstGeom prst="roundRect">
            <a:avLst>
              <a:gd name="adj" fmla="val 18749"/>
            </a:avLst>
          </a:prstGeom>
          <a:solidFill>
            <a:srgbClr val="F5F1F1"/>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400" b="1" i="0">
                <a:solidFill>
                  <a:srgbClr val="1E293B"/>
                </a:solidFill>
                <a:latin typeface="Arial"/>
              </a:rPr>
              <a:t>Mutate</a:t>
            </a:r>
          </a:p>
          <a:p>
            <a:pPr algn="ctr"/>
            <a:r>
              <a:rPr sz="1000" b="0" i="0">
                <a:solidFill>
                  <a:srgbClr val="1E293B"/>
                </a:solidFill>
                <a:latin typeface="Arial"/>
              </a:rPr>
              <a:t>crossover + bit flips</a:t>
            </a:r>
          </a:p>
        </p:txBody>
      </p:sp>
      <p:sp>
        <p:nvSpPr>
          <p:cNvPr id="8" name="Rounded Rectangle 7"/>
          <p:cNvSpPr/>
          <p:nvPr/>
        </p:nvSpPr>
        <p:spPr>
          <a:xfrm>
            <a:off x="2331720" y="4389120"/>
            <a:ext cx="1920240" cy="731520"/>
          </a:xfrm>
          <a:prstGeom prst="roundRect">
            <a:avLst>
              <a:gd name="adj" fmla="val 18749"/>
            </a:avLst>
          </a:prstGeom>
          <a:solidFill>
            <a:srgbClr val="500000"/>
          </a:solidFill>
          <a:ln>
            <a:noFill/>
          </a:ln>
          <a:effectLst>
            <a:outerShdw blurRad="114300" dist="25400" dir="5400000" algn="t" rotWithShape="0">
              <a:srgbClr val="1E293B">
                <a:alpha val="14000"/>
              </a:srgbClr>
            </a:outerShdw>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400" b="1" i="0">
                <a:solidFill>
                  <a:srgbClr val="FFFFFF"/>
                </a:solidFill>
                <a:latin typeface="Arial"/>
              </a:rPr>
              <a:t>Score</a:t>
            </a:r>
          </a:p>
          <a:p>
            <a:pPr algn="ctr"/>
            <a:r>
              <a:rPr sz="1000" b="0" i="0">
                <a:solidFill>
                  <a:srgbClr val="FFFFFF"/>
                </a:solidFill>
                <a:latin typeface="Arial"/>
              </a:rPr>
              <a:t>fine-tuned MACE energy</a:t>
            </a:r>
          </a:p>
        </p:txBody>
      </p:sp>
      <p:sp>
        <p:nvSpPr>
          <p:cNvPr id="9" name="Rounded Rectangle 8"/>
          <p:cNvSpPr/>
          <p:nvPr/>
        </p:nvSpPr>
        <p:spPr>
          <a:xfrm>
            <a:off x="640080" y="3063240"/>
            <a:ext cx="1920240" cy="731520"/>
          </a:xfrm>
          <a:prstGeom prst="roundRect">
            <a:avLst>
              <a:gd name="adj" fmla="val 18749"/>
            </a:avLst>
          </a:prstGeom>
          <a:solidFill>
            <a:srgbClr val="F5F1F1"/>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400" b="1" i="0">
                <a:solidFill>
                  <a:srgbClr val="1E293B"/>
                </a:solidFill>
                <a:latin typeface="Arial"/>
              </a:rPr>
              <a:t>Select</a:t>
            </a:r>
          </a:p>
          <a:p>
            <a:pPr algn="ctr"/>
            <a:r>
              <a:rPr sz="1000" b="0" i="0">
                <a:solidFill>
                  <a:srgbClr val="1E293B"/>
                </a:solidFill>
                <a:latin typeface="Arial"/>
              </a:rPr>
              <a:t>keep the fittest</a:t>
            </a:r>
          </a:p>
        </p:txBody>
      </p:sp>
      <p:cxnSp>
        <p:nvCxnSpPr>
          <p:cNvPr id="10" name="Connector 9"/>
          <p:cNvCxnSpPr/>
          <p:nvPr/>
        </p:nvCxnSpPr>
        <p:spPr>
          <a:xfrm>
            <a:off x="3900830" y="2580436"/>
            <a:ext cx="473659" cy="371247"/>
          </a:xfrm>
          <a:prstGeom prst="line">
            <a:avLst/>
          </a:prstGeom>
          <a:ln w="25400">
            <a:solidFill>
              <a:srgbClr val="5000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3900830" y="3906316"/>
            <a:ext cx="473659" cy="371247"/>
          </a:xfrm>
          <a:prstGeom prst="line">
            <a:avLst/>
          </a:prstGeom>
          <a:ln w="25400">
            <a:solidFill>
              <a:srgbClr val="5000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flipV="1">
            <a:off x="2209190" y="3906316"/>
            <a:ext cx="473659" cy="371247"/>
          </a:xfrm>
          <a:prstGeom prst="line">
            <a:avLst/>
          </a:prstGeom>
          <a:ln w="25400">
            <a:solidFill>
              <a:srgbClr val="5000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2209190" y="2580436"/>
            <a:ext cx="473659" cy="371247"/>
          </a:xfrm>
          <a:prstGeom prst="line">
            <a:avLst/>
          </a:prstGeom>
          <a:ln w="25400">
            <a:solidFill>
              <a:srgbClr val="5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560320" y="3246120"/>
            <a:ext cx="1463040" cy="365760"/>
          </a:xfrm>
          <a:prstGeom prst="rect">
            <a:avLst/>
          </a:prstGeom>
          <a:noFill/>
        </p:spPr>
        <p:txBody>
          <a:bodyPr wrap="square" lIns="0" tIns="0" rIns="0" bIns="0" anchor="t">
            <a:spAutoFit/>
          </a:bodyPr>
          <a:lstStyle/>
          <a:p>
            <a:pPr algn="ctr"/>
            <a:r>
              <a:rPr sz="1200" b="0" i="1">
                <a:solidFill>
                  <a:srgbClr val="64748B"/>
                </a:solidFill>
                <a:latin typeface="Arial"/>
              </a:rPr>
              <a:t>×  generations</a:t>
            </a:r>
          </a:p>
        </p:txBody>
      </p:sp>
      <p:sp>
        <p:nvSpPr>
          <p:cNvPr id="15" name="TextBox 14"/>
          <p:cNvSpPr txBox="1"/>
          <p:nvPr/>
        </p:nvSpPr>
        <p:spPr>
          <a:xfrm>
            <a:off x="548640" y="5303520"/>
            <a:ext cx="5486400" cy="274320"/>
          </a:xfrm>
          <a:prstGeom prst="rect">
            <a:avLst/>
          </a:prstGeom>
          <a:noFill/>
        </p:spPr>
        <p:txBody>
          <a:bodyPr wrap="square" lIns="0" tIns="0" rIns="0" bIns="0" anchor="t">
            <a:spAutoFit/>
          </a:bodyPr>
          <a:lstStyle/>
          <a:p>
            <a:pPr algn="l"/>
            <a:r>
              <a:rPr sz="1000" b="1" i="0">
                <a:solidFill>
                  <a:srgbClr val="B87878"/>
                </a:solidFill>
                <a:latin typeface="Arial"/>
              </a:rPr>
              <a:t>GENOME: 8 SITES, 2×1×1 FCC CELL  (shown: 00010001 = L1₂ Cu₃Au, the ground state)</a:t>
            </a:r>
          </a:p>
        </p:txBody>
      </p:sp>
      <p:sp>
        <p:nvSpPr>
          <p:cNvPr id="16" name="Rounded Rectangle 15"/>
          <p:cNvSpPr/>
          <p:nvPr/>
        </p:nvSpPr>
        <p:spPr>
          <a:xfrm>
            <a:off x="548640" y="5596128"/>
            <a:ext cx="201168" cy="347472"/>
          </a:xfrm>
          <a:prstGeom prst="roundRect">
            <a:avLst>
              <a:gd name="adj" fmla="val 20000"/>
            </a:avLst>
          </a:prstGeom>
          <a:solidFill>
            <a:srgbClr val="B87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ounded Rectangle 16"/>
          <p:cNvSpPr/>
          <p:nvPr/>
        </p:nvSpPr>
        <p:spPr>
          <a:xfrm>
            <a:off x="786384" y="5596128"/>
            <a:ext cx="201168" cy="347472"/>
          </a:xfrm>
          <a:prstGeom prst="roundRect">
            <a:avLst>
              <a:gd name="adj" fmla="val 20000"/>
            </a:avLst>
          </a:prstGeom>
          <a:solidFill>
            <a:srgbClr val="B87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ounded Rectangle 17"/>
          <p:cNvSpPr/>
          <p:nvPr/>
        </p:nvSpPr>
        <p:spPr>
          <a:xfrm>
            <a:off x="1024128" y="5596128"/>
            <a:ext cx="201168" cy="347472"/>
          </a:xfrm>
          <a:prstGeom prst="roundRect">
            <a:avLst>
              <a:gd name="adj" fmla="val 20000"/>
            </a:avLst>
          </a:prstGeom>
          <a:solidFill>
            <a:srgbClr val="B87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Rounded Rectangle 18"/>
          <p:cNvSpPr/>
          <p:nvPr/>
        </p:nvSpPr>
        <p:spPr>
          <a:xfrm>
            <a:off x="1261872" y="5596128"/>
            <a:ext cx="201168" cy="347472"/>
          </a:xfrm>
          <a:prstGeom prst="roundRect">
            <a:avLst>
              <a:gd name="adj" fmla="val 20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ounded Rectangle 19"/>
          <p:cNvSpPr/>
          <p:nvPr/>
        </p:nvSpPr>
        <p:spPr>
          <a:xfrm>
            <a:off x="1499616" y="5596128"/>
            <a:ext cx="201168" cy="347472"/>
          </a:xfrm>
          <a:prstGeom prst="roundRect">
            <a:avLst>
              <a:gd name="adj" fmla="val 20000"/>
            </a:avLst>
          </a:prstGeom>
          <a:solidFill>
            <a:srgbClr val="B87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Rounded Rectangle 20"/>
          <p:cNvSpPr/>
          <p:nvPr/>
        </p:nvSpPr>
        <p:spPr>
          <a:xfrm>
            <a:off x="1737360" y="5596128"/>
            <a:ext cx="201168" cy="347472"/>
          </a:xfrm>
          <a:prstGeom prst="roundRect">
            <a:avLst>
              <a:gd name="adj" fmla="val 20000"/>
            </a:avLst>
          </a:prstGeom>
          <a:solidFill>
            <a:srgbClr val="B87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Rounded Rectangle 21"/>
          <p:cNvSpPr/>
          <p:nvPr/>
        </p:nvSpPr>
        <p:spPr>
          <a:xfrm>
            <a:off x="1975104" y="5596128"/>
            <a:ext cx="201168" cy="347472"/>
          </a:xfrm>
          <a:prstGeom prst="roundRect">
            <a:avLst>
              <a:gd name="adj" fmla="val 20000"/>
            </a:avLst>
          </a:prstGeom>
          <a:solidFill>
            <a:srgbClr val="B87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Rounded Rectangle 22"/>
          <p:cNvSpPr/>
          <p:nvPr/>
        </p:nvSpPr>
        <p:spPr>
          <a:xfrm>
            <a:off x="2212848" y="5596128"/>
            <a:ext cx="201168" cy="347472"/>
          </a:xfrm>
          <a:prstGeom prst="roundRect">
            <a:avLst>
              <a:gd name="adj" fmla="val 20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 name="TextBox 47"/>
          <p:cNvSpPr txBox="1"/>
          <p:nvPr/>
        </p:nvSpPr>
        <p:spPr>
          <a:xfrm>
            <a:off x="548640" y="6035040"/>
            <a:ext cx="5943600" cy="274320"/>
          </a:xfrm>
          <a:prstGeom prst="rect">
            <a:avLst/>
          </a:prstGeom>
          <a:noFill/>
        </p:spPr>
        <p:txBody>
          <a:bodyPr wrap="square" lIns="0" tIns="0" rIns="0" bIns="0" anchor="t">
            <a:spAutoFit/>
          </a:bodyPr>
          <a:lstStyle/>
          <a:p>
            <a:pPr algn="l"/>
            <a:r>
              <a:rPr sz="1100" b="0" i="0">
                <a:solidFill>
                  <a:srgbClr val="B87333"/>
                </a:solidFill>
                <a:latin typeface="Arial"/>
              </a:rPr>
              <a:t>■ Cu    ■ Au     bit string read left to right, site by site</a:t>
            </a:r>
          </a:p>
        </p:txBody>
      </p:sp>
      <p:graphicFrame>
        <p:nvGraphicFramePr>
          <p:cNvPr id="49" name="Chart 48"/>
          <p:cNvGraphicFramePr>
            <a:graphicFrameLocks noGrp="1"/>
          </p:cNvGraphicFramePr>
          <p:nvPr/>
        </p:nvGraphicFramePr>
        <p:xfrm>
          <a:off x="6400800" y="1737360"/>
          <a:ext cx="5257800" cy="4343400"/>
        </p:xfrm>
        <a:graphic>
          <a:graphicData uri="http://schemas.openxmlformats.org/drawingml/2006/chart">
            <c:chart xmlns:c="http://schemas.openxmlformats.org/drawingml/2006/chart" xmlns:r="http://schemas.openxmlformats.org/officeDocument/2006/relationships" r:id="rId3"/>
          </a:graphicData>
        </a:graphic>
      </p:graphicFrame>
      <p:sp>
        <p:nvSpPr>
          <p:cNvPr id="50" name="TextBox 49"/>
          <p:cNvSpPr txBox="1"/>
          <p:nvPr/>
        </p:nvSpPr>
        <p:spPr>
          <a:xfrm>
            <a:off x="548640" y="6428232"/>
            <a:ext cx="9601200" cy="228600"/>
          </a:xfrm>
          <a:prstGeom prst="rect">
            <a:avLst/>
          </a:prstGeom>
          <a:noFill/>
        </p:spPr>
        <p:txBody>
          <a:bodyPr wrap="square" lIns="0" tIns="0" rIns="0" bIns="0" anchor="t">
            <a:spAutoFit/>
          </a:bodyPr>
          <a:lstStyle/>
          <a:p>
            <a:pPr algn="l"/>
            <a:r>
              <a:rPr sz="900" b="0" i="0">
                <a:solidFill>
                  <a:srgbClr val="94A3B8"/>
                </a:solidFill>
                <a:latin typeface="Arial"/>
              </a:rPr>
              <a:t>Real run from today's demo: 8-site Cu/Au cell, MACE-MP-0 small fine-tuned on 135 DFT labels, 21 network calls at ~42 ms each; the ~9 meV/atom gap is the network's offset — DFT confirms the ranking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500000"/>
        </a:solidFill>
        <a:effectLst/>
      </p:bgPr>
    </p:bg>
    <p:spTree>
      <p:nvGrpSpPr>
        <p:cNvPr id="1" name=""/>
        <p:cNvGrpSpPr/>
        <p:nvPr/>
      </p:nvGrpSpPr>
      <p:grpSpPr>
        <a:xfrm>
          <a:off x="0" y="0"/>
          <a:ext cx="0" cy="0"/>
          <a:chOff x="0" y="0"/>
          <a:chExt cx="0" cy="0"/>
        </a:xfrm>
      </p:grpSpPr>
      <p:sp>
        <p:nvSpPr>
          <p:cNvPr id="2" name="TextBox 1"/>
          <p:cNvSpPr txBox="1"/>
          <p:nvPr/>
        </p:nvSpPr>
        <p:spPr>
          <a:xfrm>
            <a:off x="11155680" y="6400800"/>
            <a:ext cx="548640" cy="228600"/>
          </a:xfrm>
          <a:prstGeom prst="rect">
            <a:avLst/>
          </a:prstGeom>
          <a:noFill/>
        </p:spPr>
        <p:txBody>
          <a:bodyPr wrap="square" lIns="0" tIns="0" rIns="0" bIns="0" anchor="t">
            <a:spAutoFit/>
          </a:bodyPr>
          <a:lstStyle/>
          <a:p>
            <a:pPr algn="r"/>
            <a:r>
              <a:rPr sz="1000" b="1" i="0">
                <a:solidFill>
                  <a:srgbClr val="E3C4C4"/>
                </a:solidFill>
                <a:latin typeface="Arial"/>
              </a:rPr>
              <a:t>10</a:t>
            </a:r>
          </a:p>
        </p:txBody>
      </p:sp>
      <p:sp>
        <p:nvSpPr>
          <p:cNvPr id="3" name="TextBox 2"/>
          <p:cNvSpPr txBox="1"/>
          <p:nvPr/>
        </p:nvSpPr>
        <p:spPr>
          <a:xfrm>
            <a:off x="731520" y="914400"/>
            <a:ext cx="10058400" cy="320040"/>
          </a:xfrm>
          <a:prstGeom prst="rect">
            <a:avLst/>
          </a:prstGeom>
          <a:noFill/>
        </p:spPr>
        <p:txBody>
          <a:bodyPr wrap="square" lIns="0" tIns="0" rIns="0" bIns="0" anchor="t">
            <a:spAutoFit/>
          </a:bodyPr>
          <a:lstStyle/>
          <a:p>
            <a:pPr algn="l"/>
            <a:r>
              <a:rPr sz="1400" b="1" i="0">
                <a:solidFill>
                  <a:srgbClr val="E3C4C4"/>
                </a:solidFill>
                <a:latin typeface="Arial"/>
              </a:rPr>
              <a:t>LIVE DEMO</a:t>
            </a:r>
          </a:p>
        </p:txBody>
      </p:sp>
      <p:sp>
        <p:nvSpPr>
          <p:cNvPr id="4" name="TextBox 3"/>
          <p:cNvSpPr txBox="1"/>
          <p:nvPr/>
        </p:nvSpPr>
        <p:spPr>
          <a:xfrm>
            <a:off x="731520" y="1280160"/>
            <a:ext cx="10515600" cy="1005840"/>
          </a:xfrm>
          <a:prstGeom prst="rect">
            <a:avLst/>
          </a:prstGeom>
          <a:noFill/>
        </p:spPr>
        <p:txBody>
          <a:bodyPr wrap="square" lIns="0" tIns="0" rIns="0" bIns="0" anchor="t">
            <a:spAutoFit/>
          </a:bodyPr>
          <a:lstStyle/>
          <a:p>
            <a:pPr algn="l"/>
            <a:r>
              <a:rPr sz="5400" b="1" i="0">
                <a:solidFill>
                  <a:srgbClr val="FFFFFF"/>
                </a:solidFill>
                <a:latin typeface="Arial"/>
              </a:rPr>
              <a:t>Claude Code  ×  MACE</a:t>
            </a:r>
          </a:p>
        </p:txBody>
      </p:sp>
      <p:sp>
        <p:nvSpPr>
          <p:cNvPr id="5" name="TextBox 4"/>
          <p:cNvSpPr txBox="1"/>
          <p:nvPr/>
        </p:nvSpPr>
        <p:spPr>
          <a:xfrm>
            <a:off x="731520" y="2331720"/>
            <a:ext cx="10515600" cy="457200"/>
          </a:xfrm>
          <a:prstGeom prst="rect">
            <a:avLst/>
          </a:prstGeom>
          <a:noFill/>
        </p:spPr>
        <p:txBody>
          <a:bodyPr wrap="square" lIns="0" tIns="0" rIns="0" bIns="0" anchor="t">
            <a:spAutoFit/>
          </a:bodyPr>
          <a:lstStyle/>
          <a:p>
            <a:pPr algn="l"/>
            <a:r>
              <a:rPr sz="1800" b="0" i="0">
                <a:solidFill>
                  <a:srgbClr val="E3C4C4"/>
                </a:solidFill>
                <a:latin typeface="Arial"/>
              </a:rPr>
              <a:t>An agent runs the whole loop from a README — we only watch the dashboard</a:t>
            </a:r>
          </a:p>
        </p:txBody>
      </p:sp>
      <p:sp>
        <p:nvSpPr>
          <p:cNvPr id="6" name="Rounded Rectangle 5"/>
          <p:cNvSpPr/>
          <p:nvPr/>
        </p:nvSpPr>
        <p:spPr>
          <a:xfrm>
            <a:off x="731520" y="3291840"/>
            <a:ext cx="3383280" cy="2377440"/>
          </a:xfrm>
          <a:prstGeom prst="roundRect">
            <a:avLst>
              <a:gd name="adj" fmla="val 5769"/>
            </a:avLst>
          </a:prstGeom>
          <a:solidFill>
            <a:srgbClr val="FFFFFF"/>
          </a:solidFill>
          <a:ln>
            <a:noFill/>
          </a:ln>
          <a:effectLst>
            <a:outerShdw blurRad="114300" dist="25400" dir="5400000" algn="t" rotWithShape="0">
              <a:srgbClr val="1E293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982980" y="3543300"/>
            <a:ext cx="685800" cy="685800"/>
          </a:xfrm>
          <a:prstGeom prst="ellipse">
            <a:avLst/>
          </a:prstGeom>
          <a:solidFill>
            <a:srgbClr val="5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2200" b="1" i="0">
                <a:solidFill>
                  <a:srgbClr val="FFFFFF"/>
                </a:solidFill>
                <a:latin typeface="Arial"/>
              </a:rPr>
              <a:t>1</a:t>
            </a:r>
          </a:p>
        </p:txBody>
      </p:sp>
      <p:sp>
        <p:nvSpPr>
          <p:cNvPr id="8" name="TextBox 7"/>
          <p:cNvSpPr txBox="1"/>
          <p:nvPr/>
        </p:nvSpPr>
        <p:spPr>
          <a:xfrm>
            <a:off x="1005840" y="4434840"/>
            <a:ext cx="2834640" cy="365760"/>
          </a:xfrm>
          <a:prstGeom prst="rect">
            <a:avLst/>
          </a:prstGeom>
          <a:noFill/>
        </p:spPr>
        <p:txBody>
          <a:bodyPr wrap="square" lIns="0" tIns="0" rIns="0" bIns="0" anchor="t">
            <a:spAutoFit/>
          </a:bodyPr>
          <a:lstStyle/>
          <a:p>
            <a:pPr algn="l"/>
            <a:r>
              <a:rPr sz="1900" b="1" i="0">
                <a:solidFill>
                  <a:srgbClr val="500000"/>
                </a:solidFill>
                <a:latin typeface="Arial"/>
              </a:rPr>
              <a:t>Learn</a:t>
            </a:r>
          </a:p>
        </p:txBody>
      </p:sp>
      <p:sp>
        <p:nvSpPr>
          <p:cNvPr id="9" name="TextBox 8"/>
          <p:cNvSpPr txBox="1"/>
          <p:nvPr/>
        </p:nvSpPr>
        <p:spPr>
          <a:xfrm>
            <a:off x="1005840" y="4846320"/>
            <a:ext cx="2834640" cy="731520"/>
          </a:xfrm>
          <a:prstGeom prst="rect">
            <a:avLst/>
          </a:prstGeom>
          <a:noFill/>
        </p:spPr>
        <p:txBody>
          <a:bodyPr wrap="square" lIns="0" tIns="0" rIns="0" bIns="0" anchor="t">
            <a:spAutoFit/>
          </a:bodyPr>
          <a:lstStyle/>
          <a:p>
            <a:pPr algn="l"/>
            <a:r>
              <a:rPr sz="1300" b="0" i="0">
                <a:solidFill>
                  <a:srgbClr val="64748B"/>
                </a:solidFill>
                <a:latin typeface="Arial"/>
              </a:rPr>
              <a:t>Fine-tune MACE on 135 DFT labels for Cu–Au. About 3 minutes on this laptop.</a:t>
            </a:r>
          </a:p>
        </p:txBody>
      </p:sp>
      <p:sp>
        <p:nvSpPr>
          <p:cNvPr id="10" name="Rounded Rectangle 9"/>
          <p:cNvSpPr/>
          <p:nvPr/>
        </p:nvSpPr>
        <p:spPr>
          <a:xfrm>
            <a:off x="4389120" y="3291840"/>
            <a:ext cx="3383280" cy="2377440"/>
          </a:xfrm>
          <a:prstGeom prst="roundRect">
            <a:avLst>
              <a:gd name="adj" fmla="val 5769"/>
            </a:avLst>
          </a:prstGeom>
          <a:solidFill>
            <a:srgbClr val="FFFFFF"/>
          </a:solidFill>
          <a:ln>
            <a:noFill/>
          </a:ln>
          <a:effectLst>
            <a:outerShdw blurRad="114300" dist="25400" dir="5400000" algn="t" rotWithShape="0">
              <a:srgbClr val="1E293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Oval 10"/>
          <p:cNvSpPr/>
          <p:nvPr/>
        </p:nvSpPr>
        <p:spPr>
          <a:xfrm>
            <a:off x="4640580" y="3543300"/>
            <a:ext cx="685800" cy="685800"/>
          </a:xfrm>
          <a:prstGeom prst="ellipse">
            <a:avLst/>
          </a:prstGeom>
          <a:solidFill>
            <a:srgbClr val="5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2200" b="1" i="0">
                <a:solidFill>
                  <a:srgbClr val="FFFFFF"/>
                </a:solidFill>
                <a:latin typeface="Arial"/>
              </a:rPr>
              <a:t>2</a:t>
            </a:r>
          </a:p>
        </p:txBody>
      </p:sp>
      <p:sp>
        <p:nvSpPr>
          <p:cNvPr id="12" name="TextBox 11"/>
          <p:cNvSpPr txBox="1"/>
          <p:nvPr/>
        </p:nvSpPr>
        <p:spPr>
          <a:xfrm>
            <a:off x="4663440" y="4434840"/>
            <a:ext cx="2834640" cy="365760"/>
          </a:xfrm>
          <a:prstGeom prst="rect">
            <a:avLst/>
          </a:prstGeom>
          <a:noFill/>
        </p:spPr>
        <p:txBody>
          <a:bodyPr wrap="square" lIns="0" tIns="0" rIns="0" bIns="0" anchor="t">
            <a:spAutoFit/>
          </a:bodyPr>
          <a:lstStyle/>
          <a:p>
            <a:pPr algn="l"/>
            <a:r>
              <a:rPr sz="1900" b="1" i="0">
                <a:solidFill>
                  <a:srgbClr val="500000"/>
                </a:solidFill>
                <a:latin typeface="Arial"/>
              </a:rPr>
              <a:t>Test</a:t>
            </a:r>
          </a:p>
        </p:txBody>
      </p:sp>
      <p:sp>
        <p:nvSpPr>
          <p:cNvPr id="13" name="TextBox 12"/>
          <p:cNvSpPr txBox="1"/>
          <p:nvPr/>
        </p:nvSpPr>
        <p:spPr>
          <a:xfrm>
            <a:off x="4663440" y="4846320"/>
            <a:ext cx="2834640" cy="731520"/>
          </a:xfrm>
          <a:prstGeom prst="rect">
            <a:avLst/>
          </a:prstGeom>
          <a:noFill/>
        </p:spPr>
        <p:txBody>
          <a:bodyPr wrap="square" lIns="0" tIns="0" rIns="0" bIns="0" anchor="t">
            <a:spAutoFit/>
          </a:bodyPr>
          <a:lstStyle/>
          <a:p>
            <a:pPr algn="l"/>
            <a:r>
              <a:rPr sz="1300" b="0" i="0">
                <a:solidFill>
                  <a:srgbClr val="64748B"/>
                </a:solidFill>
                <a:latin typeface="Arial"/>
              </a:rPr>
              <a:t>51 structures it never saw: how far is the network from DFT, before vs after?</a:t>
            </a:r>
          </a:p>
        </p:txBody>
      </p:sp>
      <p:sp>
        <p:nvSpPr>
          <p:cNvPr id="14" name="Rounded Rectangle 13"/>
          <p:cNvSpPr/>
          <p:nvPr/>
        </p:nvSpPr>
        <p:spPr>
          <a:xfrm>
            <a:off x="8046720" y="3291840"/>
            <a:ext cx="3383280" cy="2377440"/>
          </a:xfrm>
          <a:prstGeom prst="roundRect">
            <a:avLst>
              <a:gd name="adj" fmla="val 5769"/>
            </a:avLst>
          </a:prstGeom>
          <a:solidFill>
            <a:srgbClr val="FFFFFF"/>
          </a:solidFill>
          <a:ln>
            <a:noFill/>
          </a:ln>
          <a:effectLst>
            <a:outerShdw blurRad="114300" dist="25400" dir="5400000" algn="t" rotWithShape="0">
              <a:srgbClr val="1E293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Oval 14"/>
          <p:cNvSpPr/>
          <p:nvPr/>
        </p:nvSpPr>
        <p:spPr>
          <a:xfrm>
            <a:off x="8298180" y="3543300"/>
            <a:ext cx="685800" cy="685800"/>
          </a:xfrm>
          <a:prstGeom prst="ellipse">
            <a:avLst/>
          </a:prstGeom>
          <a:solidFill>
            <a:srgbClr val="5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2200" b="1" i="0">
                <a:solidFill>
                  <a:srgbClr val="FFFFFF"/>
                </a:solidFill>
                <a:latin typeface="Arial"/>
              </a:rPr>
              <a:t>3</a:t>
            </a:r>
          </a:p>
        </p:txBody>
      </p:sp>
      <p:sp>
        <p:nvSpPr>
          <p:cNvPr id="16" name="TextBox 15"/>
          <p:cNvSpPr txBox="1"/>
          <p:nvPr/>
        </p:nvSpPr>
        <p:spPr>
          <a:xfrm>
            <a:off x="8321040" y="4434840"/>
            <a:ext cx="2834640" cy="365760"/>
          </a:xfrm>
          <a:prstGeom prst="rect">
            <a:avLst/>
          </a:prstGeom>
          <a:noFill/>
        </p:spPr>
        <p:txBody>
          <a:bodyPr wrap="square" lIns="0" tIns="0" rIns="0" bIns="0" anchor="t">
            <a:spAutoFit/>
          </a:bodyPr>
          <a:lstStyle/>
          <a:p>
            <a:pPr algn="l"/>
            <a:r>
              <a:rPr sz="1900" b="1" i="0">
                <a:solidFill>
                  <a:srgbClr val="500000"/>
                </a:solidFill>
                <a:latin typeface="Arial"/>
              </a:rPr>
              <a:t>Search + verify</a:t>
            </a:r>
          </a:p>
        </p:txBody>
      </p:sp>
      <p:sp>
        <p:nvSpPr>
          <p:cNvPr id="17" name="TextBox 16"/>
          <p:cNvSpPr txBox="1"/>
          <p:nvPr/>
        </p:nvSpPr>
        <p:spPr>
          <a:xfrm>
            <a:off x="8321040" y="4846320"/>
            <a:ext cx="2834640" cy="731520"/>
          </a:xfrm>
          <a:prstGeom prst="rect">
            <a:avLst/>
          </a:prstGeom>
          <a:noFill/>
        </p:spPr>
        <p:txBody>
          <a:bodyPr wrap="square" lIns="0" tIns="0" rIns="0" bIns="0" anchor="t">
            <a:spAutoFit/>
          </a:bodyPr>
          <a:lstStyle/>
          <a:p>
            <a:pPr algn="l"/>
            <a:r>
              <a:rPr sz="1300" b="0" i="0">
                <a:solidFill>
                  <a:srgbClr val="64748B"/>
                </a:solidFill>
                <a:latin typeface="Arial"/>
              </a:rPr>
              <a:t>A genetic algorithm with MACE as fitness; DFT confirms the winner with 3 calls, not 27.</a:t>
            </a:r>
          </a:p>
        </p:txBody>
      </p:sp>
      <p:sp>
        <p:nvSpPr>
          <p:cNvPr id="18" name="TextBox 17"/>
          <p:cNvSpPr txBox="1"/>
          <p:nvPr/>
        </p:nvSpPr>
        <p:spPr>
          <a:xfrm>
            <a:off x="731520" y="5897880"/>
            <a:ext cx="10515600" cy="365760"/>
          </a:xfrm>
          <a:prstGeom prst="rect">
            <a:avLst/>
          </a:prstGeom>
          <a:noFill/>
        </p:spPr>
        <p:txBody>
          <a:bodyPr wrap="square" anchor="t" lIns="45720" rIns="45720" tIns="18288" bIns="18288">
            <a:spAutoFit/>
          </a:bodyPr>
          <a:lstStyle/>
          <a:p>
            <a:pPr algn="l"/>
            <a:r>
              <a:rPr sz="1400" b="0" i="0">
                <a:solidFill>
                  <a:srgbClr val="E3C4C4"/>
                </a:solidFill>
                <a:latin typeface="Arial"/>
              </a:rPr>
              <a:t>Watch for: the error curve falling · dots hugging the line · the population converging · three green checks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48640" y="566928"/>
            <a:ext cx="11064240" cy="640080"/>
          </a:xfrm>
          <a:prstGeom prst="rect">
            <a:avLst/>
          </a:prstGeom>
          <a:noFill/>
        </p:spPr>
        <p:txBody>
          <a:bodyPr wrap="square" lIns="0" tIns="0" rIns="0" bIns="0" anchor="t">
            <a:spAutoFit/>
          </a:bodyPr>
          <a:lstStyle/>
          <a:p>
            <a:pPr algn="l"/>
            <a:r>
              <a:rPr sz="3400" b="1" i="0">
                <a:solidFill>
                  <a:srgbClr val="500000"/>
                </a:solidFill>
                <a:latin typeface="Arial"/>
              </a:rPr>
              <a:t>Key takeaways</a:t>
            </a:r>
          </a:p>
        </p:txBody>
      </p:sp>
      <p:sp>
        <p:nvSpPr>
          <p:cNvPr id="3" name="Subtitle"/>
          <p:cNvSpPr txBox="1"/>
          <p:nvPr/>
        </p:nvSpPr>
        <p:spPr>
          <a:xfrm>
            <a:off x="548640" y="1207008"/>
            <a:ext cx="11064240" cy="365760"/>
          </a:xfrm>
          <a:prstGeom prst="rect">
            <a:avLst/>
          </a:prstGeom>
          <a:noFill/>
        </p:spPr>
        <p:txBody>
          <a:bodyPr wrap="square" lIns="0" tIns="0" rIns="0" bIns="0" anchor="t">
            <a:spAutoFit/>
          </a:bodyPr>
          <a:lstStyle/>
          <a:p>
            <a:pPr algn="l"/>
            <a:r>
              <a:rPr sz="1500" b="0" i="1">
                <a:solidFill>
                  <a:srgbClr val="64748B"/>
                </a:solidFill>
                <a:latin typeface="Arial"/>
              </a:rPr>
              <a:t>Four ideas to leave with</a:t>
            </a:r>
          </a:p>
        </p:txBody>
      </p:sp>
      <p:sp>
        <p:nvSpPr>
          <p:cNvPr id="4" name="TextBox 3"/>
          <p:cNvSpPr txBox="1"/>
          <p:nvPr/>
        </p:nvSpPr>
        <p:spPr>
          <a:xfrm>
            <a:off x="11155680" y="6400800"/>
            <a:ext cx="548640" cy="228600"/>
          </a:xfrm>
          <a:prstGeom prst="rect">
            <a:avLst/>
          </a:prstGeom>
          <a:noFill/>
        </p:spPr>
        <p:txBody>
          <a:bodyPr wrap="square" lIns="0" tIns="0" rIns="0" bIns="0" anchor="t">
            <a:spAutoFit/>
          </a:bodyPr>
          <a:lstStyle/>
          <a:p>
            <a:pPr algn="r"/>
            <a:r>
              <a:rPr sz="1000" b="1" i="0">
                <a:solidFill>
                  <a:srgbClr val="500000"/>
                </a:solidFill>
                <a:latin typeface="Arial"/>
              </a:rPr>
              <a:t>11</a:t>
            </a:r>
          </a:p>
        </p:txBody>
      </p:sp>
      <p:sp>
        <p:nvSpPr>
          <p:cNvPr id="5" name="Rounded Rectangle 4"/>
          <p:cNvSpPr/>
          <p:nvPr/>
        </p:nvSpPr>
        <p:spPr>
          <a:xfrm>
            <a:off x="548640" y="1783080"/>
            <a:ext cx="2606040" cy="3291840"/>
          </a:xfrm>
          <a:prstGeom prst="roundRect">
            <a:avLst>
              <a:gd name="adj" fmla="val 5263"/>
            </a:avLst>
          </a:prstGeom>
          <a:solidFill>
            <a:srgbClr val="FFFFFF"/>
          </a:solidFill>
          <a:ln w="12700">
            <a:solidFill>
              <a:srgbClr val="E2E8F0"/>
            </a:solidFill>
          </a:ln>
          <a:effectLst>
            <a:outerShdw blurRad="114300" dist="25400" dir="5400000" algn="t" rotWithShape="0">
              <a:srgbClr val="1E293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800100" y="2080260"/>
            <a:ext cx="868680" cy="868680"/>
          </a:xfrm>
          <a:prstGeom prst="ellipse">
            <a:avLst/>
          </a:prstGeom>
          <a:solidFill>
            <a:srgbClr val="F5F1F1"/>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1600" b="1" i="0">
                <a:solidFill>
                  <a:srgbClr val="500000"/>
                </a:solidFill>
                <a:latin typeface="Cambria Math"/>
              </a:rPr>
              <a:t>E→F</a:t>
            </a:r>
          </a:p>
        </p:txBody>
      </p:sp>
      <p:sp>
        <p:nvSpPr>
          <p:cNvPr id="7" name="TextBox 6"/>
          <p:cNvSpPr txBox="1"/>
          <p:nvPr/>
        </p:nvSpPr>
        <p:spPr>
          <a:xfrm>
            <a:off x="2377440" y="2103120"/>
            <a:ext cx="548640" cy="640080"/>
          </a:xfrm>
          <a:prstGeom prst="rect">
            <a:avLst/>
          </a:prstGeom>
          <a:noFill/>
        </p:spPr>
        <p:txBody>
          <a:bodyPr wrap="square" lIns="0" tIns="0" rIns="0" bIns="0" anchor="t">
            <a:spAutoFit/>
          </a:bodyPr>
          <a:lstStyle/>
          <a:p>
            <a:pPr algn="r"/>
            <a:r>
              <a:rPr sz="4000" b="1" i="0">
                <a:solidFill>
                  <a:srgbClr val="E3C4C4"/>
                </a:solidFill>
                <a:latin typeface="Arial"/>
              </a:rPr>
              <a:t>1</a:t>
            </a:r>
          </a:p>
        </p:txBody>
      </p:sp>
      <p:sp>
        <p:nvSpPr>
          <p:cNvPr id="8" name="TextBox 7"/>
          <p:cNvSpPr txBox="1"/>
          <p:nvPr/>
        </p:nvSpPr>
        <p:spPr>
          <a:xfrm>
            <a:off x="822959" y="3200400"/>
            <a:ext cx="2148840" cy="685800"/>
          </a:xfrm>
          <a:prstGeom prst="rect">
            <a:avLst/>
          </a:prstGeom>
          <a:noFill/>
        </p:spPr>
        <p:txBody>
          <a:bodyPr wrap="square" lIns="0" tIns="0" rIns="0" bIns="0" anchor="b">
            <a:spAutoFit/>
          </a:bodyPr>
          <a:lstStyle/>
          <a:p>
            <a:pPr algn="l"/>
            <a:r>
              <a:rPr sz="1700" b="1" i="0">
                <a:solidFill>
                  <a:srgbClr val="1E293B"/>
                </a:solidFill>
                <a:latin typeface="Arial"/>
              </a:rPr>
              <a:t>One model, all forces</a:t>
            </a:r>
          </a:p>
        </p:txBody>
      </p:sp>
      <p:sp>
        <p:nvSpPr>
          <p:cNvPr id="9" name="TextBox 8"/>
          <p:cNvSpPr txBox="1"/>
          <p:nvPr/>
        </p:nvSpPr>
        <p:spPr>
          <a:xfrm>
            <a:off x="822959" y="4023360"/>
            <a:ext cx="2148840" cy="1005840"/>
          </a:xfrm>
          <a:prstGeom prst="rect">
            <a:avLst/>
          </a:prstGeom>
          <a:noFill/>
        </p:spPr>
        <p:txBody>
          <a:bodyPr wrap="square" lIns="0" tIns="0" rIns="0" bIns="0" anchor="t">
            <a:spAutoFit/>
          </a:bodyPr>
          <a:lstStyle/>
          <a:p>
            <a:pPr algn="l"/>
            <a:r>
              <a:rPr sz="1300" b="0" i="0">
                <a:solidFill>
                  <a:srgbClr val="64748B"/>
                </a:solidFill>
                <a:latin typeface="Arial"/>
              </a:rPr>
              <a:t>Learn the energy; forces and stress come free by differentiation.</a:t>
            </a:r>
          </a:p>
        </p:txBody>
      </p:sp>
      <p:sp>
        <p:nvSpPr>
          <p:cNvPr id="10" name="Rounded Rectangle 9"/>
          <p:cNvSpPr/>
          <p:nvPr/>
        </p:nvSpPr>
        <p:spPr>
          <a:xfrm>
            <a:off x="3383280" y="1783080"/>
            <a:ext cx="2606040" cy="3291840"/>
          </a:xfrm>
          <a:prstGeom prst="roundRect">
            <a:avLst>
              <a:gd name="adj" fmla="val 5263"/>
            </a:avLst>
          </a:prstGeom>
          <a:solidFill>
            <a:srgbClr val="FFFFFF"/>
          </a:solidFill>
          <a:ln w="12700">
            <a:solidFill>
              <a:srgbClr val="E2E8F0"/>
            </a:solidFill>
          </a:ln>
          <a:effectLst>
            <a:outerShdw blurRad="114300" dist="25400" dir="5400000" algn="t" rotWithShape="0">
              <a:srgbClr val="1E293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Oval 10"/>
          <p:cNvSpPr/>
          <p:nvPr/>
        </p:nvSpPr>
        <p:spPr>
          <a:xfrm>
            <a:off x="3634740" y="2080260"/>
            <a:ext cx="868680" cy="868680"/>
          </a:xfrm>
          <a:prstGeom prst="ellipse">
            <a:avLst/>
          </a:prstGeom>
          <a:solidFill>
            <a:srgbClr val="F5F1F1"/>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1600" b="1" i="0">
                <a:solidFill>
                  <a:srgbClr val="500000"/>
                </a:solidFill>
                <a:latin typeface="Cambria Math"/>
              </a:rPr>
              <a:t>ν</a:t>
            </a:r>
          </a:p>
        </p:txBody>
      </p:sp>
      <p:sp>
        <p:nvSpPr>
          <p:cNvPr id="12" name="TextBox 11"/>
          <p:cNvSpPr txBox="1"/>
          <p:nvPr/>
        </p:nvSpPr>
        <p:spPr>
          <a:xfrm>
            <a:off x="5212080" y="2103120"/>
            <a:ext cx="548640" cy="640080"/>
          </a:xfrm>
          <a:prstGeom prst="rect">
            <a:avLst/>
          </a:prstGeom>
          <a:noFill/>
        </p:spPr>
        <p:txBody>
          <a:bodyPr wrap="square" lIns="0" tIns="0" rIns="0" bIns="0" anchor="t">
            <a:spAutoFit/>
          </a:bodyPr>
          <a:lstStyle/>
          <a:p>
            <a:pPr algn="r"/>
            <a:r>
              <a:rPr sz="4000" b="1" i="0">
                <a:solidFill>
                  <a:srgbClr val="E3C4C4"/>
                </a:solidFill>
                <a:latin typeface="Arial"/>
              </a:rPr>
              <a:t>2</a:t>
            </a:r>
          </a:p>
        </p:txBody>
      </p:sp>
      <p:sp>
        <p:nvSpPr>
          <p:cNvPr id="13" name="TextBox 12"/>
          <p:cNvSpPr txBox="1"/>
          <p:nvPr/>
        </p:nvSpPr>
        <p:spPr>
          <a:xfrm>
            <a:off x="3657600" y="3200400"/>
            <a:ext cx="2148840" cy="685800"/>
          </a:xfrm>
          <a:prstGeom prst="rect">
            <a:avLst/>
          </a:prstGeom>
          <a:noFill/>
        </p:spPr>
        <p:txBody>
          <a:bodyPr wrap="square" lIns="0" tIns="0" rIns="0" bIns="0" anchor="b">
            <a:spAutoFit/>
          </a:bodyPr>
          <a:lstStyle/>
          <a:p>
            <a:pPr algn="l"/>
            <a:r>
              <a:rPr sz="1700" b="1" i="0">
                <a:solidFill>
                  <a:srgbClr val="1E293B"/>
                </a:solidFill>
                <a:latin typeface="Arial"/>
              </a:rPr>
              <a:t>Physics built in</a:t>
            </a:r>
          </a:p>
        </p:txBody>
      </p:sp>
      <p:sp>
        <p:nvSpPr>
          <p:cNvPr id="14" name="TextBox 13"/>
          <p:cNvSpPr txBox="1"/>
          <p:nvPr/>
        </p:nvSpPr>
        <p:spPr>
          <a:xfrm>
            <a:off x="3657600" y="4023360"/>
            <a:ext cx="2148840" cy="1005840"/>
          </a:xfrm>
          <a:prstGeom prst="rect">
            <a:avLst/>
          </a:prstGeom>
          <a:noFill/>
        </p:spPr>
        <p:txBody>
          <a:bodyPr wrap="square" lIns="0" tIns="0" rIns="0" bIns="0" anchor="t">
            <a:spAutoFit/>
          </a:bodyPr>
          <a:lstStyle/>
          <a:p>
            <a:pPr algn="l"/>
            <a:r>
              <a:rPr sz="1300" b="0" i="0">
                <a:solidFill>
                  <a:srgbClr val="64748B"/>
                </a:solidFill>
                <a:latin typeface="Arial"/>
              </a:rPr>
              <a:t>Equivariant, many-body messages make it accurate and fast.</a:t>
            </a:r>
          </a:p>
        </p:txBody>
      </p:sp>
      <p:sp>
        <p:nvSpPr>
          <p:cNvPr id="15" name="Rounded Rectangle 14"/>
          <p:cNvSpPr/>
          <p:nvPr/>
        </p:nvSpPr>
        <p:spPr>
          <a:xfrm>
            <a:off x="6217920" y="1783080"/>
            <a:ext cx="2606040" cy="3291840"/>
          </a:xfrm>
          <a:prstGeom prst="roundRect">
            <a:avLst>
              <a:gd name="adj" fmla="val 5263"/>
            </a:avLst>
          </a:prstGeom>
          <a:solidFill>
            <a:srgbClr val="FFFFFF"/>
          </a:solidFill>
          <a:ln w="12700">
            <a:solidFill>
              <a:srgbClr val="E2E8F0"/>
            </a:solidFill>
          </a:ln>
          <a:effectLst>
            <a:outerShdw blurRad="114300" dist="25400" dir="5400000" algn="t" rotWithShape="0">
              <a:srgbClr val="1E293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Oval 15"/>
          <p:cNvSpPr/>
          <p:nvPr/>
        </p:nvSpPr>
        <p:spPr>
          <a:xfrm>
            <a:off x="6469380" y="2080260"/>
            <a:ext cx="868680" cy="868680"/>
          </a:xfrm>
          <a:prstGeom prst="ellipse">
            <a:avLst/>
          </a:prstGeom>
          <a:solidFill>
            <a:srgbClr val="F5F1F1"/>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1600" b="1" i="0">
                <a:solidFill>
                  <a:srgbClr val="500000"/>
                </a:solidFill>
                <a:latin typeface="Cambria Math"/>
              </a:rPr>
              <a:t>AI</a:t>
            </a:r>
          </a:p>
        </p:txBody>
      </p:sp>
      <p:sp>
        <p:nvSpPr>
          <p:cNvPr id="17" name="TextBox 16"/>
          <p:cNvSpPr txBox="1"/>
          <p:nvPr/>
        </p:nvSpPr>
        <p:spPr>
          <a:xfrm>
            <a:off x="8046720" y="2103120"/>
            <a:ext cx="548640" cy="640080"/>
          </a:xfrm>
          <a:prstGeom prst="rect">
            <a:avLst/>
          </a:prstGeom>
          <a:noFill/>
        </p:spPr>
        <p:txBody>
          <a:bodyPr wrap="square" lIns="0" tIns="0" rIns="0" bIns="0" anchor="t">
            <a:spAutoFit/>
          </a:bodyPr>
          <a:lstStyle/>
          <a:p>
            <a:pPr algn="r"/>
            <a:r>
              <a:rPr sz="4000" b="1" i="0">
                <a:solidFill>
                  <a:srgbClr val="E3C4C4"/>
                </a:solidFill>
                <a:latin typeface="Arial"/>
              </a:rPr>
              <a:t>3</a:t>
            </a:r>
          </a:p>
        </p:txBody>
      </p:sp>
      <p:sp>
        <p:nvSpPr>
          <p:cNvPr id="18" name="TextBox 17"/>
          <p:cNvSpPr txBox="1"/>
          <p:nvPr/>
        </p:nvSpPr>
        <p:spPr>
          <a:xfrm>
            <a:off x="6492240" y="3200400"/>
            <a:ext cx="2148840" cy="685800"/>
          </a:xfrm>
          <a:prstGeom prst="rect">
            <a:avLst/>
          </a:prstGeom>
          <a:noFill/>
        </p:spPr>
        <p:txBody>
          <a:bodyPr wrap="square" lIns="0" tIns="0" rIns="0" bIns="0" anchor="b">
            <a:spAutoFit/>
          </a:bodyPr>
          <a:lstStyle/>
          <a:p>
            <a:pPr algn="l"/>
            <a:r>
              <a:rPr sz="1700" b="1" i="0">
                <a:solidFill>
                  <a:srgbClr val="1E293B"/>
                </a:solidFill>
                <a:latin typeface="Arial"/>
              </a:rPr>
              <a:t>Agents need cheap physics</a:t>
            </a:r>
          </a:p>
        </p:txBody>
      </p:sp>
      <p:sp>
        <p:nvSpPr>
          <p:cNvPr id="19" name="TextBox 18"/>
          <p:cNvSpPr txBox="1"/>
          <p:nvPr/>
        </p:nvSpPr>
        <p:spPr>
          <a:xfrm>
            <a:off x="6492240" y="4023360"/>
            <a:ext cx="2148840" cy="1005840"/>
          </a:xfrm>
          <a:prstGeom prst="rect">
            <a:avLst/>
          </a:prstGeom>
          <a:noFill/>
        </p:spPr>
        <p:txBody>
          <a:bodyPr wrap="square" lIns="0" tIns="0" rIns="0" bIns="0" anchor="t">
            <a:spAutoFit/>
          </a:bodyPr>
          <a:lstStyle/>
          <a:p>
            <a:pPr algn="l"/>
            <a:r>
              <a:rPr sz="1300" b="0" i="0">
                <a:solidFill>
                  <a:srgbClr val="64748B"/>
                </a:solidFill>
                <a:latin typeface="Arial"/>
              </a:rPr>
              <a:t>A 40 ms answer instead of a 10-minute one lets an agent search instead of guess.</a:t>
            </a:r>
          </a:p>
        </p:txBody>
      </p:sp>
      <p:sp>
        <p:nvSpPr>
          <p:cNvPr id="20" name="Rounded Rectangle 19"/>
          <p:cNvSpPr/>
          <p:nvPr/>
        </p:nvSpPr>
        <p:spPr>
          <a:xfrm>
            <a:off x="9052560" y="1783080"/>
            <a:ext cx="2606040" cy="3291840"/>
          </a:xfrm>
          <a:prstGeom prst="roundRect">
            <a:avLst>
              <a:gd name="adj" fmla="val 5263"/>
            </a:avLst>
          </a:prstGeom>
          <a:solidFill>
            <a:srgbClr val="FFFFFF"/>
          </a:solidFill>
          <a:ln w="12700">
            <a:solidFill>
              <a:srgbClr val="E2E8F0"/>
            </a:solidFill>
          </a:ln>
          <a:effectLst>
            <a:outerShdw blurRad="114300" dist="25400" dir="5400000" algn="t" rotWithShape="0">
              <a:srgbClr val="1E293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Oval 20"/>
          <p:cNvSpPr/>
          <p:nvPr/>
        </p:nvSpPr>
        <p:spPr>
          <a:xfrm>
            <a:off x="9304020" y="2080260"/>
            <a:ext cx="868680" cy="868680"/>
          </a:xfrm>
          <a:prstGeom prst="ellipse">
            <a:avLst/>
          </a:prstGeom>
          <a:solidFill>
            <a:srgbClr val="F5F1F1"/>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1600" b="1" i="0">
                <a:solidFill>
                  <a:srgbClr val="500000"/>
                </a:solidFill>
                <a:latin typeface="Cambria Math"/>
              </a:rPr>
              <a:t>✓</a:t>
            </a:r>
          </a:p>
        </p:txBody>
      </p:sp>
      <p:sp>
        <p:nvSpPr>
          <p:cNvPr id="22" name="TextBox 21"/>
          <p:cNvSpPr txBox="1"/>
          <p:nvPr/>
        </p:nvSpPr>
        <p:spPr>
          <a:xfrm>
            <a:off x="10881360" y="2103120"/>
            <a:ext cx="548640" cy="640080"/>
          </a:xfrm>
          <a:prstGeom prst="rect">
            <a:avLst/>
          </a:prstGeom>
          <a:noFill/>
        </p:spPr>
        <p:txBody>
          <a:bodyPr wrap="square" lIns="0" tIns="0" rIns="0" bIns="0" anchor="t">
            <a:spAutoFit/>
          </a:bodyPr>
          <a:lstStyle/>
          <a:p>
            <a:pPr algn="r"/>
            <a:r>
              <a:rPr sz="4000" b="1" i="0">
                <a:solidFill>
                  <a:srgbClr val="E3C4C4"/>
                </a:solidFill>
                <a:latin typeface="Arial"/>
              </a:rPr>
              <a:t>4</a:t>
            </a:r>
          </a:p>
        </p:txBody>
      </p:sp>
      <p:sp>
        <p:nvSpPr>
          <p:cNvPr id="23" name="TextBox 22"/>
          <p:cNvSpPr txBox="1"/>
          <p:nvPr/>
        </p:nvSpPr>
        <p:spPr>
          <a:xfrm>
            <a:off x="9326880" y="3200400"/>
            <a:ext cx="2148840" cy="685800"/>
          </a:xfrm>
          <a:prstGeom prst="rect">
            <a:avLst/>
          </a:prstGeom>
          <a:noFill/>
        </p:spPr>
        <p:txBody>
          <a:bodyPr wrap="square" lIns="0" tIns="0" rIns="0" bIns="0" anchor="b">
            <a:spAutoFit/>
          </a:bodyPr>
          <a:lstStyle/>
          <a:p>
            <a:pPr algn="l"/>
            <a:r>
              <a:rPr sz="1700" b="1" i="0">
                <a:solidFill>
                  <a:srgbClr val="1E293B"/>
                </a:solidFill>
                <a:latin typeface="Arial"/>
              </a:rPr>
              <a:t>Close the loop</a:t>
            </a:r>
          </a:p>
        </p:txBody>
      </p:sp>
      <p:sp>
        <p:nvSpPr>
          <p:cNvPr id="24" name="TextBox 23"/>
          <p:cNvSpPr txBox="1"/>
          <p:nvPr/>
        </p:nvSpPr>
        <p:spPr>
          <a:xfrm>
            <a:off x="9326880" y="4023360"/>
            <a:ext cx="2148840" cy="1005840"/>
          </a:xfrm>
          <a:prstGeom prst="rect">
            <a:avLst/>
          </a:prstGeom>
          <a:noFill/>
        </p:spPr>
        <p:txBody>
          <a:bodyPr wrap="square" lIns="0" tIns="0" rIns="0" bIns="0" anchor="t">
            <a:spAutoFit/>
          </a:bodyPr>
          <a:lstStyle/>
          <a:p>
            <a:pPr algn="l"/>
            <a:r>
              <a:rPr sz="1300" b="0" i="0">
                <a:solidFill>
                  <a:srgbClr val="64748B"/>
                </a:solidFill>
                <a:latin typeface="Arial"/>
              </a:rPr>
              <a:t>Fine-tune on DFT, evolve with MACE, verify winners with DFT — then the lab.</a:t>
            </a:r>
          </a:p>
        </p:txBody>
      </p:sp>
      <p:sp>
        <p:nvSpPr>
          <p:cNvPr id="25" name="TextBox 24"/>
          <p:cNvSpPr txBox="1"/>
          <p:nvPr/>
        </p:nvSpPr>
        <p:spPr>
          <a:xfrm>
            <a:off x="548640" y="5440680"/>
            <a:ext cx="10972800" cy="731520"/>
          </a:xfrm>
          <a:prstGeom prst="rect">
            <a:avLst/>
          </a:prstGeom>
          <a:noFill/>
        </p:spPr>
        <p:txBody>
          <a:bodyPr wrap="square" lIns="0" tIns="0" rIns="0" bIns="0" anchor="t">
            <a:spAutoFit/>
          </a:bodyPr>
          <a:lstStyle/>
          <a:p>
            <a:pPr algn="l"/>
            <a:r>
              <a:rPr sz="3600" b="1" i="0">
                <a:solidFill>
                  <a:srgbClr val="500000"/>
                </a:solidFill>
                <a:latin typeface="Arial"/>
              </a:rPr>
              <a:t>Questions?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anchor="t" lIns="45720" rIns="45720" tIns="18288" bIns="18288">
            <a:spAutoFit/>
          </a:bodyPr>
          <a:lstStyle/>
          <a:p>
            <a:pPr algn="l"/>
            <a:r>
              <a:rPr sz="1100" b="1" i="0">
                <a:solidFill>
                  <a:srgbClr val="B87878"/>
                </a:solidFill>
                <a:latin typeface="Arial"/>
              </a:rPr>
              <a:t>BACKUP · THE SIMULATOR</a:t>
            </a:r>
          </a:p>
        </p:txBody>
      </p:sp>
      <p:sp>
        <p:nvSpPr>
          <p:cNvPr id="3" name="TextBox 2"/>
          <p:cNvSpPr txBox="1"/>
          <p:nvPr/>
        </p:nvSpPr>
        <p:spPr>
          <a:xfrm>
            <a:off x="548640" y="566928"/>
            <a:ext cx="11064240" cy="640080"/>
          </a:xfrm>
          <a:prstGeom prst="rect">
            <a:avLst/>
          </a:prstGeom>
          <a:noFill/>
        </p:spPr>
        <p:txBody>
          <a:bodyPr wrap="square" anchor="t" lIns="45720" rIns="45720" tIns="18288" bIns="18288">
            <a:spAutoFit/>
          </a:bodyPr>
          <a:lstStyle/>
          <a:p>
            <a:pPr algn="l"/>
            <a:r>
              <a:rPr sz="3400" b="1" i="0">
                <a:solidFill>
                  <a:srgbClr val="500000"/>
                </a:solidFill>
                <a:latin typeface="Arial"/>
              </a:rPr>
              <a:t>DFT in one slide</a:t>
            </a:r>
          </a:p>
        </p:txBody>
      </p:sp>
      <p:sp>
        <p:nvSpPr>
          <p:cNvPr id="4" name="TextBox 3"/>
          <p:cNvSpPr txBox="1"/>
          <p:nvPr/>
        </p:nvSpPr>
        <p:spPr>
          <a:xfrm>
            <a:off x="548640" y="1207008"/>
            <a:ext cx="11064240" cy="365760"/>
          </a:xfrm>
          <a:prstGeom prst="rect">
            <a:avLst/>
          </a:prstGeom>
          <a:noFill/>
        </p:spPr>
        <p:txBody>
          <a:bodyPr wrap="square" anchor="t" lIns="45720" rIns="45720" tIns="18288" bIns="18288">
            <a:spAutoFit/>
          </a:bodyPr>
          <a:lstStyle/>
          <a:p>
            <a:pPr algn="l"/>
            <a:r>
              <a:rPr sz="1500" b="0" i="1">
                <a:solidFill>
                  <a:srgbClr val="64748B"/>
                </a:solidFill>
                <a:latin typeface="Arial"/>
              </a:rPr>
              <a:t>The slow, trusted physics calculation that produced our labels</a:t>
            </a:r>
          </a:p>
        </p:txBody>
      </p:sp>
      <p:sp>
        <p:nvSpPr>
          <p:cNvPr id="5" name="TextBox 4"/>
          <p:cNvSpPr txBox="1"/>
          <p:nvPr/>
        </p:nvSpPr>
        <p:spPr>
          <a:xfrm>
            <a:off x="11155680" y="6400800"/>
            <a:ext cx="548640" cy="228600"/>
          </a:xfrm>
          <a:prstGeom prst="rect">
            <a:avLst/>
          </a:prstGeom>
          <a:noFill/>
        </p:spPr>
        <p:txBody>
          <a:bodyPr wrap="square" anchor="t" lIns="45720" rIns="45720" tIns="18288" bIns="18288">
            <a:spAutoFit/>
          </a:bodyPr>
          <a:lstStyle/>
          <a:p>
            <a:pPr algn="r"/>
            <a:r>
              <a:rPr sz="1000" b="1" i="0">
                <a:solidFill>
                  <a:srgbClr val="500000"/>
                </a:solidFill>
                <a:latin typeface="Arial"/>
              </a:rPr>
              <a:t>12</a:t>
            </a:r>
          </a:p>
        </p:txBody>
      </p:sp>
      <p:sp>
        <p:nvSpPr>
          <p:cNvPr id="6" name="Rounded Rectangle 5"/>
          <p:cNvSpPr/>
          <p:nvPr/>
        </p:nvSpPr>
        <p:spPr>
          <a:xfrm>
            <a:off x="548640" y="1783080"/>
            <a:ext cx="3611880" cy="3429000"/>
          </a:xfrm>
          <a:prstGeom prst="roundRect">
            <a:avLst>
              <a:gd name="adj" fmla="val 8000"/>
            </a:avLst>
          </a:prstGeom>
          <a:solidFill>
            <a:srgbClr val="F5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1984248"/>
            <a:ext cx="502920" cy="502920"/>
          </a:xfrm>
          <a:prstGeom prst="ellipse">
            <a:avLst/>
          </a:prstGeom>
          <a:solidFill>
            <a:srgbClr val="5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mbria Math"/>
              </a:rPr>
              <a:t>ψ</a:t>
            </a:r>
          </a:p>
        </p:txBody>
      </p:sp>
      <p:sp>
        <p:nvSpPr>
          <p:cNvPr id="8" name="TextBox 7"/>
          <p:cNvSpPr txBox="1"/>
          <p:nvPr/>
        </p:nvSpPr>
        <p:spPr>
          <a:xfrm>
            <a:off x="777240" y="2651760"/>
            <a:ext cx="3154680" cy="411480"/>
          </a:xfrm>
          <a:prstGeom prst="rect">
            <a:avLst/>
          </a:prstGeom>
          <a:noFill/>
        </p:spPr>
        <p:txBody>
          <a:bodyPr wrap="square" anchor="t" lIns="45720" rIns="45720" tIns="18288" bIns="18288">
            <a:spAutoFit/>
          </a:bodyPr>
          <a:lstStyle/>
          <a:p>
            <a:pPr algn="l"/>
            <a:r>
              <a:rPr sz="1600" b="1" i="0">
                <a:solidFill>
                  <a:srgbClr val="1E293B"/>
                </a:solidFill>
                <a:latin typeface="Arial"/>
              </a:rPr>
              <a:t>What it is</a:t>
            </a:r>
          </a:p>
        </p:txBody>
      </p:sp>
      <p:sp>
        <p:nvSpPr>
          <p:cNvPr id="9" name="TextBox 8"/>
          <p:cNvSpPr txBox="1"/>
          <p:nvPr/>
        </p:nvSpPr>
        <p:spPr>
          <a:xfrm>
            <a:off x="777240" y="3108960"/>
            <a:ext cx="3154680" cy="2011679"/>
          </a:xfrm>
          <a:prstGeom prst="rect">
            <a:avLst/>
          </a:prstGeom>
          <a:noFill/>
        </p:spPr>
        <p:txBody>
          <a:bodyPr wrap="square" anchor="t" lIns="45720" rIns="45720" tIns="18288" bIns="18288">
            <a:spAutoFit/>
          </a:bodyPr>
          <a:lstStyle/>
          <a:p>
            <a:pPr algn="l"/>
            <a:r>
              <a:rPr sz="1150" b="0" i="0">
                <a:solidFill>
                  <a:srgbClr val="64748B"/>
                </a:solidFill>
                <a:latin typeface="Arial"/>
              </a:rPr>
              <a:t>Electrons obey the Schrödinger equation — unsolvable directly beyond a few electrons.</a:t>
            </a:r>
          </a:p>
          <a:p>
            <a:pPr algn="l"/>
            <a:r>
              <a:rPr sz="1150" b="0" i="0">
                <a:solidFill>
                  <a:srgbClr val="64748B"/>
                </a:solidFill>
                <a:latin typeface="Arial"/>
              </a:rPr>
              <a:t>Density functional theory (Kohn, Nobel 1998) rewrites it in terms of the electron density — three coordinates instead of 3N — solved iteratively (the SCF loop).</a:t>
            </a:r>
          </a:p>
          <a:p>
            <a:pPr algn="l"/>
            <a:r>
              <a:rPr sz="1150" b="0" i="0">
                <a:solidFill>
                  <a:srgbClr val="64748B"/>
                </a:solidFill>
                <a:latin typeface="Arial"/>
              </a:rPr>
              <a:t>One approximation: the exchange–correlation functional. We use PBE, the standard for solids.</a:t>
            </a:r>
          </a:p>
        </p:txBody>
      </p:sp>
      <p:sp>
        <p:nvSpPr>
          <p:cNvPr id="10" name="Rounded Rectangle 9"/>
          <p:cNvSpPr/>
          <p:nvPr/>
        </p:nvSpPr>
        <p:spPr>
          <a:xfrm>
            <a:off x="4279392" y="1783080"/>
            <a:ext cx="3611880" cy="3429000"/>
          </a:xfrm>
          <a:prstGeom prst="roundRect">
            <a:avLst>
              <a:gd name="adj" fmla="val 8000"/>
            </a:avLst>
          </a:prstGeom>
          <a:solidFill>
            <a:srgbClr val="F5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507992" y="1984248"/>
            <a:ext cx="502920" cy="502920"/>
          </a:xfrm>
          <a:prstGeom prst="ellipse">
            <a:avLst/>
          </a:prstGeom>
          <a:solidFill>
            <a:srgbClr val="5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mbria Math"/>
              </a:rPr>
              <a:t>✓</a:t>
            </a:r>
          </a:p>
        </p:txBody>
      </p:sp>
      <p:sp>
        <p:nvSpPr>
          <p:cNvPr id="12" name="TextBox 11"/>
          <p:cNvSpPr txBox="1"/>
          <p:nvPr/>
        </p:nvSpPr>
        <p:spPr>
          <a:xfrm>
            <a:off x="4507992" y="2651760"/>
            <a:ext cx="3154680" cy="411480"/>
          </a:xfrm>
          <a:prstGeom prst="rect">
            <a:avLst/>
          </a:prstGeom>
          <a:noFill/>
        </p:spPr>
        <p:txBody>
          <a:bodyPr wrap="square" anchor="t" lIns="45720" rIns="45720" tIns="18288" bIns="18288">
            <a:spAutoFit/>
          </a:bodyPr>
          <a:lstStyle/>
          <a:p>
            <a:pPr algn="l"/>
            <a:r>
              <a:rPr sz="1600" b="1" i="0">
                <a:solidFill>
                  <a:srgbClr val="1E293B"/>
                </a:solidFill>
                <a:latin typeface="Arial"/>
              </a:rPr>
              <a:t>Why it is trusted</a:t>
            </a:r>
          </a:p>
        </p:txBody>
      </p:sp>
      <p:sp>
        <p:nvSpPr>
          <p:cNvPr id="13" name="TextBox 12"/>
          <p:cNvSpPr txBox="1"/>
          <p:nvPr/>
        </p:nvSpPr>
        <p:spPr>
          <a:xfrm>
            <a:off x="4507992" y="3108960"/>
            <a:ext cx="3154680" cy="2011679"/>
          </a:xfrm>
          <a:prstGeom prst="rect">
            <a:avLst/>
          </a:prstGeom>
          <a:noFill/>
        </p:spPr>
        <p:txBody>
          <a:bodyPr wrap="square" anchor="t" lIns="45720" rIns="45720" tIns="18288" bIns="18288">
            <a:spAutoFit/>
          </a:bodyPr>
          <a:lstStyle/>
          <a:p>
            <a:pPr algn="l"/>
            <a:r>
              <a:rPr sz="1150" b="0" i="0">
                <a:solidFill>
                  <a:srgbClr val="64748B"/>
                </a:solidFill>
                <a:latin typeface="Arial"/>
              </a:rPr>
              <a:t>First principles: inputs are atomic numbers and positions; nothing fitted to experiment for the system at hand.</a:t>
            </a:r>
          </a:p>
          <a:p>
            <a:pPr algn="l"/>
            <a:r>
              <a:rPr sz="1150" b="0" i="0">
                <a:solidFill>
                  <a:srgbClr val="64748B"/>
                </a:solidFill>
                <a:latin typeface="Arial"/>
              </a:rPr>
              <a:t>Lattice constants within 1–2 %, formation energies to tens of meV/atom, forces for free (Hellmann–Feynman).</a:t>
            </a:r>
          </a:p>
          <a:p>
            <a:pPr algn="l"/>
            <a:r>
              <a:rPr sz="1150" b="0" i="0">
                <a:solidFill>
                  <a:srgbClr val="64748B"/>
                </a:solidFill>
                <a:latin typeface="Arial"/>
              </a:rPr>
              <a:t>Ours: Cu 3.65 Å, Au 4.18 Å (experiment 3.61 / 4.08).</a:t>
            </a:r>
          </a:p>
        </p:txBody>
      </p:sp>
      <p:sp>
        <p:nvSpPr>
          <p:cNvPr id="14" name="Rounded Rectangle 13"/>
          <p:cNvSpPr/>
          <p:nvPr/>
        </p:nvSpPr>
        <p:spPr>
          <a:xfrm>
            <a:off x="8010144" y="1783080"/>
            <a:ext cx="3611880" cy="3429000"/>
          </a:xfrm>
          <a:prstGeom prst="roundRect">
            <a:avLst>
              <a:gd name="adj" fmla="val 8000"/>
            </a:avLst>
          </a:prstGeom>
          <a:solidFill>
            <a:srgbClr val="5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238744" y="1984248"/>
            <a:ext cx="502920" cy="5029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500000"/>
                </a:solidFill>
                <a:latin typeface="Cambria Math"/>
              </a:rPr>
              <a:t>N³</a:t>
            </a:r>
          </a:p>
        </p:txBody>
      </p:sp>
      <p:sp>
        <p:nvSpPr>
          <p:cNvPr id="16" name="TextBox 15"/>
          <p:cNvSpPr txBox="1"/>
          <p:nvPr/>
        </p:nvSpPr>
        <p:spPr>
          <a:xfrm>
            <a:off x="8238744" y="2651760"/>
            <a:ext cx="3154680" cy="411480"/>
          </a:xfrm>
          <a:prstGeom prst="rect">
            <a:avLst/>
          </a:prstGeom>
          <a:noFill/>
        </p:spPr>
        <p:txBody>
          <a:bodyPr wrap="square" anchor="t" lIns="45720" rIns="45720" tIns="18288" bIns="18288">
            <a:spAutoFit/>
          </a:bodyPr>
          <a:lstStyle/>
          <a:p>
            <a:pPr algn="l"/>
            <a:r>
              <a:rPr sz="1600" b="1" i="0">
                <a:solidFill>
                  <a:srgbClr val="FFFFFF"/>
                </a:solidFill>
                <a:latin typeface="Arial"/>
              </a:rPr>
              <a:t>Why not inside the loop</a:t>
            </a:r>
          </a:p>
        </p:txBody>
      </p:sp>
      <p:sp>
        <p:nvSpPr>
          <p:cNvPr id="17" name="TextBox 16"/>
          <p:cNvSpPr txBox="1"/>
          <p:nvPr/>
        </p:nvSpPr>
        <p:spPr>
          <a:xfrm>
            <a:off x="8238744" y="3108960"/>
            <a:ext cx="3154680" cy="2011679"/>
          </a:xfrm>
          <a:prstGeom prst="rect">
            <a:avLst/>
          </a:prstGeom>
          <a:noFill/>
        </p:spPr>
        <p:txBody>
          <a:bodyPr wrap="square" anchor="t" lIns="45720" rIns="45720" tIns="18288" bIns="18288">
            <a:spAutoFit/>
          </a:bodyPr>
          <a:lstStyle/>
          <a:p>
            <a:pPr algn="l"/>
            <a:r>
              <a:rPr sz="1150" b="0" i="0">
                <a:solidFill>
                  <a:srgbClr val="E3C4C4"/>
                </a:solidFill>
                <a:latin typeface="Arial"/>
              </a:rPr>
              <a:t>Cost grows as N³ in the electrons: minutes for 8 atoms, hours for 100, impossible for a million-step simulation.</a:t>
            </a:r>
          </a:p>
          <a:p>
            <a:pPr algn="l"/>
            <a:r>
              <a:rPr sz="1150" b="0" i="0">
                <a:solidFill>
                  <a:srgbClr val="E3C4C4"/>
                </a:solidFill>
                <a:latin typeface="Arial"/>
              </a:rPr>
              <a:t>Known systematic errors — PBE underbinds Cu–Au by ~30 %. The learned model inherits them.</a:t>
            </a:r>
          </a:p>
          <a:p>
            <a:pPr algn="l"/>
            <a:r>
              <a:rPr sz="1150" b="0" i="0">
                <a:solidFill>
                  <a:srgbClr val="E3C4C4"/>
                </a:solidFill>
                <a:latin typeface="Arial"/>
              </a:rPr>
              <a:t>Zero kelvin: temperature needs many more evaluations.</a:t>
            </a:r>
          </a:p>
        </p:txBody>
      </p:sp>
      <p:sp>
        <p:nvSpPr>
          <p:cNvPr id="18" name="Rounded Rectangle 17"/>
          <p:cNvSpPr/>
          <p:nvPr/>
        </p:nvSpPr>
        <p:spPr>
          <a:xfrm>
            <a:off x="548640" y="5394960"/>
            <a:ext cx="11064240" cy="914400"/>
          </a:xfrm>
          <a:prstGeom prst="roundRect">
            <a:avLst>
              <a:gd name="adj" fmla="val 8000"/>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5458968"/>
            <a:ext cx="10607040" cy="274320"/>
          </a:xfrm>
          <a:prstGeom prst="rect">
            <a:avLst/>
          </a:prstGeom>
          <a:noFill/>
        </p:spPr>
        <p:txBody>
          <a:bodyPr wrap="square" anchor="t" lIns="45720" rIns="45720" tIns="18288" bIns="18288">
            <a:spAutoFit/>
          </a:bodyPr>
          <a:lstStyle/>
          <a:p>
            <a:pPr algn="l"/>
            <a:r>
              <a:rPr sz="1250" b="1" i="0">
                <a:solidFill>
                  <a:srgbClr val="500000"/>
                </a:solidFill>
                <a:latin typeface="Arial"/>
              </a:rPr>
              <a:t>Our calculations</a:t>
            </a:r>
          </a:p>
        </p:txBody>
      </p:sp>
      <p:sp>
        <p:nvSpPr>
          <p:cNvPr id="20" name="TextBox 19"/>
          <p:cNvSpPr txBox="1"/>
          <p:nvPr/>
        </p:nvSpPr>
        <p:spPr>
          <a:xfrm>
            <a:off x="777240" y="5733288"/>
            <a:ext cx="10607040" cy="548640"/>
          </a:xfrm>
          <a:prstGeom prst="rect">
            <a:avLst/>
          </a:prstGeom>
          <a:noFill/>
        </p:spPr>
        <p:txBody>
          <a:bodyPr wrap="square" anchor="t" lIns="45720" rIns="45720" tIns="18288" bIns="18288">
            <a:spAutoFit/>
          </a:bodyPr>
          <a:lstStyle/>
          <a:p>
            <a:pPr algn="l"/>
            <a:r>
              <a:rPr sz="1100" b="0" i="0">
                <a:solidFill>
                  <a:srgbClr val="64748B"/>
                </a:solidFill>
                <a:latin typeface="Arial"/>
              </a:rPr>
              <a:t>VASP 6.3.2 · PBE · PAW (Cu, Au: 11 valence e⁻) · ENCUT 400 eV · Γ-centred 8×8×8 / 4×8×8 k-points · Methfessel–Paxton 0.1 eV · 186 single points (energy + forces at fixed geometry), minutes each on 12 cores, SLURM array on TAMU HPRC Grace.</a:t>
            </a:r>
          </a:p>
        </p:txBody>
      </p:sp>
      <p:sp>
        <p:nvSpPr>
          <p:cNvPr id="21" name="TextBox 20"/>
          <p:cNvSpPr txBox="1"/>
          <p:nvPr/>
        </p:nvSpPr>
        <p:spPr>
          <a:xfrm>
            <a:off x="548640" y="6428232"/>
            <a:ext cx="9601200" cy="228600"/>
          </a:xfrm>
          <a:prstGeom prst="rect">
            <a:avLst/>
          </a:prstGeom>
          <a:noFill/>
        </p:spPr>
        <p:txBody>
          <a:bodyPr wrap="square" anchor="t" lIns="45720" rIns="45720" tIns="18288" bIns="18288">
            <a:spAutoFit/>
          </a:bodyPr>
          <a:lstStyle/>
          <a:p>
            <a:pPr algn="l"/>
            <a:r>
              <a:rPr sz="900" b="0" i="0">
                <a:solidFill>
                  <a:srgbClr val="94A3B8"/>
                </a:solidFill>
                <a:latin typeface="Arial"/>
              </a:rPr>
              <a:t>Hohenberg &amp; Kohn 1964; Kohn &amp; Sham 1965; Perdew, Burke &amp; Ernzerhof 1996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anchor="t" lIns="45720" rIns="45720" tIns="18288" bIns="18288">
            <a:spAutoFit/>
          </a:bodyPr>
          <a:lstStyle/>
          <a:p>
            <a:pPr algn="l"/>
            <a:r>
              <a:rPr sz="1100" b="1" i="0">
                <a:solidFill>
                  <a:srgbClr val="B87878"/>
                </a:solidFill>
                <a:latin typeface="Arial"/>
              </a:rPr>
              <a:t>BACKUP · LEARNED POTENTIALS</a:t>
            </a:r>
          </a:p>
        </p:txBody>
      </p:sp>
      <p:sp>
        <p:nvSpPr>
          <p:cNvPr id="3" name="TextBox 2"/>
          <p:cNvSpPr txBox="1"/>
          <p:nvPr/>
        </p:nvSpPr>
        <p:spPr>
          <a:xfrm>
            <a:off x="548640" y="566928"/>
            <a:ext cx="11064240" cy="640080"/>
          </a:xfrm>
          <a:prstGeom prst="rect">
            <a:avLst/>
          </a:prstGeom>
          <a:noFill/>
        </p:spPr>
        <p:txBody>
          <a:bodyPr wrap="square" anchor="t" lIns="45720" rIns="45720" tIns="18288" bIns="18288">
            <a:spAutoFit/>
          </a:bodyPr>
          <a:lstStyle/>
          <a:p>
            <a:pPr algn="l"/>
            <a:r>
              <a:rPr sz="3400" b="1" i="0">
                <a:solidFill>
                  <a:srgbClr val="500000"/>
                </a:solidFill>
                <a:latin typeface="Arial"/>
              </a:rPr>
              <a:t>From DFT to a learned potential</a:t>
            </a:r>
          </a:p>
        </p:txBody>
      </p:sp>
      <p:sp>
        <p:nvSpPr>
          <p:cNvPr id="4" name="TextBox 3"/>
          <p:cNvSpPr txBox="1"/>
          <p:nvPr/>
        </p:nvSpPr>
        <p:spPr>
          <a:xfrm>
            <a:off x="548640" y="1207008"/>
            <a:ext cx="11064240" cy="365760"/>
          </a:xfrm>
          <a:prstGeom prst="rect">
            <a:avLst/>
          </a:prstGeom>
          <a:noFill/>
        </p:spPr>
        <p:txBody>
          <a:bodyPr wrap="square" anchor="t" lIns="45720" rIns="45720" tIns="18288" bIns="18288">
            <a:spAutoFit/>
          </a:bodyPr>
          <a:lstStyle/>
          <a:p>
            <a:pPr algn="l"/>
            <a:r>
              <a:rPr sz="1500" b="0" i="1">
                <a:solidFill>
                  <a:srgbClr val="64748B"/>
                </a:solidFill>
                <a:latin typeface="Arial"/>
              </a:rPr>
              <a:t>Treat the energy as a regression target — with three physics constraints built in</a:t>
            </a:r>
          </a:p>
        </p:txBody>
      </p:sp>
      <p:sp>
        <p:nvSpPr>
          <p:cNvPr id="5" name="TextBox 4"/>
          <p:cNvSpPr txBox="1"/>
          <p:nvPr/>
        </p:nvSpPr>
        <p:spPr>
          <a:xfrm>
            <a:off x="11155680" y="6400800"/>
            <a:ext cx="548640" cy="228600"/>
          </a:xfrm>
          <a:prstGeom prst="rect">
            <a:avLst/>
          </a:prstGeom>
          <a:noFill/>
        </p:spPr>
        <p:txBody>
          <a:bodyPr wrap="square" anchor="t" lIns="45720" rIns="45720" tIns="18288" bIns="18288">
            <a:spAutoFit/>
          </a:bodyPr>
          <a:lstStyle/>
          <a:p>
            <a:pPr algn="r"/>
            <a:r>
              <a:rPr sz="1000" b="1" i="0">
                <a:solidFill>
                  <a:srgbClr val="500000"/>
                </a:solidFill>
                <a:latin typeface="Arial"/>
              </a:rPr>
              <a:t>13</a:t>
            </a:r>
          </a:p>
        </p:txBody>
      </p:sp>
      <p:sp>
        <p:nvSpPr>
          <p:cNvPr id="6" name="Rounded Rectangle 5"/>
          <p:cNvSpPr/>
          <p:nvPr/>
        </p:nvSpPr>
        <p:spPr>
          <a:xfrm>
            <a:off x="548640" y="1783080"/>
            <a:ext cx="3611880" cy="2514600"/>
          </a:xfrm>
          <a:prstGeom prst="roundRect">
            <a:avLst>
              <a:gd name="adj" fmla="val 8000"/>
            </a:avLst>
          </a:prstGeom>
          <a:solidFill>
            <a:srgbClr val="F5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1984248"/>
            <a:ext cx="502920" cy="502920"/>
          </a:xfrm>
          <a:prstGeom prst="ellipse">
            <a:avLst/>
          </a:prstGeom>
          <a:solidFill>
            <a:srgbClr val="5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mbria Math"/>
              </a:rPr>
              <a:t>Σ</a:t>
            </a:r>
          </a:p>
        </p:txBody>
      </p:sp>
      <p:sp>
        <p:nvSpPr>
          <p:cNvPr id="8" name="TextBox 7"/>
          <p:cNvSpPr txBox="1"/>
          <p:nvPr/>
        </p:nvSpPr>
        <p:spPr>
          <a:xfrm>
            <a:off x="777240" y="2651760"/>
            <a:ext cx="3154680" cy="411480"/>
          </a:xfrm>
          <a:prstGeom prst="rect">
            <a:avLst/>
          </a:prstGeom>
          <a:noFill/>
        </p:spPr>
        <p:txBody>
          <a:bodyPr wrap="square" anchor="t" lIns="45720" rIns="45720" tIns="18288" bIns="18288">
            <a:spAutoFit/>
          </a:bodyPr>
          <a:lstStyle/>
          <a:p>
            <a:pPr algn="l"/>
            <a:r>
              <a:rPr sz="1600" b="1" i="0">
                <a:solidFill>
                  <a:srgbClr val="1E293B"/>
                </a:solidFill>
                <a:latin typeface="Arial"/>
              </a:rPr>
              <a:t>Locality</a:t>
            </a:r>
          </a:p>
        </p:txBody>
      </p:sp>
      <p:sp>
        <p:nvSpPr>
          <p:cNvPr id="9" name="TextBox 8"/>
          <p:cNvSpPr txBox="1"/>
          <p:nvPr/>
        </p:nvSpPr>
        <p:spPr>
          <a:xfrm>
            <a:off x="777240" y="3108960"/>
            <a:ext cx="3154680" cy="1097280"/>
          </a:xfrm>
          <a:prstGeom prst="rect">
            <a:avLst/>
          </a:prstGeom>
          <a:noFill/>
        </p:spPr>
        <p:txBody>
          <a:bodyPr wrap="square" anchor="t" lIns="45720" rIns="45720" tIns="18288" bIns="18288">
            <a:spAutoFit/>
          </a:bodyPr>
          <a:lstStyle/>
          <a:p>
            <a:pPr algn="l"/>
            <a:r>
              <a:rPr sz="1250" b="0" i="0">
                <a:solidFill>
                  <a:srgbClr val="64748B"/>
                </a:solidFill>
                <a:latin typeface="Arial"/>
              </a:rPr>
              <a:t>Total energy is a sum of atomic energies, each depending only on neighbours within a cut-off (MACE: 6 Å).</a:t>
            </a:r>
          </a:p>
          <a:p>
            <a:pPr algn="l"/>
            <a:r>
              <a:rPr sz="1250" b="0" i="0">
                <a:solidFill>
                  <a:srgbClr val="64748B"/>
                </a:solidFill>
                <a:latin typeface="Arial"/>
              </a:rPr>
              <a:t>This is why a model trained on 4- and 8-atom cells works on any size, and why cost is linear in N.</a:t>
            </a:r>
          </a:p>
        </p:txBody>
      </p:sp>
      <p:sp>
        <p:nvSpPr>
          <p:cNvPr id="10" name="Rounded Rectangle 9"/>
          <p:cNvSpPr/>
          <p:nvPr/>
        </p:nvSpPr>
        <p:spPr>
          <a:xfrm>
            <a:off x="4279392" y="1783080"/>
            <a:ext cx="3611880" cy="2514600"/>
          </a:xfrm>
          <a:prstGeom prst="roundRect">
            <a:avLst>
              <a:gd name="adj" fmla="val 8000"/>
            </a:avLst>
          </a:prstGeom>
          <a:solidFill>
            <a:srgbClr val="F5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507992" y="1984248"/>
            <a:ext cx="502920" cy="502920"/>
          </a:xfrm>
          <a:prstGeom prst="ellipse">
            <a:avLst/>
          </a:prstGeom>
          <a:solidFill>
            <a:srgbClr val="5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mbria Math"/>
              </a:rPr>
              <a:t>⟳</a:t>
            </a:r>
          </a:p>
        </p:txBody>
      </p:sp>
      <p:sp>
        <p:nvSpPr>
          <p:cNvPr id="12" name="TextBox 11"/>
          <p:cNvSpPr txBox="1"/>
          <p:nvPr/>
        </p:nvSpPr>
        <p:spPr>
          <a:xfrm>
            <a:off x="4507992" y="2651760"/>
            <a:ext cx="3154680" cy="411480"/>
          </a:xfrm>
          <a:prstGeom prst="rect">
            <a:avLst/>
          </a:prstGeom>
          <a:noFill/>
        </p:spPr>
        <p:txBody>
          <a:bodyPr wrap="square" anchor="t" lIns="45720" rIns="45720" tIns="18288" bIns="18288">
            <a:spAutoFit/>
          </a:bodyPr>
          <a:lstStyle/>
          <a:p>
            <a:pPr algn="l"/>
            <a:r>
              <a:rPr sz="1600" b="1" i="0">
                <a:solidFill>
                  <a:srgbClr val="1E293B"/>
                </a:solidFill>
                <a:latin typeface="Arial"/>
              </a:rPr>
              <a:t>Symmetry</a:t>
            </a:r>
          </a:p>
        </p:txBody>
      </p:sp>
      <p:sp>
        <p:nvSpPr>
          <p:cNvPr id="13" name="TextBox 12"/>
          <p:cNvSpPr txBox="1"/>
          <p:nvPr/>
        </p:nvSpPr>
        <p:spPr>
          <a:xfrm>
            <a:off x="4507992" y="3108960"/>
            <a:ext cx="3154680" cy="1097280"/>
          </a:xfrm>
          <a:prstGeom prst="rect">
            <a:avLst/>
          </a:prstGeom>
          <a:noFill/>
        </p:spPr>
        <p:txBody>
          <a:bodyPr wrap="square" anchor="t" lIns="45720" rIns="45720" tIns="18288" bIns="18288">
            <a:spAutoFit/>
          </a:bodyPr>
          <a:lstStyle/>
          <a:p>
            <a:pPr algn="l"/>
            <a:r>
              <a:rPr sz="1250" b="0" i="0">
                <a:solidFill>
                  <a:srgbClr val="64748B"/>
                </a:solidFill>
                <a:latin typeface="Arial"/>
              </a:rPr>
              <a:t>Translate, rotate or relabel identical atoms: the energy must not change; forces must rotate along.</a:t>
            </a:r>
          </a:p>
          <a:p>
            <a:pPr algn="l"/>
            <a:r>
              <a:rPr sz="1250" b="0" i="0">
                <a:solidFill>
                  <a:srgbClr val="64748B"/>
                </a:solidFill>
                <a:latin typeface="Arial"/>
              </a:rPr>
              <a:t>Built into the architecture, not learned from data.</a:t>
            </a:r>
          </a:p>
        </p:txBody>
      </p:sp>
      <p:sp>
        <p:nvSpPr>
          <p:cNvPr id="14" name="Rounded Rectangle 13"/>
          <p:cNvSpPr/>
          <p:nvPr/>
        </p:nvSpPr>
        <p:spPr>
          <a:xfrm>
            <a:off x="8010144" y="1783080"/>
            <a:ext cx="3611880" cy="2514600"/>
          </a:xfrm>
          <a:prstGeom prst="roundRect">
            <a:avLst>
              <a:gd name="adj" fmla="val 8000"/>
            </a:avLst>
          </a:prstGeom>
          <a:solidFill>
            <a:srgbClr val="F5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238744" y="1984248"/>
            <a:ext cx="502920" cy="502920"/>
          </a:xfrm>
          <a:prstGeom prst="ellipse">
            <a:avLst/>
          </a:prstGeom>
          <a:solidFill>
            <a:srgbClr val="5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mbria Math"/>
              </a:rPr>
              <a:t>∇</a:t>
            </a:r>
          </a:p>
        </p:txBody>
      </p:sp>
      <p:sp>
        <p:nvSpPr>
          <p:cNvPr id="16" name="TextBox 15"/>
          <p:cNvSpPr txBox="1"/>
          <p:nvPr/>
        </p:nvSpPr>
        <p:spPr>
          <a:xfrm>
            <a:off x="8238744" y="2651760"/>
            <a:ext cx="3154680" cy="411480"/>
          </a:xfrm>
          <a:prstGeom prst="rect">
            <a:avLst/>
          </a:prstGeom>
          <a:noFill/>
        </p:spPr>
        <p:txBody>
          <a:bodyPr wrap="square" anchor="t" lIns="45720" rIns="45720" tIns="18288" bIns="18288">
            <a:spAutoFit/>
          </a:bodyPr>
          <a:lstStyle/>
          <a:p>
            <a:pPr algn="l"/>
            <a:r>
              <a:rPr sz="1600" b="1" i="0">
                <a:solidFill>
                  <a:srgbClr val="1E293B"/>
                </a:solidFill>
                <a:latin typeface="Arial"/>
              </a:rPr>
              <a:t>Forces by differentiation</a:t>
            </a:r>
          </a:p>
        </p:txBody>
      </p:sp>
      <p:sp>
        <p:nvSpPr>
          <p:cNvPr id="17" name="TextBox 16"/>
          <p:cNvSpPr txBox="1"/>
          <p:nvPr/>
        </p:nvSpPr>
        <p:spPr>
          <a:xfrm>
            <a:off x="8238744" y="3108960"/>
            <a:ext cx="3154680" cy="1097280"/>
          </a:xfrm>
          <a:prstGeom prst="rect">
            <a:avLst/>
          </a:prstGeom>
          <a:noFill/>
        </p:spPr>
        <p:txBody>
          <a:bodyPr wrap="square" anchor="t" lIns="45720" rIns="45720" tIns="18288" bIns="18288">
            <a:spAutoFit/>
          </a:bodyPr>
          <a:lstStyle/>
          <a:p>
            <a:pPr algn="l"/>
            <a:r>
              <a:rPr sz="1250" b="0" i="0">
                <a:solidFill>
                  <a:srgbClr val="64748B"/>
                </a:solidFill>
                <a:latin typeface="Arial"/>
              </a:rPr>
              <a:t>F = −∂E/∂r, computed exactly by automatic differentiation.</a:t>
            </a:r>
          </a:p>
          <a:p>
            <a:pPr algn="l"/>
            <a:r>
              <a:rPr sz="1250" b="0" i="0">
                <a:solidFill>
                  <a:srgbClr val="64748B"/>
                </a:solidFill>
                <a:latin typeface="Arial"/>
              </a:rPr>
              <a:t>Energy-conserving by construction, and every DFT structure gives 3N force labels — most of the training signal.</a:t>
            </a:r>
          </a:p>
        </p:txBody>
      </p:sp>
      <p:sp>
        <p:nvSpPr>
          <p:cNvPr id="18" name="TextBox 17"/>
          <p:cNvSpPr txBox="1"/>
          <p:nvPr/>
        </p:nvSpPr>
        <p:spPr>
          <a:xfrm>
            <a:off x="548640" y="4526280"/>
            <a:ext cx="11064240" cy="274320"/>
          </a:xfrm>
          <a:prstGeom prst="rect">
            <a:avLst/>
          </a:prstGeom>
          <a:noFill/>
        </p:spPr>
        <p:txBody>
          <a:bodyPr wrap="square" anchor="t" lIns="45720" rIns="45720" tIns="18288" bIns="18288">
            <a:spAutoFit/>
          </a:bodyPr>
          <a:lstStyle/>
          <a:p>
            <a:pPr algn="l"/>
            <a:r>
              <a:rPr sz="1100" b="1" i="0">
                <a:solidFill>
                  <a:srgbClr val="B87878"/>
                </a:solidFill>
                <a:latin typeface="Arial"/>
              </a:rPr>
              <a:t>LINEAGE</a:t>
            </a:r>
          </a:p>
        </p:txBody>
      </p:sp>
      <p:sp>
        <p:nvSpPr>
          <p:cNvPr id="19" name="Rounded Rectangle 18"/>
          <p:cNvSpPr/>
          <p:nvPr/>
        </p:nvSpPr>
        <p:spPr>
          <a:xfrm>
            <a:off x="548640" y="4846320"/>
            <a:ext cx="2066543" cy="1143000"/>
          </a:xfrm>
          <a:prstGeom prst="roundRect">
            <a:avLst>
              <a:gd name="adj" fmla="val 8000"/>
            </a:avLst>
          </a:prstGeom>
          <a:solidFill>
            <a:srgbClr val="F5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4919472"/>
            <a:ext cx="1828800" cy="274320"/>
          </a:xfrm>
          <a:prstGeom prst="rect">
            <a:avLst/>
          </a:prstGeom>
          <a:noFill/>
        </p:spPr>
        <p:txBody>
          <a:bodyPr wrap="square" anchor="t" lIns="45720" rIns="45720" tIns="18288" bIns="18288">
            <a:spAutoFit/>
          </a:bodyPr>
          <a:lstStyle/>
          <a:p>
            <a:pPr algn="l"/>
            <a:r>
              <a:rPr sz="1100" b="1" i="0">
                <a:solidFill>
                  <a:srgbClr val="B87878"/>
                </a:solidFill>
                <a:latin typeface="Arial"/>
              </a:rPr>
              <a:t>2007</a:t>
            </a:r>
          </a:p>
        </p:txBody>
      </p:sp>
      <p:sp>
        <p:nvSpPr>
          <p:cNvPr id="21" name="TextBox 20"/>
          <p:cNvSpPr txBox="1"/>
          <p:nvPr/>
        </p:nvSpPr>
        <p:spPr>
          <a:xfrm>
            <a:off x="685800" y="5166360"/>
            <a:ext cx="1828800" cy="320040"/>
          </a:xfrm>
          <a:prstGeom prst="rect">
            <a:avLst/>
          </a:prstGeom>
          <a:noFill/>
        </p:spPr>
        <p:txBody>
          <a:bodyPr wrap="square" anchor="t" lIns="45720" rIns="45720" tIns="18288" bIns="18288">
            <a:spAutoFit/>
          </a:bodyPr>
          <a:lstStyle/>
          <a:p>
            <a:pPr algn="l"/>
            <a:r>
              <a:rPr sz="1500" b="1" i="0">
                <a:solidFill>
                  <a:srgbClr val="1E293B"/>
                </a:solidFill>
                <a:latin typeface="Arial"/>
              </a:rPr>
              <a:t>Behler–Parrinello</a:t>
            </a:r>
          </a:p>
        </p:txBody>
      </p:sp>
      <p:sp>
        <p:nvSpPr>
          <p:cNvPr id="22" name="TextBox 21"/>
          <p:cNvSpPr txBox="1"/>
          <p:nvPr/>
        </p:nvSpPr>
        <p:spPr>
          <a:xfrm>
            <a:off x="685800" y="5486400"/>
            <a:ext cx="1828800" cy="457200"/>
          </a:xfrm>
          <a:prstGeom prst="rect">
            <a:avLst/>
          </a:prstGeom>
          <a:noFill/>
        </p:spPr>
        <p:txBody>
          <a:bodyPr wrap="square" anchor="t" lIns="45720" rIns="45720" tIns="18288" bIns="18288">
            <a:spAutoFit/>
          </a:bodyPr>
          <a:lstStyle/>
          <a:p>
            <a:pPr algn="l"/>
            <a:r>
              <a:rPr sz="1100" b="0" i="0">
                <a:solidFill>
                  <a:srgbClr val="64748B"/>
                </a:solidFill>
                <a:latin typeface="Arial"/>
              </a:rPr>
              <a:t>atomic energies + neural nets</a:t>
            </a:r>
          </a:p>
        </p:txBody>
      </p:sp>
      <p:cxnSp>
        <p:nvCxnSpPr>
          <p:cNvPr id="23" name="Connector 22"/>
          <p:cNvCxnSpPr/>
          <p:nvPr/>
        </p:nvCxnSpPr>
        <p:spPr>
          <a:xfrm>
            <a:off x="2615184" y="5413248"/>
            <a:ext cx="182880" cy="0"/>
          </a:xfrm>
          <a:prstGeom prst="line">
            <a:avLst/>
          </a:prstGeom>
          <a:ln w="1905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2798064" y="4846320"/>
            <a:ext cx="2066543" cy="1143000"/>
          </a:xfrm>
          <a:prstGeom prst="roundRect">
            <a:avLst>
              <a:gd name="adj" fmla="val 8000"/>
            </a:avLst>
          </a:prstGeom>
          <a:solidFill>
            <a:srgbClr val="F5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935224" y="4919472"/>
            <a:ext cx="1828800" cy="274320"/>
          </a:xfrm>
          <a:prstGeom prst="rect">
            <a:avLst/>
          </a:prstGeom>
          <a:noFill/>
        </p:spPr>
        <p:txBody>
          <a:bodyPr wrap="square" anchor="t" lIns="45720" rIns="45720" tIns="18288" bIns="18288">
            <a:spAutoFit/>
          </a:bodyPr>
          <a:lstStyle/>
          <a:p>
            <a:pPr algn="l"/>
            <a:r>
              <a:rPr sz="1100" b="1" i="0">
                <a:solidFill>
                  <a:srgbClr val="B87878"/>
                </a:solidFill>
                <a:latin typeface="Arial"/>
              </a:rPr>
              <a:t>2010</a:t>
            </a:r>
          </a:p>
        </p:txBody>
      </p:sp>
      <p:sp>
        <p:nvSpPr>
          <p:cNvPr id="26" name="TextBox 25"/>
          <p:cNvSpPr txBox="1"/>
          <p:nvPr/>
        </p:nvSpPr>
        <p:spPr>
          <a:xfrm>
            <a:off x="2935224" y="5166360"/>
            <a:ext cx="1828800" cy="320040"/>
          </a:xfrm>
          <a:prstGeom prst="rect">
            <a:avLst/>
          </a:prstGeom>
          <a:noFill/>
        </p:spPr>
        <p:txBody>
          <a:bodyPr wrap="square" anchor="t" lIns="45720" rIns="45720" tIns="18288" bIns="18288">
            <a:spAutoFit/>
          </a:bodyPr>
          <a:lstStyle/>
          <a:p>
            <a:pPr algn="l"/>
            <a:r>
              <a:rPr sz="1500" b="1" i="0">
                <a:solidFill>
                  <a:srgbClr val="1E293B"/>
                </a:solidFill>
                <a:latin typeface="Arial"/>
              </a:rPr>
              <a:t>GAP</a:t>
            </a:r>
          </a:p>
        </p:txBody>
      </p:sp>
      <p:sp>
        <p:nvSpPr>
          <p:cNvPr id="27" name="TextBox 26"/>
          <p:cNvSpPr txBox="1"/>
          <p:nvPr/>
        </p:nvSpPr>
        <p:spPr>
          <a:xfrm>
            <a:off x="2935224" y="5486400"/>
            <a:ext cx="1828800" cy="457200"/>
          </a:xfrm>
          <a:prstGeom prst="rect">
            <a:avLst/>
          </a:prstGeom>
          <a:noFill/>
        </p:spPr>
        <p:txBody>
          <a:bodyPr wrap="square" anchor="t" lIns="45720" rIns="45720" tIns="18288" bIns="18288">
            <a:spAutoFit/>
          </a:bodyPr>
          <a:lstStyle/>
          <a:p>
            <a:pPr algn="l"/>
            <a:r>
              <a:rPr sz="1100" b="0" i="0">
                <a:solidFill>
                  <a:srgbClr val="64748B"/>
                </a:solidFill>
                <a:latin typeface="Arial"/>
              </a:rPr>
              <a:t>Gaussian processes</a:t>
            </a:r>
          </a:p>
        </p:txBody>
      </p:sp>
      <p:cxnSp>
        <p:nvCxnSpPr>
          <p:cNvPr id="28" name="Connector 27"/>
          <p:cNvCxnSpPr/>
          <p:nvPr/>
        </p:nvCxnSpPr>
        <p:spPr>
          <a:xfrm>
            <a:off x="4864608" y="5413248"/>
            <a:ext cx="182880" cy="0"/>
          </a:xfrm>
          <a:prstGeom prst="line">
            <a:avLst/>
          </a:prstGeom>
          <a:ln w="1905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5047488" y="4846320"/>
            <a:ext cx="2066543" cy="1143000"/>
          </a:xfrm>
          <a:prstGeom prst="roundRect">
            <a:avLst>
              <a:gd name="adj" fmla="val 8000"/>
            </a:avLst>
          </a:prstGeom>
          <a:solidFill>
            <a:srgbClr val="F5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184648" y="4919472"/>
            <a:ext cx="1828800" cy="274320"/>
          </a:xfrm>
          <a:prstGeom prst="rect">
            <a:avLst/>
          </a:prstGeom>
          <a:noFill/>
        </p:spPr>
        <p:txBody>
          <a:bodyPr wrap="square" anchor="t" lIns="45720" rIns="45720" tIns="18288" bIns="18288">
            <a:spAutoFit/>
          </a:bodyPr>
          <a:lstStyle/>
          <a:p>
            <a:pPr algn="l"/>
            <a:r>
              <a:rPr sz="1100" b="1" i="0">
                <a:solidFill>
                  <a:srgbClr val="B87878"/>
                </a:solidFill>
                <a:latin typeface="Arial"/>
              </a:rPr>
              <a:t>2019</a:t>
            </a:r>
          </a:p>
        </p:txBody>
      </p:sp>
      <p:sp>
        <p:nvSpPr>
          <p:cNvPr id="31" name="TextBox 30"/>
          <p:cNvSpPr txBox="1"/>
          <p:nvPr/>
        </p:nvSpPr>
        <p:spPr>
          <a:xfrm>
            <a:off x="5184648" y="5166360"/>
            <a:ext cx="1828800" cy="320040"/>
          </a:xfrm>
          <a:prstGeom prst="rect">
            <a:avLst/>
          </a:prstGeom>
          <a:noFill/>
        </p:spPr>
        <p:txBody>
          <a:bodyPr wrap="square" anchor="t" lIns="45720" rIns="45720" tIns="18288" bIns="18288">
            <a:spAutoFit/>
          </a:bodyPr>
          <a:lstStyle/>
          <a:p>
            <a:pPr algn="l"/>
            <a:r>
              <a:rPr sz="1500" b="1" i="0">
                <a:solidFill>
                  <a:srgbClr val="1E293B"/>
                </a:solidFill>
                <a:latin typeface="Arial"/>
              </a:rPr>
              <a:t>ACE</a:t>
            </a:r>
          </a:p>
        </p:txBody>
      </p:sp>
      <p:sp>
        <p:nvSpPr>
          <p:cNvPr id="32" name="TextBox 31"/>
          <p:cNvSpPr txBox="1"/>
          <p:nvPr/>
        </p:nvSpPr>
        <p:spPr>
          <a:xfrm>
            <a:off x="5184648" y="5486400"/>
            <a:ext cx="1828800" cy="457200"/>
          </a:xfrm>
          <a:prstGeom prst="rect">
            <a:avLst/>
          </a:prstGeom>
          <a:noFill/>
        </p:spPr>
        <p:txBody>
          <a:bodyPr wrap="square" anchor="t" lIns="45720" rIns="45720" tIns="18288" bIns="18288">
            <a:spAutoFit/>
          </a:bodyPr>
          <a:lstStyle/>
          <a:p>
            <a:pPr algn="l"/>
            <a:r>
              <a:rPr sz="1100" b="0" i="0">
                <a:solidFill>
                  <a:srgbClr val="64748B"/>
                </a:solidFill>
                <a:latin typeface="Arial"/>
              </a:rPr>
              <a:t>complete many-body basis</a:t>
            </a:r>
          </a:p>
        </p:txBody>
      </p:sp>
      <p:cxnSp>
        <p:nvCxnSpPr>
          <p:cNvPr id="33" name="Connector 32"/>
          <p:cNvCxnSpPr/>
          <p:nvPr/>
        </p:nvCxnSpPr>
        <p:spPr>
          <a:xfrm>
            <a:off x="7114031" y="5413248"/>
            <a:ext cx="182881" cy="0"/>
          </a:xfrm>
          <a:prstGeom prst="line">
            <a:avLst/>
          </a:prstGeom>
          <a:ln w="1905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7296912" y="4846320"/>
            <a:ext cx="2066543" cy="1143000"/>
          </a:xfrm>
          <a:prstGeom prst="roundRect">
            <a:avLst>
              <a:gd name="adj" fmla="val 8000"/>
            </a:avLst>
          </a:prstGeom>
          <a:solidFill>
            <a:srgbClr val="F5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434071" y="4919472"/>
            <a:ext cx="1828800" cy="274320"/>
          </a:xfrm>
          <a:prstGeom prst="rect">
            <a:avLst/>
          </a:prstGeom>
          <a:noFill/>
        </p:spPr>
        <p:txBody>
          <a:bodyPr wrap="square" anchor="t" lIns="45720" rIns="45720" tIns="18288" bIns="18288">
            <a:spAutoFit/>
          </a:bodyPr>
          <a:lstStyle/>
          <a:p>
            <a:pPr algn="l"/>
            <a:r>
              <a:rPr sz="1100" b="1" i="0">
                <a:solidFill>
                  <a:srgbClr val="B87878"/>
                </a:solidFill>
                <a:latin typeface="Arial"/>
              </a:rPr>
              <a:t>2022</a:t>
            </a:r>
          </a:p>
        </p:txBody>
      </p:sp>
      <p:sp>
        <p:nvSpPr>
          <p:cNvPr id="36" name="TextBox 35"/>
          <p:cNvSpPr txBox="1"/>
          <p:nvPr/>
        </p:nvSpPr>
        <p:spPr>
          <a:xfrm>
            <a:off x="7434071" y="5166360"/>
            <a:ext cx="1828800" cy="320040"/>
          </a:xfrm>
          <a:prstGeom prst="rect">
            <a:avLst/>
          </a:prstGeom>
          <a:noFill/>
        </p:spPr>
        <p:txBody>
          <a:bodyPr wrap="square" anchor="t" lIns="45720" rIns="45720" tIns="18288" bIns="18288">
            <a:spAutoFit/>
          </a:bodyPr>
          <a:lstStyle/>
          <a:p>
            <a:pPr algn="l"/>
            <a:r>
              <a:rPr sz="1500" b="1" i="0">
                <a:solidFill>
                  <a:srgbClr val="1E293B"/>
                </a:solidFill>
                <a:latin typeface="Arial"/>
              </a:rPr>
              <a:t>NequIP</a:t>
            </a:r>
          </a:p>
        </p:txBody>
      </p:sp>
      <p:sp>
        <p:nvSpPr>
          <p:cNvPr id="37" name="TextBox 36"/>
          <p:cNvSpPr txBox="1"/>
          <p:nvPr/>
        </p:nvSpPr>
        <p:spPr>
          <a:xfrm>
            <a:off x="7434071" y="5486400"/>
            <a:ext cx="1828800" cy="457200"/>
          </a:xfrm>
          <a:prstGeom prst="rect">
            <a:avLst/>
          </a:prstGeom>
          <a:noFill/>
        </p:spPr>
        <p:txBody>
          <a:bodyPr wrap="square" anchor="t" lIns="45720" rIns="45720" tIns="18288" bIns="18288">
            <a:spAutoFit/>
          </a:bodyPr>
          <a:lstStyle/>
          <a:p>
            <a:pPr algn="l"/>
            <a:r>
              <a:rPr sz="1100" b="0" i="0">
                <a:solidFill>
                  <a:srgbClr val="64748B"/>
                </a:solidFill>
                <a:latin typeface="Arial"/>
              </a:rPr>
              <a:t>equivariant graph nets</a:t>
            </a:r>
          </a:p>
        </p:txBody>
      </p:sp>
      <p:cxnSp>
        <p:nvCxnSpPr>
          <p:cNvPr id="38" name="Connector 37"/>
          <p:cNvCxnSpPr/>
          <p:nvPr/>
        </p:nvCxnSpPr>
        <p:spPr>
          <a:xfrm>
            <a:off x="9363455" y="5413248"/>
            <a:ext cx="182881" cy="0"/>
          </a:xfrm>
          <a:prstGeom prst="line">
            <a:avLst/>
          </a:prstGeom>
          <a:ln w="1905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9546336" y="4846320"/>
            <a:ext cx="2066543" cy="1143000"/>
          </a:xfrm>
          <a:prstGeom prst="roundRect">
            <a:avLst>
              <a:gd name="adj" fmla="val 8000"/>
            </a:avLst>
          </a:prstGeom>
          <a:solidFill>
            <a:srgbClr val="5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683496" y="4919472"/>
            <a:ext cx="1828800" cy="274320"/>
          </a:xfrm>
          <a:prstGeom prst="rect">
            <a:avLst/>
          </a:prstGeom>
          <a:noFill/>
        </p:spPr>
        <p:txBody>
          <a:bodyPr wrap="square" anchor="t" lIns="45720" rIns="45720" tIns="18288" bIns="18288">
            <a:spAutoFit/>
          </a:bodyPr>
          <a:lstStyle/>
          <a:p>
            <a:pPr algn="l"/>
            <a:r>
              <a:rPr sz="1100" b="1" i="0">
                <a:solidFill>
                  <a:srgbClr val="E3C4C4"/>
                </a:solidFill>
                <a:latin typeface="Arial"/>
              </a:rPr>
              <a:t>2022</a:t>
            </a:r>
          </a:p>
        </p:txBody>
      </p:sp>
      <p:sp>
        <p:nvSpPr>
          <p:cNvPr id="41" name="TextBox 40"/>
          <p:cNvSpPr txBox="1"/>
          <p:nvPr/>
        </p:nvSpPr>
        <p:spPr>
          <a:xfrm>
            <a:off x="9683496" y="5166360"/>
            <a:ext cx="1828800" cy="320040"/>
          </a:xfrm>
          <a:prstGeom prst="rect">
            <a:avLst/>
          </a:prstGeom>
          <a:noFill/>
        </p:spPr>
        <p:txBody>
          <a:bodyPr wrap="square" anchor="t" lIns="45720" rIns="45720" tIns="18288" bIns="18288">
            <a:spAutoFit/>
          </a:bodyPr>
          <a:lstStyle/>
          <a:p>
            <a:pPr algn="l"/>
            <a:r>
              <a:rPr sz="1500" b="1" i="0">
                <a:solidFill>
                  <a:srgbClr val="FFFFFF"/>
                </a:solidFill>
                <a:latin typeface="Arial"/>
              </a:rPr>
              <a:t>MACE</a:t>
            </a:r>
          </a:p>
        </p:txBody>
      </p:sp>
      <p:sp>
        <p:nvSpPr>
          <p:cNvPr id="42" name="TextBox 41"/>
          <p:cNvSpPr txBox="1"/>
          <p:nvPr/>
        </p:nvSpPr>
        <p:spPr>
          <a:xfrm>
            <a:off x="9683496" y="5486400"/>
            <a:ext cx="1828800" cy="457200"/>
          </a:xfrm>
          <a:prstGeom prst="rect">
            <a:avLst/>
          </a:prstGeom>
          <a:noFill/>
        </p:spPr>
        <p:txBody>
          <a:bodyPr wrap="square" anchor="t" lIns="45720" rIns="45720" tIns="18288" bIns="18288">
            <a:spAutoFit/>
          </a:bodyPr>
          <a:lstStyle/>
          <a:p>
            <a:pPr algn="l"/>
            <a:r>
              <a:rPr sz="1100" b="0" i="0">
                <a:solidFill>
                  <a:srgbClr val="E3C4C4"/>
                </a:solidFill>
                <a:latin typeface="Arial"/>
              </a:rPr>
              <a:t>ACE products inside an equivariant GNN</a:t>
            </a:r>
          </a:p>
        </p:txBody>
      </p:sp>
      <p:sp>
        <p:nvSpPr>
          <p:cNvPr id="43" name="TextBox 42"/>
          <p:cNvSpPr txBox="1"/>
          <p:nvPr/>
        </p:nvSpPr>
        <p:spPr>
          <a:xfrm>
            <a:off x="548640" y="6428232"/>
            <a:ext cx="9601200" cy="228600"/>
          </a:xfrm>
          <a:prstGeom prst="rect">
            <a:avLst/>
          </a:prstGeom>
          <a:noFill/>
        </p:spPr>
        <p:txBody>
          <a:bodyPr wrap="square" anchor="t" lIns="45720" rIns="45720" tIns="18288" bIns="18288">
            <a:spAutoFit/>
          </a:bodyPr>
          <a:lstStyle/>
          <a:p>
            <a:pPr algn="l"/>
            <a:r>
              <a:rPr sz="900" b="0" i="0">
                <a:solidFill>
                  <a:srgbClr val="94A3B8"/>
                </a:solidFill>
                <a:latin typeface="Arial"/>
              </a:rPr>
              <a:t>Behler &amp; Parrinello 2007 · Bartók et al. 2010 · Drautz 2019 · Batzner et al. 2022 · Batatia et al. NeurIPS 2022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anchor="t" lIns="45720" rIns="45720" tIns="18288" bIns="18288">
            <a:spAutoFit/>
          </a:bodyPr>
          <a:lstStyle/>
          <a:p>
            <a:pPr algn="l"/>
            <a:r>
              <a:rPr sz="1100" b="1" i="0">
                <a:solidFill>
                  <a:srgbClr val="B87878"/>
                </a:solidFill>
                <a:latin typeface="Arial"/>
              </a:rPr>
              <a:t>BACKUP · THE MODEL</a:t>
            </a:r>
          </a:p>
        </p:txBody>
      </p:sp>
      <p:sp>
        <p:nvSpPr>
          <p:cNvPr id="3" name="TextBox 2"/>
          <p:cNvSpPr txBox="1"/>
          <p:nvPr/>
        </p:nvSpPr>
        <p:spPr>
          <a:xfrm>
            <a:off x="548640" y="566928"/>
            <a:ext cx="11064240" cy="640080"/>
          </a:xfrm>
          <a:prstGeom prst="rect">
            <a:avLst/>
          </a:prstGeom>
          <a:noFill/>
        </p:spPr>
        <p:txBody>
          <a:bodyPr wrap="square" anchor="t" lIns="45720" rIns="45720" tIns="18288" bIns="18288">
            <a:spAutoFit/>
          </a:bodyPr>
          <a:lstStyle/>
          <a:p>
            <a:pPr algn="l"/>
            <a:r>
              <a:rPr sz="3400" b="1" i="0">
                <a:solidFill>
                  <a:srgbClr val="500000"/>
                </a:solidFill>
                <a:latin typeface="Arial"/>
              </a:rPr>
              <a:t>MACE: a graph of atoms passing messages</a:t>
            </a:r>
          </a:p>
        </p:txBody>
      </p:sp>
      <p:sp>
        <p:nvSpPr>
          <p:cNvPr id="4" name="TextBox 3"/>
          <p:cNvSpPr txBox="1"/>
          <p:nvPr/>
        </p:nvSpPr>
        <p:spPr>
          <a:xfrm>
            <a:off x="548640" y="1207008"/>
            <a:ext cx="11064240" cy="365760"/>
          </a:xfrm>
          <a:prstGeom prst="rect">
            <a:avLst/>
          </a:prstGeom>
          <a:noFill/>
        </p:spPr>
        <p:txBody>
          <a:bodyPr wrap="square" anchor="t" lIns="45720" rIns="45720" tIns="18288" bIns="18288">
            <a:spAutoFit/>
          </a:bodyPr>
          <a:lstStyle/>
          <a:p>
            <a:pPr algn="l"/>
            <a:r>
              <a:rPr sz="1500" b="0" i="1">
                <a:solidFill>
                  <a:srgbClr val="64748B"/>
                </a:solidFill>
                <a:latin typeface="Arial"/>
              </a:rPr>
              <a:t>Two layers, many-body messages, exact rotational symmetry</a:t>
            </a:r>
          </a:p>
        </p:txBody>
      </p:sp>
      <p:sp>
        <p:nvSpPr>
          <p:cNvPr id="5" name="TextBox 4"/>
          <p:cNvSpPr txBox="1"/>
          <p:nvPr/>
        </p:nvSpPr>
        <p:spPr>
          <a:xfrm>
            <a:off x="11155680" y="6400800"/>
            <a:ext cx="548640" cy="228600"/>
          </a:xfrm>
          <a:prstGeom prst="rect">
            <a:avLst/>
          </a:prstGeom>
          <a:noFill/>
        </p:spPr>
        <p:txBody>
          <a:bodyPr wrap="square" anchor="t" lIns="45720" rIns="45720" tIns="18288" bIns="18288">
            <a:spAutoFit/>
          </a:bodyPr>
          <a:lstStyle/>
          <a:p>
            <a:pPr algn="r"/>
            <a:r>
              <a:rPr sz="1000" b="1" i="0">
                <a:solidFill>
                  <a:srgbClr val="500000"/>
                </a:solidFill>
                <a:latin typeface="Arial"/>
              </a:rPr>
              <a:t>14</a:t>
            </a:r>
          </a:p>
        </p:txBody>
      </p:sp>
      <p:sp>
        <p:nvSpPr>
          <p:cNvPr id="6" name="Rounded Rectangle 5"/>
          <p:cNvSpPr/>
          <p:nvPr/>
        </p:nvSpPr>
        <p:spPr>
          <a:xfrm>
            <a:off x="548640" y="1783080"/>
            <a:ext cx="4754880" cy="4206240"/>
          </a:xfrm>
          <a:prstGeom prst="roundRect">
            <a:avLst>
              <a:gd name="adj" fmla="val 8000"/>
            </a:avLst>
          </a:prstGeom>
          <a:solidFill>
            <a:srgbClr val="F5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88720" y="2103120"/>
            <a:ext cx="3474720" cy="3474720"/>
          </a:xfrm>
          <a:prstGeom prst="ellipse">
            <a:avLst/>
          </a:prstGeom>
          <a:noFill/>
          <a:ln w="15875">
            <a:solidFill>
              <a:srgbClr val="B87878"/>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 name="Connector 7"/>
          <p:cNvCxnSpPr/>
          <p:nvPr/>
        </p:nvCxnSpPr>
        <p:spPr>
          <a:xfrm>
            <a:off x="2926080" y="3840480"/>
            <a:ext cx="1005840" cy="0"/>
          </a:xfrm>
          <a:prstGeom prst="line">
            <a:avLst/>
          </a:prstGeom>
          <a:ln w="15875">
            <a:solidFill>
              <a:srgbClr val="94A3B8"/>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926080" y="3840480"/>
            <a:ext cx="502920" cy="868680"/>
          </a:xfrm>
          <a:prstGeom prst="line">
            <a:avLst/>
          </a:prstGeom>
          <a:ln w="15875">
            <a:solidFill>
              <a:srgbClr val="94A3B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2423160" y="3840480"/>
            <a:ext cx="502920" cy="868680"/>
          </a:xfrm>
          <a:prstGeom prst="line">
            <a:avLst/>
          </a:prstGeom>
          <a:ln w="15875">
            <a:solidFill>
              <a:srgbClr val="94A3B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1920240" y="3840480"/>
            <a:ext cx="1005840" cy="0"/>
          </a:xfrm>
          <a:prstGeom prst="line">
            <a:avLst/>
          </a:prstGeom>
          <a:ln w="15875">
            <a:solidFill>
              <a:srgbClr val="94A3B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flipV="1">
            <a:off x="2423160" y="2971800"/>
            <a:ext cx="502920" cy="868680"/>
          </a:xfrm>
          <a:prstGeom prst="line">
            <a:avLst/>
          </a:prstGeom>
          <a:ln w="15875">
            <a:solidFill>
              <a:srgbClr val="94A3B8"/>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2926080" y="2971800"/>
            <a:ext cx="502920" cy="868680"/>
          </a:xfrm>
          <a:prstGeom prst="line">
            <a:avLst/>
          </a:prstGeom>
          <a:ln w="15875">
            <a:solidFill>
              <a:srgbClr val="94A3B8"/>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2926080" y="3840480"/>
            <a:ext cx="1463040" cy="822960"/>
          </a:xfrm>
          <a:prstGeom prst="line">
            <a:avLst/>
          </a:prstGeom>
          <a:ln w="15875">
            <a:solidFill>
              <a:srgbClr val="94A3B8"/>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1554480" y="3840480"/>
            <a:ext cx="1371600" cy="1005840"/>
          </a:xfrm>
          <a:prstGeom prst="line">
            <a:avLst/>
          </a:prstGeom>
          <a:ln w="15875">
            <a:solidFill>
              <a:srgbClr val="94A3B8"/>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3785616" y="3694176"/>
            <a:ext cx="292608" cy="292608"/>
          </a:xfrm>
          <a:prstGeom prst="ellipse">
            <a:avLst/>
          </a:prstGeom>
          <a:solidFill>
            <a:srgbClr val="B8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282696" y="4562856"/>
            <a:ext cx="292608" cy="292608"/>
          </a:xfrm>
          <a:prstGeom prst="ellipse">
            <a:avLst/>
          </a:prstGeom>
          <a:solidFill>
            <a:srgbClr val="B8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2276856" y="4562856"/>
            <a:ext cx="292608" cy="292608"/>
          </a:xfrm>
          <a:prstGeom prst="ellipse">
            <a:avLst/>
          </a:prstGeom>
          <a:solidFill>
            <a:srgbClr val="B8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773936" y="3694176"/>
            <a:ext cx="292608" cy="292608"/>
          </a:xfrm>
          <a:prstGeom prst="ellipse">
            <a:avLst/>
          </a:prstGeom>
          <a:solidFill>
            <a:srgbClr val="B8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2276856" y="2825496"/>
            <a:ext cx="292608" cy="292608"/>
          </a:xfrm>
          <a:prstGeom prst="ellipse">
            <a:avLst/>
          </a:prstGeom>
          <a:solidFill>
            <a:srgbClr val="B8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3282696" y="2825496"/>
            <a:ext cx="292608" cy="292608"/>
          </a:xfrm>
          <a:prstGeom prst="ellipse">
            <a:avLst/>
          </a:prstGeom>
          <a:solidFill>
            <a:srgbClr val="B8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242816" y="4517136"/>
            <a:ext cx="292608" cy="2926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408176" y="4700016"/>
            <a:ext cx="292608" cy="2926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2724912" y="3639312"/>
            <a:ext cx="402336" cy="402336"/>
          </a:xfrm>
          <a:prstGeom prst="ellipse">
            <a:avLst/>
          </a:prstGeom>
          <a:solidFill>
            <a:srgbClr val="5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Arial"/>
              </a:rPr>
              <a:t>i</a:t>
            </a:r>
          </a:p>
        </p:txBody>
      </p:sp>
      <p:sp>
        <p:nvSpPr>
          <p:cNvPr id="25" name="TextBox 24"/>
          <p:cNvSpPr txBox="1"/>
          <p:nvPr/>
        </p:nvSpPr>
        <p:spPr>
          <a:xfrm>
            <a:off x="777240" y="1874519"/>
            <a:ext cx="4297680" cy="320040"/>
          </a:xfrm>
          <a:prstGeom prst="rect">
            <a:avLst/>
          </a:prstGeom>
          <a:noFill/>
        </p:spPr>
        <p:txBody>
          <a:bodyPr wrap="square" anchor="t" lIns="45720" rIns="45720" tIns="18288" bIns="18288">
            <a:spAutoFit/>
          </a:bodyPr>
          <a:lstStyle/>
          <a:p>
            <a:pPr algn="l"/>
            <a:r>
              <a:rPr sz="1200" b="1" i="0">
                <a:solidFill>
                  <a:srgbClr val="1E293B"/>
                </a:solidFill>
                <a:latin typeface="Arial"/>
              </a:rPr>
              <a:t>atom i and its neighbourhood (cut-off 6 Å)</a:t>
            </a:r>
          </a:p>
        </p:txBody>
      </p:sp>
      <p:sp>
        <p:nvSpPr>
          <p:cNvPr id="26" name="TextBox 25"/>
          <p:cNvSpPr txBox="1"/>
          <p:nvPr/>
        </p:nvSpPr>
        <p:spPr>
          <a:xfrm>
            <a:off x="777240" y="5532120"/>
            <a:ext cx="4297680" cy="411480"/>
          </a:xfrm>
          <a:prstGeom prst="rect">
            <a:avLst/>
          </a:prstGeom>
          <a:noFill/>
        </p:spPr>
        <p:txBody>
          <a:bodyPr wrap="square" anchor="t" lIns="45720" rIns="45720" tIns="18288" bIns="18288">
            <a:spAutoFit/>
          </a:bodyPr>
          <a:lstStyle/>
          <a:p>
            <a:pPr algn="l"/>
            <a:r>
              <a:rPr sz="1100" b="0" i="0">
                <a:solidFill>
                  <a:srgbClr val="64748B"/>
                </a:solidFill>
                <a:latin typeface="Arial"/>
              </a:rPr>
              <a:t>nodes = atoms · edges = pairs within the cut-off · each layer passes messages along edges</a:t>
            </a:r>
          </a:p>
        </p:txBody>
      </p:sp>
      <p:sp>
        <p:nvSpPr>
          <p:cNvPr id="27" name="Rounded Rectangle 26"/>
          <p:cNvSpPr/>
          <p:nvPr/>
        </p:nvSpPr>
        <p:spPr>
          <a:xfrm>
            <a:off x="5532120" y="1783080"/>
            <a:ext cx="6080760" cy="960120"/>
          </a:xfrm>
          <a:prstGeom prst="roundRect">
            <a:avLst>
              <a:gd name="adj" fmla="val 8000"/>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669280" y="2011680"/>
            <a:ext cx="502920" cy="502920"/>
          </a:xfrm>
          <a:prstGeom prst="ellipse">
            <a:avLst/>
          </a:prstGeom>
          <a:solidFill>
            <a:srgbClr val="5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1</a:t>
            </a:r>
          </a:p>
        </p:txBody>
      </p:sp>
      <p:sp>
        <p:nvSpPr>
          <p:cNvPr id="29" name="TextBox 28"/>
          <p:cNvSpPr txBox="1"/>
          <p:nvPr/>
        </p:nvSpPr>
        <p:spPr>
          <a:xfrm>
            <a:off x="6309360" y="1874519"/>
            <a:ext cx="5212080" cy="320040"/>
          </a:xfrm>
          <a:prstGeom prst="rect">
            <a:avLst/>
          </a:prstGeom>
          <a:noFill/>
        </p:spPr>
        <p:txBody>
          <a:bodyPr wrap="square" anchor="t" lIns="45720" rIns="45720" tIns="18288" bIns="18288">
            <a:spAutoFit/>
          </a:bodyPr>
          <a:lstStyle/>
          <a:p>
            <a:pPr algn="l"/>
            <a:r>
              <a:rPr sz="1400" b="1" i="0">
                <a:solidFill>
                  <a:srgbClr val="1E293B"/>
                </a:solidFill>
                <a:latin typeface="Arial"/>
              </a:rPr>
              <a:t>Embed</a:t>
            </a:r>
          </a:p>
        </p:txBody>
      </p:sp>
      <p:sp>
        <p:nvSpPr>
          <p:cNvPr id="30" name="TextBox 29"/>
          <p:cNvSpPr txBox="1"/>
          <p:nvPr/>
        </p:nvSpPr>
        <p:spPr>
          <a:xfrm>
            <a:off x="6309360" y="2176272"/>
            <a:ext cx="5212080" cy="548640"/>
          </a:xfrm>
          <a:prstGeom prst="rect">
            <a:avLst/>
          </a:prstGeom>
          <a:noFill/>
        </p:spPr>
        <p:txBody>
          <a:bodyPr wrap="square" anchor="t" lIns="45720" rIns="45720" tIns="18288" bIns="18288">
            <a:spAutoFit/>
          </a:bodyPr>
          <a:lstStyle/>
          <a:p>
            <a:pPr algn="l"/>
            <a:r>
              <a:rPr sz="1100" b="0" i="0">
                <a:solidFill>
                  <a:srgbClr val="64748B"/>
                </a:solidFill>
                <a:latin typeface="Arial"/>
              </a:rPr>
              <a:t>Each atom starts with a learned vector for its element.</a:t>
            </a:r>
          </a:p>
        </p:txBody>
      </p:sp>
      <p:sp>
        <p:nvSpPr>
          <p:cNvPr id="31" name="Rounded Rectangle 30"/>
          <p:cNvSpPr/>
          <p:nvPr/>
        </p:nvSpPr>
        <p:spPr>
          <a:xfrm>
            <a:off x="5532120" y="2834639"/>
            <a:ext cx="6080760" cy="960120"/>
          </a:xfrm>
          <a:prstGeom prst="roundRect">
            <a:avLst>
              <a:gd name="adj" fmla="val 8000"/>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5669280" y="3063239"/>
            <a:ext cx="502920" cy="502920"/>
          </a:xfrm>
          <a:prstGeom prst="ellipse">
            <a:avLst/>
          </a:prstGeom>
          <a:solidFill>
            <a:srgbClr val="5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2</a:t>
            </a:r>
          </a:p>
        </p:txBody>
      </p:sp>
      <p:sp>
        <p:nvSpPr>
          <p:cNvPr id="33" name="TextBox 32"/>
          <p:cNvSpPr txBox="1"/>
          <p:nvPr/>
        </p:nvSpPr>
        <p:spPr>
          <a:xfrm>
            <a:off x="6309360" y="2926079"/>
            <a:ext cx="5212080" cy="320040"/>
          </a:xfrm>
          <a:prstGeom prst="rect">
            <a:avLst/>
          </a:prstGeom>
          <a:noFill/>
        </p:spPr>
        <p:txBody>
          <a:bodyPr wrap="square" anchor="t" lIns="45720" rIns="45720" tIns="18288" bIns="18288">
            <a:spAutoFit/>
          </a:bodyPr>
          <a:lstStyle/>
          <a:p>
            <a:pPr algn="l"/>
            <a:r>
              <a:rPr sz="1400" b="1" i="0">
                <a:solidFill>
                  <a:srgbClr val="1E293B"/>
                </a:solidFill>
                <a:latin typeface="Arial"/>
              </a:rPr>
              <a:t>Collect neighbours</a:t>
            </a:r>
          </a:p>
        </p:txBody>
      </p:sp>
      <p:sp>
        <p:nvSpPr>
          <p:cNvPr id="34" name="TextBox 33"/>
          <p:cNvSpPr txBox="1"/>
          <p:nvPr/>
        </p:nvSpPr>
        <p:spPr>
          <a:xfrm>
            <a:off x="6309360" y="3227832"/>
            <a:ext cx="5212080" cy="548640"/>
          </a:xfrm>
          <a:prstGeom prst="rect">
            <a:avLst/>
          </a:prstGeom>
          <a:noFill/>
        </p:spPr>
        <p:txBody>
          <a:bodyPr wrap="square" anchor="t" lIns="45720" rIns="45720" tIns="18288" bIns="18288">
            <a:spAutoFit/>
          </a:bodyPr>
          <a:lstStyle/>
          <a:p>
            <a:pPr algn="l"/>
            <a:r>
              <a:rPr sz="1100" b="0" i="0">
                <a:solidFill>
                  <a:srgbClr val="64748B"/>
                </a:solidFill>
                <a:latin typeface="Arial"/>
              </a:rPr>
              <a:t>For every neighbour: distance (radial basis) × direction (spherical harmonics) × its features. Summed: a two-body description Aᵢ.</a:t>
            </a:r>
          </a:p>
        </p:txBody>
      </p:sp>
      <p:sp>
        <p:nvSpPr>
          <p:cNvPr id="35" name="Rounded Rectangle 34"/>
          <p:cNvSpPr/>
          <p:nvPr/>
        </p:nvSpPr>
        <p:spPr>
          <a:xfrm>
            <a:off x="5532120" y="3886200"/>
            <a:ext cx="6080760" cy="960120"/>
          </a:xfrm>
          <a:prstGeom prst="roundRect">
            <a:avLst>
              <a:gd name="adj" fmla="val 8000"/>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5669280" y="4114800"/>
            <a:ext cx="502920" cy="502920"/>
          </a:xfrm>
          <a:prstGeom prst="ellipse">
            <a:avLst/>
          </a:prstGeom>
          <a:solidFill>
            <a:srgbClr val="5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3</a:t>
            </a:r>
          </a:p>
        </p:txBody>
      </p:sp>
      <p:sp>
        <p:nvSpPr>
          <p:cNvPr id="37" name="TextBox 36"/>
          <p:cNvSpPr txBox="1"/>
          <p:nvPr/>
        </p:nvSpPr>
        <p:spPr>
          <a:xfrm>
            <a:off x="6309360" y="3977639"/>
            <a:ext cx="5212080" cy="320040"/>
          </a:xfrm>
          <a:prstGeom prst="rect">
            <a:avLst/>
          </a:prstGeom>
          <a:noFill/>
        </p:spPr>
        <p:txBody>
          <a:bodyPr wrap="square" anchor="t" lIns="45720" rIns="45720" tIns="18288" bIns="18288">
            <a:spAutoFit/>
          </a:bodyPr>
          <a:lstStyle/>
          <a:p>
            <a:pPr algn="l"/>
            <a:r>
              <a:rPr sz="1400" b="1" i="0">
                <a:solidFill>
                  <a:srgbClr val="1E293B"/>
                </a:solidFill>
                <a:latin typeface="Arial"/>
              </a:rPr>
              <a:t>Multiply</a:t>
            </a:r>
          </a:p>
        </p:txBody>
      </p:sp>
      <p:sp>
        <p:nvSpPr>
          <p:cNvPr id="38" name="TextBox 37"/>
          <p:cNvSpPr txBox="1"/>
          <p:nvPr/>
        </p:nvSpPr>
        <p:spPr>
          <a:xfrm>
            <a:off x="6309360" y="4279392"/>
            <a:ext cx="5212080" cy="548640"/>
          </a:xfrm>
          <a:prstGeom prst="rect">
            <a:avLst/>
          </a:prstGeom>
          <a:noFill/>
        </p:spPr>
        <p:txBody>
          <a:bodyPr wrap="square" anchor="t" lIns="45720" rIns="45720" tIns="18288" bIns="18288">
            <a:spAutoFit/>
          </a:bodyPr>
          <a:lstStyle/>
          <a:p>
            <a:pPr algn="l"/>
            <a:r>
              <a:rPr sz="1100" b="0" i="0">
                <a:solidFill>
                  <a:srgbClr val="64748B"/>
                </a:solidFill>
                <a:latin typeface="Arial"/>
              </a:rPr>
              <a:t>Products of Aᵢ with itself encode angles and dihedrals — many-body information in one message (body order 4). This is the ACE idea.</a:t>
            </a:r>
          </a:p>
        </p:txBody>
      </p:sp>
      <p:sp>
        <p:nvSpPr>
          <p:cNvPr id="39" name="Rounded Rectangle 38"/>
          <p:cNvSpPr/>
          <p:nvPr/>
        </p:nvSpPr>
        <p:spPr>
          <a:xfrm>
            <a:off x="5532120" y="4937760"/>
            <a:ext cx="6080760" cy="960120"/>
          </a:xfrm>
          <a:prstGeom prst="roundRect">
            <a:avLst>
              <a:gd name="adj" fmla="val 8000"/>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5669280" y="5166360"/>
            <a:ext cx="502920" cy="502920"/>
          </a:xfrm>
          <a:prstGeom prst="ellipse">
            <a:avLst/>
          </a:prstGeom>
          <a:solidFill>
            <a:srgbClr val="5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4</a:t>
            </a:r>
          </a:p>
        </p:txBody>
      </p:sp>
      <p:sp>
        <p:nvSpPr>
          <p:cNvPr id="41" name="TextBox 40"/>
          <p:cNvSpPr txBox="1"/>
          <p:nvPr/>
        </p:nvSpPr>
        <p:spPr>
          <a:xfrm>
            <a:off x="6309360" y="5029200"/>
            <a:ext cx="5212080" cy="320040"/>
          </a:xfrm>
          <a:prstGeom prst="rect">
            <a:avLst/>
          </a:prstGeom>
          <a:noFill/>
        </p:spPr>
        <p:txBody>
          <a:bodyPr wrap="square" anchor="t" lIns="45720" rIns="45720" tIns="18288" bIns="18288">
            <a:spAutoFit/>
          </a:bodyPr>
          <a:lstStyle/>
          <a:p>
            <a:pPr algn="l"/>
            <a:r>
              <a:rPr sz="1400" b="1" i="0">
                <a:solidFill>
                  <a:srgbClr val="1E293B"/>
                </a:solidFill>
                <a:latin typeface="Arial"/>
              </a:rPr>
              <a:t>Update, read out, repeat</a:t>
            </a:r>
          </a:p>
        </p:txBody>
      </p:sp>
      <p:sp>
        <p:nvSpPr>
          <p:cNvPr id="42" name="TextBox 41"/>
          <p:cNvSpPr txBox="1"/>
          <p:nvPr/>
        </p:nvSpPr>
        <p:spPr>
          <a:xfrm>
            <a:off x="6309360" y="5330952"/>
            <a:ext cx="5212080" cy="548640"/>
          </a:xfrm>
          <a:prstGeom prst="rect">
            <a:avLst/>
          </a:prstGeom>
          <a:noFill/>
        </p:spPr>
        <p:txBody>
          <a:bodyPr wrap="square" anchor="t" lIns="45720" rIns="45720" tIns="18288" bIns="18288">
            <a:spAutoFit/>
          </a:bodyPr>
          <a:lstStyle/>
          <a:p>
            <a:pPr algn="l"/>
            <a:r>
              <a:rPr sz="1100" b="0" i="0">
                <a:solidFill>
                  <a:srgbClr val="64748B"/>
                </a:solidFill>
                <a:latin typeface="Arial"/>
              </a:rPr>
              <a:t>Update the atom's features; after 2 layers a readout gives Eᵢ. Total E = Σ Eᵢ; forces = −∂E/∂r.</a:t>
            </a:r>
          </a:p>
        </p:txBody>
      </p:sp>
      <p:sp>
        <p:nvSpPr>
          <p:cNvPr id="43" name="TextBox 42"/>
          <p:cNvSpPr txBox="1"/>
          <p:nvPr/>
        </p:nvSpPr>
        <p:spPr>
          <a:xfrm>
            <a:off x="5532120" y="6035040"/>
            <a:ext cx="6080760" cy="320040"/>
          </a:xfrm>
          <a:prstGeom prst="rect">
            <a:avLst/>
          </a:prstGeom>
          <a:noFill/>
        </p:spPr>
        <p:txBody>
          <a:bodyPr wrap="square" anchor="t" lIns="45720" rIns="45720" tIns="18288" bIns="18288">
            <a:spAutoFit/>
          </a:bodyPr>
          <a:lstStyle/>
          <a:p>
            <a:pPr algn="l"/>
            <a:r>
              <a:rPr sz="1100" b="1" i="0">
                <a:solidFill>
                  <a:srgbClr val="500000"/>
                </a:solidFill>
                <a:latin typeface="Arial"/>
              </a:rPr>
              <a:t>2 layers × 6 Å = 12 Å receptive field.  MACE-MP-0: 1.5 M structures, 89 elements, PBE.</a:t>
            </a:r>
          </a:p>
        </p:txBody>
      </p:sp>
      <p:sp>
        <p:nvSpPr>
          <p:cNvPr id="44" name="TextBox 43"/>
          <p:cNvSpPr txBox="1"/>
          <p:nvPr/>
        </p:nvSpPr>
        <p:spPr>
          <a:xfrm>
            <a:off x="548640" y="6428232"/>
            <a:ext cx="9601200" cy="228600"/>
          </a:xfrm>
          <a:prstGeom prst="rect">
            <a:avLst/>
          </a:prstGeom>
          <a:noFill/>
        </p:spPr>
        <p:txBody>
          <a:bodyPr wrap="square" anchor="t" lIns="45720" rIns="45720" tIns="18288" bIns="18288">
            <a:spAutoFit/>
          </a:bodyPr>
          <a:lstStyle/>
          <a:p>
            <a:pPr algn="l"/>
            <a:r>
              <a:rPr sz="900" b="0" i="0">
                <a:solidFill>
                  <a:srgbClr val="94A3B8"/>
                </a:solidFill>
                <a:latin typeface="Arial"/>
              </a:rPr>
              <a:t>Batatia, Kovács, Simm, Ortner &amp; Csányi, NeurIPS 2022; Batatia et al., arXiv:2401.00096 (MACE-MP-0)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anchor="t" lIns="45720" rIns="45720" tIns="18288" bIns="18288">
            <a:spAutoFit/>
          </a:bodyPr>
          <a:lstStyle/>
          <a:p>
            <a:pPr algn="l"/>
            <a:r>
              <a:rPr sz="1100" b="1" i="0">
                <a:solidFill>
                  <a:srgbClr val="B87878"/>
                </a:solidFill>
                <a:latin typeface="Arial"/>
              </a:rPr>
              <a:t>BACKUP · SYMMETRY</a:t>
            </a:r>
          </a:p>
        </p:txBody>
      </p:sp>
      <p:sp>
        <p:nvSpPr>
          <p:cNvPr id="3" name="TextBox 2"/>
          <p:cNvSpPr txBox="1"/>
          <p:nvPr/>
        </p:nvSpPr>
        <p:spPr>
          <a:xfrm>
            <a:off x="548640" y="566928"/>
            <a:ext cx="11064240" cy="640080"/>
          </a:xfrm>
          <a:prstGeom prst="rect">
            <a:avLst/>
          </a:prstGeom>
          <a:noFill/>
        </p:spPr>
        <p:txBody>
          <a:bodyPr wrap="square" anchor="t" lIns="45720" rIns="45720" tIns="18288" bIns="18288">
            <a:spAutoFit/>
          </a:bodyPr>
          <a:lstStyle/>
          <a:p>
            <a:pPr algn="l"/>
            <a:r>
              <a:rPr sz="3400" b="1" i="0">
                <a:solidFill>
                  <a:srgbClr val="500000"/>
                </a:solidFill>
                <a:latin typeface="Arial"/>
              </a:rPr>
              <a:t>Equivariance for absolute beginners</a:t>
            </a:r>
          </a:p>
        </p:txBody>
      </p:sp>
      <p:sp>
        <p:nvSpPr>
          <p:cNvPr id="4" name="TextBox 3"/>
          <p:cNvSpPr txBox="1"/>
          <p:nvPr/>
        </p:nvSpPr>
        <p:spPr>
          <a:xfrm>
            <a:off x="548640" y="1207008"/>
            <a:ext cx="11064240" cy="365760"/>
          </a:xfrm>
          <a:prstGeom prst="rect">
            <a:avLst/>
          </a:prstGeom>
          <a:noFill/>
        </p:spPr>
        <p:txBody>
          <a:bodyPr wrap="square" anchor="t" lIns="45720" rIns="45720" tIns="18288" bIns="18288">
            <a:spAutoFit/>
          </a:bodyPr>
          <a:lstStyle/>
          <a:p>
            <a:pPr algn="l"/>
            <a:r>
              <a:rPr sz="1500" b="0" i="1">
                <a:solidFill>
                  <a:srgbClr val="64748B"/>
                </a:solidFill>
                <a:latin typeface="Arial"/>
              </a:rPr>
              <a:t>Rotate the input and the output rotates with it — exactly, not approximately</a:t>
            </a:r>
          </a:p>
        </p:txBody>
      </p:sp>
      <p:sp>
        <p:nvSpPr>
          <p:cNvPr id="5" name="TextBox 4"/>
          <p:cNvSpPr txBox="1"/>
          <p:nvPr/>
        </p:nvSpPr>
        <p:spPr>
          <a:xfrm>
            <a:off x="11155680" y="6400800"/>
            <a:ext cx="548640" cy="228600"/>
          </a:xfrm>
          <a:prstGeom prst="rect">
            <a:avLst/>
          </a:prstGeom>
          <a:noFill/>
        </p:spPr>
        <p:txBody>
          <a:bodyPr wrap="square" anchor="t" lIns="45720" rIns="45720" tIns="18288" bIns="18288">
            <a:spAutoFit/>
          </a:bodyPr>
          <a:lstStyle/>
          <a:p>
            <a:pPr algn="r"/>
            <a:r>
              <a:rPr sz="1000" b="1" i="0">
                <a:solidFill>
                  <a:srgbClr val="500000"/>
                </a:solidFill>
                <a:latin typeface="Arial"/>
              </a:rPr>
              <a:t>15</a:t>
            </a:r>
          </a:p>
        </p:txBody>
      </p:sp>
      <p:sp>
        <p:nvSpPr>
          <p:cNvPr id="6" name="Rounded Rectangle 5"/>
          <p:cNvSpPr/>
          <p:nvPr/>
        </p:nvSpPr>
        <p:spPr>
          <a:xfrm>
            <a:off x="548640" y="1783080"/>
            <a:ext cx="5532120" cy="3246120"/>
          </a:xfrm>
          <a:prstGeom prst="roundRect">
            <a:avLst>
              <a:gd name="adj" fmla="val 8000"/>
            </a:avLst>
          </a:prstGeom>
          <a:solidFill>
            <a:srgbClr val="F5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920240"/>
            <a:ext cx="5120640" cy="365760"/>
          </a:xfrm>
          <a:prstGeom prst="rect">
            <a:avLst/>
          </a:prstGeom>
          <a:noFill/>
        </p:spPr>
        <p:txBody>
          <a:bodyPr wrap="square" anchor="t" lIns="45720" rIns="45720" tIns="18288" bIns="18288">
            <a:spAutoFit/>
          </a:bodyPr>
          <a:lstStyle/>
          <a:p>
            <a:pPr algn="l"/>
            <a:r>
              <a:rPr sz="1600" b="1" i="0">
                <a:solidFill>
                  <a:srgbClr val="1E293B"/>
                </a:solidFill>
                <a:latin typeface="Arial"/>
              </a:rPr>
              <a:t>Invariant: the energy</a:t>
            </a:r>
          </a:p>
        </p:txBody>
      </p:sp>
      <p:sp>
        <p:nvSpPr>
          <p:cNvPr id="8" name="TextBox 7"/>
          <p:cNvSpPr txBox="1"/>
          <p:nvPr/>
        </p:nvSpPr>
        <p:spPr>
          <a:xfrm>
            <a:off x="777240" y="2286000"/>
            <a:ext cx="5120640" cy="365760"/>
          </a:xfrm>
          <a:prstGeom prst="rect">
            <a:avLst/>
          </a:prstGeom>
          <a:noFill/>
        </p:spPr>
        <p:txBody>
          <a:bodyPr wrap="square" anchor="t" lIns="45720" rIns="45720" tIns="18288" bIns="18288">
            <a:spAutoFit/>
          </a:bodyPr>
          <a:lstStyle/>
          <a:p>
            <a:pPr algn="l"/>
            <a:r>
              <a:rPr sz="1200" b="0" i="0">
                <a:solidFill>
                  <a:srgbClr val="64748B"/>
                </a:solidFill>
                <a:latin typeface="Arial"/>
              </a:rPr>
              <a:t>Rotate the molecule → the same number comes out</a:t>
            </a:r>
          </a:p>
        </p:txBody>
      </p:sp>
      <p:cxnSp>
        <p:nvCxnSpPr>
          <p:cNvPr id="9" name="Connector 8"/>
          <p:cNvCxnSpPr/>
          <p:nvPr/>
        </p:nvCxnSpPr>
        <p:spPr>
          <a:xfrm>
            <a:off x="2011680" y="3291840"/>
            <a:ext cx="548640" cy="868680"/>
          </a:xfrm>
          <a:prstGeom prst="line">
            <a:avLst/>
          </a:prstGeom>
          <a:ln w="15875">
            <a:solidFill>
              <a:srgbClr val="94A3B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1463040" y="4160520"/>
            <a:ext cx="1097280" cy="0"/>
          </a:xfrm>
          <a:prstGeom prst="line">
            <a:avLst/>
          </a:prstGeom>
          <a:ln w="15875">
            <a:solidFill>
              <a:srgbClr val="94A3B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463040" y="3291840"/>
            <a:ext cx="548640" cy="868680"/>
          </a:xfrm>
          <a:prstGeom prst="line">
            <a:avLst/>
          </a:prstGeom>
          <a:ln w="15875">
            <a:solidFill>
              <a:srgbClr val="94A3B8"/>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856232" y="3136392"/>
            <a:ext cx="310896" cy="310896"/>
          </a:xfrm>
          <a:prstGeom prst="ellipse">
            <a:avLst/>
          </a:prstGeom>
          <a:solidFill>
            <a:srgbClr val="5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2404872" y="4005072"/>
            <a:ext cx="310896" cy="310896"/>
          </a:xfrm>
          <a:prstGeom prst="ellipse">
            <a:avLst/>
          </a:prstGeom>
          <a:solidFill>
            <a:srgbClr val="B8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307592" y="4005072"/>
            <a:ext cx="310896" cy="310896"/>
          </a:xfrm>
          <a:prstGeom prst="ellipse">
            <a:avLst/>
          </a:prstGeom>
          <a:solidFill>
            <a:srgbClr val="B8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88720" y="4480560"/>
            <a:ext cx="1645920" cy="320040"/>
          </a:xfrm>
          <a:prstGeom prst="rect">
            <a:avLst/>
          </a:prstGeom>
          <a:noFill/>
        </p:spPr>
        <p:txBody>
          <a:bodyPr wrap="square" anchor="t" lIns="45720" rIns="45720" tIns="18288" bIns="18288">
            <a:spAutoFit/>
          </a:bodyPr>
          <a:lstStyle/>
          <a:p>
            <a:pPr algn="ctr"/>
            <a:r>
              <a:rPr sz="1200" b="1" i="0">
                <a:solidFill>
                  <a:srgbClr val="500000"/>
                </a:solidFill>
                <a:latin typeface="Cambria Math"/>
              </a:rPr>
              <a:t>E = −3.72 eV</a:t>
            </a:r>
          </a:p>
        </p:txBody>
      </p:sp>
      <p:cxnSp>
        <p:nvCxnSpPr>
          <p:cNvPr id="16" name="Connector 15"/>
          <p:cNvCxnSpPr/>
          <p:nvPr/>
        </p:nvCxnSpPr>
        <p:spPr>
          <a:xfrm>
            <a:off x="4663440" y="3291840"/>
            <a:ext cx="548639" cy="868680"/>
          </a:xfrm>
          <a:prstGeom prst="line">
            <a:avLst/>
          </a:prstGeom>
          <a:ln w="15875">
            <a:solidFill>
              <a:srgbClr val="94A3B8"/>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4114800" y="4160520"/>
            <a:ext cx="1097279" cy="0"/>
          </a:xfrm>
          <a:prstGeom prst="line">
            <a:avLst/>
          </a:prstGeom>
          <a:ln w="15875">
            <a:solidFill>
              <a:srgbClr val="94A3B8"/>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4114800" y="3291840"/>
            <a:ext cx="548640" cy="868680"/>
          </a:xfrm>
          <a:prstGeom prst="line">
            <a:avLst/>
          </a:prstGeom>
          <a:ln w="15875">
            <a:solidFill>
              <a:srgbClr val="94A3B8"/>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4507992" y="3136392"/>
            <a:ext cx="310896" cy="310896"/>
          </a:xfrm>
          <a:prstGeom prst="ellipse">
            <a:avLst/>
          </a:prstGeom>
          <a:solidFill>
            <a:srgbClr val="5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056631" y="4005072"/>
            <a:ext cx="310896" cy="310896"/>
          </a:xfrm>
          <a:prstGeom prst="ellipse">
            <a:avLst/>
          </a:prstGeom>
          <a:solidFill>
            <a:srgbClr val="B8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3959352" y="4005072"/>
            <a:ext cx="310896" cy="310896"/>
          </a:xfrm>
          <a:prstGeom prst="ellipse">
            <a:avLst/>
          </a:prstGeom>
          <a:solidFill>
            <a:srgbClr val="B8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840479" y="4480560"/>
            <a:ext cx="1645920" cy="320040"/>
          </a:xfrm>
          <a:prstGeom prst="rect">
            <a:avLst/>
          </a:prstGeom>
          <a:noFill/>
        </p:spPr>
        <p:txBody>
          <a:bodyPr wrap="square" anchor="t" lIns="45720" rIns="45720" tIns="18288" bIns="18288">
            <a:spAutoFit/>
          </a:bodyPr>
          <a:lstStyle/>
          <a:p>
            <a:pPr algn="ctr"/>
            <a:r>
              <a:rPr sz="1200" b="1" i="0">
                <a:solidFill>
                  <a:srgbClr val="500000"/>
                </a:solidFill>
                <a:latin typeface="Cambria Math"/>
              </a:rPr>
              <a:t>E = −3.72 eV</a:t>
            </a:r>
          </a:p>
        </p:txBody>
      </p:sp>
      <p:sp>
        <p:nvSpPr>
          <p:cNvPr id="23" name="TextBox 22"/>
          <p:cNvSpPr txBox="1"/>
          <p:nvPr/>
        </p:nvSpPr>
        <p:spPr>
          <a:xfrm>
            <a:off x="3063240" y="3657600"/>
            <a:ext cx="548640" cy="365760"/>
          </a:xfrm>
          <a:prstGeom prst="rect">
            <a:avLst/>
          </a:prstGeom>
          <a:noFill/>
        </p:spPr>
        <p:txBody>
          <a:bodyPr wrap="square" anchor="t" lIns="45720" rIns="45720" tIns="18288" bIns="18288">
            <a:spAutoFit/>
          </a:bodyPr>
          <a:lstStyle/>
          <a:p>
            <a:pPr algn="ctr"/>
            <a:r>
              <a:rPr sz="2000" b="1" i="0">
                <a:solidFill>
                  <a:srgbClr val="64748B"/>
                </a:solidFill>
                <a:latin typeface="Arial"/>
              </a:rPr>
              <a:t>→</a:t>
            </a:r>
          </a:p>
        </p:txBody>
      </p:sp>
      <p:sp>
        <p:nvSpPr>
          <p:cNvPr id="24" name="TextBox 23"/>
          <p:cNvSpPr txBox="1"/>
          <p:nvPr/>
        </p:nvSpPr>
        <p:spPr>
          <a:xfrm>
            <a:off x="777240" y="4572000"/>
            <a:ext cx="5120640" cy="365760"/>
          </a:xfrm>
          <a:prstGeom prst="rect">
            <a:avLst/>
          </a:prstGeom>
          <a:noFill/>
        </p:spPr>
        <p:txBody>
          <a:bodyPr wrap="square" anchor="t" lIns="45720" rIns="45720" tIns="18288" bIns="18288">
            <a:spAutoFit/>
          </a:bodyPr>
          <a:lstStyle/>
          <a:p>
            <a:pPr algn="ctr"/>
            <a:r>
              <a:rPr sz="1100" b="0" i="1">
                <a:solidFill>
                  <a:srgbClr val="64748B"/>
                </a:solidFill>
                <a:latin typeface="Arial"/>
              </a:rPr>
              <a:t>same energy</a:t>
            </a:r>
          </a:p>
        </p:txBody>
      </p:sp>
      <p:sp>
        <p:nvSpPr>
          <p:cNvPr id="25" name="Rounded Rectangle 24"/>
          <p:cNvSpPr/>
          <p:nvPr/>
        </p:nvSpPr>
        <p:spPr>
          <a:xfrm>
            <a:off x="6080760" y="1783080"/>
            <a:ext cx="5532120" cy="3246120"/>
          </a:xfrm>
          <a:prstGeom prst="roundRect">
            <a:avLst>
              <a:gd name="adj" fmla="val 8000"/>
            </a:avLst>
          </a:prstGeom>
          <a:solidFill>
            <a:srgbClr val="F5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09360" y="1920240"/>
            <a:ext cx="5120640" cy="365760"/>
          </a:xfrm>
          <a:prstGeom prst="rect">
            <a:avLst/>
          </a:prstGeom>
          <a:noFill/>
        </p:spPr>
        <p:txBody>
          <a:bodyPr wrap="square" anchor="t" lIns="45720" rIns="45720" tIns="18288" bIns="18288">
            <a:spAutoFit/>
          </a:bodyPr>
          <a:lstStyle/>
          <a:p>
            <a:pPr algn="l"/>
            <a:r>
              <a:rPr sz="1600" b="1" i="0">
                <a:solidFill>
                  <a:srgbClr val="1E293B"/>
                </a:solidFill>
                <a:latin typeface="Arial"/>
              </a:rPr>
              <a:t>Equivariant: the forces</a:t>
            </a:r>
          </a:p>
        </p:txBody>
      </p:sp>
      <p:sp>
        <p:nvSpPr>
          <p:cNvPr id="27" name="TextBox 26"/>
          <p:cNvSpPr txBox="1"/>
          <p:nvPr/>
        </p:nvSpPr>
        <p:spPr>
          <a:xfrm>
            <a:off x="6309360" y="2286000"/>
            <a:ext cx="5120640" cy="365760"/>
          </a:xfrm>
          <a:prstGeom prst="rect">
            <a:avLst/>
          </a:prstGeom>
          <a:noFill/>
        </p:spPr>
        <p:txBody>
          <a:bodyPr wrap="square" anchor="t" lIns="45720" rIns="45720" tIns="18288" bIns="18288">
            <a:spAutoFit/>
          </a:bodyPr>
          <a:lstStyle/>
          <a:p>
            <a:pPr algn="l"/>
            <a:r>
              <a:rPr sz="1200" b="0" i="0">
                <a:solidFill>
                  <a:srgbClr val="64748B"/>
                </a:solidFill>
                <a:latin typeface="Arial"/>
              </a:rPr>
              <a:t>Rotate the molecule → the force arrows rotate with it</a:t>
            </a:r>
          </a:p>
        </p:txBody>
      </p:sp>
      <p:cxnSp>
        <p:nvCxnSpPr>
          <p:cNvPr id="28" name="Connector 27"/>
          <p:cNvCxnSpPr/>
          <p:nvPr/>
        </p:nvCxnSpPr>
        <p:spPr>
          <a:xfrm>
            <a:off x="7543800" y="3291840"/>
            <a:ext cx="548640" cy="868680"/>
          </a:xfrm>
          <a:prstGeom prst="line">
            <a:avLst/>
          </a:prstGeom>
          <a:ln w="15875">
            <a:solidFill>
              <a:srgbClr val="94A3B8"/>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a:off x="6995160" y="4160520"/>
            <a:ext cx="1097280" cy="0"/>
          </a:xfrm>
          <a:prstGeom prst="line">
            <a:avLst/>
          </a:prstGeom>
          <a:ln w="15875">
            <a:solidFill>
              <a:srgbClr val="94A3B8"/>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6995160" y="3291840"/>
            <a:ext cx="548640" cy="868680"/>
          </a:xfrm>
          <a:prstGeom prst="line">
            <a:avLst/>
          </a:prstGeom>
          <a:ln w="15875">
            <a:solidFill>
              <a:srgbClr val="94A3B8"/>
            </a:solidFill>
          </a:ln>
        </p:spPr>
        <p:style>
          <a:lnRef idx="2">
            <a:schemeClr val="accent1"/>
          </a:lnRef>
          <a:fillRef idx="0">
            <a:schemeClr val="accent1"/>
          </a:fillRef>
          <a:effectRef idx="1">
            <a:schemeClr val="accent1"/>
          </a:effectRef>
          <a:fontRef idx="minor">
            <a:schemeClr val="tx1"/>
          </a:fontRef>
        </p:style>
      </p:cxnSp>
      <p:sp>
        <p:nvSpPr>
          <p:cNvPr id="31" name="Oval 30"/>
          <p:cNvSpPr/>
          <p:nvPr/>
        </p:nvSpPr>
        <p:spPr>
          <a:xfrm>
            <a:off x="7388352" y="3136392"/>
            <a:ext cx="310896" cy="310896"/>
          </a:xfrm>
          <a:prstGeom prst="ellipse">
            <a:avLst/>
          </a:prstGeom>
          <a:solidFill>
            <a:srgbClr val="5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936992" y="4005072"/>
            <a:ext cx="310896" cy="310896"/>
          </a:xfrm>
          <a:prstGeom prst="ellipse">
            <a:avLst/>
          </a:prstGeom>
          <a:solidFill>
            <a:srgbClr val="B8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839712" y="4005072"/>
            <a:ext cx="310896" cy="310896"/>
          </a:xfrm>
          <a:prstGeom prst="ellipse">
            <a:avLst/>
          </a:prstGeom>
          <a:solidFill>
            <a:srgbClr val="B8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4" name="Connector 33"/>
          <p:cNvCxnSpPr/>
          <p:nvPr/>
        </p:nvCxnSpPr>
        <p:spPr>
          <a:xfrm flipV="1">
            <a:off x="7543800" y="2788920"/>
            <a:ext cx="0" cy="502920"/>
          </a:xfrm>
          <a:prstGeom prst="line">
            <a:avLst/>
          </a:prstGeom>
          <a:ln w="28575">
            <a:solidFill>
              <a:srgbClr val="C9A22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8092440" y="4160520"/>
            <a:ext cx="418454" cy="278969"/>
          </a:xfrm>
          <a:prstGeom prst="line">
            <a:avLst/>
          </a:prstGeom>
          <a:ln w="28575">
            <a:solidFill>
              <a:srgbClr val="C9A22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a:off x="6576705" y="4160520"/>
            <a:ext cx="418455" cy="278969"/>
          </a:xfrm>
          <a:prstGeom prst="line">
            <a:avLst/>
          </a:prstGeom>
          <a:ln w="28575">
            <a:solidFill>
              <a:srgbClr val="C9A22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a:off x="10435188" y="3382792"/>
            <a:ext cx="48835" cy="1026268"/>
          </a:xfrm>
          <a:prstGeom prst="line">
            <a:avLst/>
          </a:prstGeom>
          <a:ln w="15875">
            <a:solidFill>
              <a:srgbClr val="94A3B8"/>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9536349" y="3779686"/>
            <a:ext cx="898839" cy="629374"/>
          </a:xfrm>
          <a:prstGeom prst="line">
            <a:avLst/>
          </a:prstGeom>
          <a:ln w="15875">
            <a:solidFill>
              <a:srgbClr val="94A3B8"/>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9536349" y="3382792"/>
            <a:ext cx="947674" cy="396894"/>
          </a:xfrm>
          <a:prstGeom prst="line">
            <a:avLst/>
          </a:prstGeom>
          <a:ln w="15875">
            <a:solidFill>
              <a:srgbClr val="94A3B8"/>
            </a:solidFill>
          </a:ln>
        </p:spPr>
        <p:style>
          <a:lnRef idx="2">
            <a:schemeClr val="accent1"/>
          </a:lnRef>
          <a:fillRef idx="0">
            <a:schemeClr val="accent1"/>
          </a:fillRef>
          <a:effectRef idx="1">
            <a:schemeClr val="accent1"/>
          </a:effectRef>
          <a:fontRef idx="minor">
            <a:schemeClr val="tx1"/>
          </a:fontRef>
        </p:style>
      </p:cxnSp>
      <p:sp>
        <p:nvSpPr>
          <p:cNvPr id="40" name="Oval 39"/>
          <p:cNvSpPr/>
          <p:nvPr/>
        </p:nvSpPr>
        <p:spPr>
          <a:xfrm>
            <a:off x="10328575" y="3227344"/>
            <a:ext cx="310896" cy="310896"/>
          </a:xfrm>
          <a:prstGeom prst="ellipse">
            <a:avLst/>
          </a:prstGeom>
          <a:solidFill>
            <a:srgbClr val="5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10279740" y="4253612"/>
            <a:ext cx="310896" cy="310896"/>
          </a:xfrm>
          <a:prstGeom prst="ellipse">
            <a:avLst/>
          </a:prstGeom>
          <a:solidFill>
            <a:srgbClr val="B8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9380901" y="3624238"/>
            <a:ext cx="310896" cy="310896"/>
          </a:xfrm>
          <a:prstGeom prst="ellipse">
            <a:avLst/>
          </a:prstGeom>
          <a:solidFill>
            <a:srgbClr val="B8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3" name="Connector 42"/>
          <p:cNvCxnSpPr/>
          <p:nvPr/>
        </p:nvCxnSpPr>
        <p:spPr>
          <a:xfrm flipV="1">
            <a:off x="10484023" y="2970824"/>
            <a:ext cx="288463" cy="411968"/>
          </a:xfrm>
          <a:prstGeom prst="line">
            <a:avLst/>
          </a:prstGeom>
          <a:ln w="28575">
            <a:solidFill>
              <a:srgbClr val="C9A22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10435188" y="4409060"/>
            <a:ext cx="182767" cy="468534"/>
          </a:xfrm>
          <a:prstGeom prst="line">
            <a:avLst/>
          </a:prstGeom>
          <a:ln w="28575">
            <a:solidFill>
              <a:srgbClr val="C9A22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9033560" y="3768189"/>
            <a:ext cx="502789" cy="11497"/>
          </a:xfrm>
          <a:prstGeom prst="line">
            <a:avLst/>
          </a:prstGeom>
          <a:ln w="28575">
            <a:solidFill>
              <a:srgbClr val="C9A22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8595360" y="3657600"/>
            <a:ext cx="548640" cy="365760"/>
          </a:xfrm>
          <a:prstGeom prst="rect">
            <a:avLst/>
          </a:prstGeom>
          <a:noFill/>
        </p:spPr>
        <p:txBody>
          <a:bodyPr wrap="square" anchor="t" lIns="45720" rIns="45720" tIns="18288" bIns="18288">
            <a:spAutoFit/>
          </a:bodyPr>
          <a:lstStyle/>
          <a:p>
            <a:pPr algn="ctr"/>
            <a:r>
              <a:rPr sz="2000" b="1" i="0">
                <a:solidFill>
                  <a:srgbClr val="64748B"/>
                </a:solidFill>
                <a:latin typeface="Arial"/>
              </a:rPr>
              <a:t>→</a:t>
            </a:r>
          </a:p>
        </p:txBody>
      </p:sp>
      <p:sp>
        <p:nvSpPr>
          <p:cNvPr id="47" name="TextBox 46"/>
          <p:cNvSpPr txBox="1"/>
          <p:nvPr/>
        </p:nvSpPr>
        <p:spPr>
          <a:xfrm>
            <a:off x="6309360" y="4572000"/>
            <a:ext cx="5120640" cy="365760"/>
          </a:xfrm>
          <a:prstGeom prst="rect">
            <a:avLst/>
          </a:prstGeom>
          <a:noFill/>
        </p:spPr>
        <p:txBody>
          <a:bodyPr wrap="square" anchor="t" lIns="45720" rIns="45720" tIns="18288" bIns="18288">
            <a:spAutoFit/>
          </a:bodyPr>
          <a:lstStyle/>
          <a:p>
            <a:pPr algn="ctr"/>
            <a:r>
              <a:rPr sz="1100" b="0" i="1">
                <a:solidFill>
                  <a:srgbClr val="64748B"/>
                </a:solidFill>
                <a:latin typeface="Arial"/>
              </a:rPr>
              <a:t>arrows turned by the same angle — nothing else changed</a:t>
            </a:r>
          </a:p>
        </p:txBody>
      </p:sp>
      <p:sp>
        <p:nvSpPr>
          <p:cNvPr id="48" name="Rounded Rectangle 47"/>
          <p:cNvSpPr/>
          <p:nvPr/>
        </p:nvSpPr>
        <p:spPr>
          <a:xfrm>
            <a:off x="548640" y="5257800"/>
            <a:ext cx="11064240" cy="868680"/>
          </a:xfrm>
          <a:prstGeom prst="roundRect">
            <a:avLst>
              <a:gd name="adj" fmla="val 8000"/>
            </a:avLst>
          </a:prstGeom>
          <a:solidFill>
            <a:srgbClr val="5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77240" y="5349240"/>
            <a:ext cx="10607040" cy="685800"/>
          </a:xfrm>
          <a:prstGeom prst="rect">
            <a:avLst/>
          </a:prstGeom>
          <a:noFill/>
        </p:spPr>
        <p:txBody>
          <a:bodyPr wrap="square" anchor="t" lIns="45720" rIns="45720" tIns="18288" bIns="18288">
            <a:spAutoFit/>
          </a:bodyPr>
          <a:lstStyle/>
          <a:p>
            <a:pPr algn="l"/>
            <a:r>
              <a:rPr sz="1250" b="0" i="0">
                <a:solidFill>
                  <a:srgbClr val="FFFFFF"/>
                </a:solidFill>
                <a:latin typeface="Arial"/>
              </a:rPr>
              <a:t>Why it matters: forces are vectors. A network that must learn rotation from data wastes data and still gets it slightly wrong.</a:t>
            </a:r>
          </a:p>
          <a:p>
            <a:pPr algn="l"/>
            <a:r>
              <a:rPr sz="1250" b="0" i="0">
                <a:solidFill>
                  <a:srgbClr val="FFFFFF"/>
                </a:solidFill>
                <a:latin typeface="Arial"/>
              </a:rPr>
              <a:t>MACE builds the symmetry in — its features carry rotation labels (spherical harmonics), so symmetry is exact and training data goes further.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anchor="t" lIns="45720" rIns="45720" tIns="18288" bIns="18288">
            <a:spAutoFit/>
          </a:bodyPr>
          <a:lstStyle/>
          <a:p>
            <a:pPr algn="l"/>
            <a:r>
              <a:rPr sz="1100" b="1" i="0">
                <a:solidFill>
                  <a:srgbClr val="B87878"/>
                </a:solidFill>
                <a:latin typeface="Arial"/>
              </a:rPr>
              <a:t>BACKUP · THE MATH</a:t>
            </a:r>
          </a:p>
        </p:txBody>
      </p:sp>
      <p:sp>
        <p:nvSpPr>
          <p:cNvPr id="3" name="TextBox 2"/>
          <p:cNvSpPr txBox="1"/>
          <p:nvPr/>
        </p:nvSpPr>
        <p:spPr>
          <a:xfrm>
            <a:off x="548640" y="566928"/>
            <a:ext cx="11064240" cy="640080"/>
          </a:xfrm>
          <a:prstGeom prst="rect">
            <a:avLst/>
          </a:prstGeom>
          <a:noFill/>
        </p:spPr>
        <p:txBody>
          <a:bodyPr wrap="square" anchor="t" lIns="45720" rIns="45720" tIns="18288" bIns="18288">
            <a:spAutoFit/>
          </a:bodyPr>
          <a:lstStyle/>
          <a:p>
            <a:pPr algn="l"/>
            <a:r>
              <a:rPr sz="3400" b="1" i="0">
                <a:solidFill>
                  <a:srgbClr val="500000"/>
                </a:solidFill>
                <a:latin typeface="Arial"/>
              </a:rPr>
              <a:t>The math behind MACE, gently</a:t>
            </a:r>
          </a:p>
        </p:txBody>
      </p:sp>
      <p:sp>
        <p:nvSpPr>
          <p:cNvPr id="4" name="TextBox 3"/>
          <p:cNvSpPr txBox="1"/>
          <p:nvPr/>
        </p:nvSpPr>
        <p:spPr>
          <a:xfrm>
            <a:off x="548640" y="1207008"/>
            <a:ext cx="11064240" cy="365760"/>
          </a:xfrm>
          <a:prstGeom prst="rect">
            <a:avLst/>
          </a:prstGeom>
          <a:noFill/>
        </p:spPr>
        <p:txBody>
          <a:bodyPr wrap="square" anchor="t" lIns="45720" rIns="45720" tIns="18288" bIns="18288">
            <a:spAutoFit/>
          </a:bodyPr>
          <a:lstStyle/>
          <a:p>
            <a:pPr algn="l"/>
            <a:r>
              <a:rPr sz="1500" b="0" i="1">
                <a:solidFill>
                  <a:srgbClr val="64748B"/>
                </a:solidFill>
                <a:latin typeface="Arial"/>
              </a:rPr>
              <a:t>Four equations, each with a plain-language reading</a:t>
            </a:r>
          </a:p>
        </p:txBody>
      </p:sp>
      <p:sp>
        <p:nvSpPr>
          <p:cNvPr id="5" name="TextBox 4"/>
          <p:cNvSpPr txBox="1"/>
          <p:nvPr/>
        </p:nvSpPr>
        <p:spPr>
          <a:xfrm>
            <a:off x="11155680" y="6400800"/>
            <a:ext cx="548640" cy="228600"/>
          </a:xfrm>
          <a:prstGeom prst="rect">
            <a:avLst/>
          </a:prstGeom>
          <a:noFill/>
        </p:spPr>
        <p:txBody>
          <a:bodyPr wrap="square" anchor="t" lIns="45720" rIns="45720" tIns="18288" bIns="18288">
            <a:spAutoFit/>
          </a:bodyPr>
          <a:lstStyle/>
          <a:p>
            <a:pPr algn="r"/>
            <a:r>
              <a:rPr sz="1000" b="1" i="0">
                <a:solidFill>
                  <a:srgbClr val="500000"/>
                </a:solidFill>
                <a:latin typeface="Arial"/>
              </a:rPr>
              <a:t>16</a:t>
            </a:r>
          </a:p>
        </p:txBody>
      </p:sp>
      <p:sp>
        <p:nvSpPr>
          <p:cNvPr id="6" name="Rounded Rectangle 5"/>
          <p:cNvSpPr/>
          <p:nvPr/>
        </p:nvSpPr>
        <p:spPr>
          <a:xfrm>
            <a:off x="548640" y="1783080"/>
            <a:ext cx="11064240" cy="987552"/>
          </a:xfrm>
          <a:prstGeom prst="roundRect">
            <a:avLst>
              <a:gd name="adj" fmla="val 8000"/>
            </a:avLst>
          </a:prstGeom>
          <a:solidFill>
            <a:srgbClr val="F5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31520" y="2029967"/>
            <a:ext cx="502920" cy="502920"/>
          </a:xfrm>
          <a:prstGeom prst="ellipse">
            <a:avLst/>
          </a:prstGeom>
          <a:solidFill>
            <a:srgbClr val="5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1</a:t>
            </a:r>
          </a:p>
        </p:txBody>
      </p:sp>
      <p:sp>
        <p:nvSpPr>
          <p:cNvPr id="8" name="TextBox 7"/>
          <p:cNvSpPr txBox="1"/>
          <p:nvPr/>
        </p:nvSpPr>
        <p:spPr>
          <a:xfrm>
            <a:off x="1417320" y="1892807"/>
            <a:ext cx="4389120" cy="777240"/>
          </a:xfrm>
          <a:prstGeom prst="rect">
            <a:avLst/>
          </a:prstGeom>
          <a:noFill/>
        </p:spPr>
        <p:txBody>
          <a:bodyPr wrap="square" anchor="ctr" lIns="45720" rIns="45720" tIns="18288" bIns="18288">
            <a:spAutoFit/>
          </a:bodyPr>
          <a:lstStyle/>
          <a:p>
            <a:pPr algn="l"/>
            <a:r>
              <a:rPr sz="1700" b="1" i="0">
                <a:solidFill>
                  <a:srgbClr val="500000"/>
                </a:solidFill>
                <a:latin typeface="Cambria Math"/>
              </a:rPr>
              <a:t>E = Σᵢ Eᵢ</a:t>
            </a:r>
          </a:p>
        </p:txBody>
      </p:sp>
      <p:sp>
        <p:nvSpPr>
          <p:cNvPr id="9" name="TextBox 8"/>
          <p:cNvSpPr txBox="1"/>
          <p:nvPr/>
        </p:nvSpPr>
        <p:spPr>
          <a:xfrm>
            <a:off x="5897880" y="1874519"/>
            <a:ext cx="5577840" cy="822960"/>
          </a:xfrm>
          <a:prstGeom prst="rect">
            <a:avLst/>
          </a:prstGeom>
          <a:noFill/>
        </p:spPr>
        <p:txBody>
          <a:bodyPr wrap="square" anchor="ctr" lIns="45720" rIns="45720" tIns="18288" bIns="18288">
            <a:spAutoFit/>
          </a:bodyPr>
          <a:lstStyle/>
          <a:p>
            <a:pPr algn="l"/>
            <a:r>
              <a:rPr sz="1150" b="0" i="0">
                <a:solidFill>
                  <a:srgbClr val="64748B"/>
                </a:solidFill>
                <a:latin typeface="Arial"/>
              </a:rPr>
              <a:t>The total energy is a sum of per-atom energies. Each Eᵢ depends only on atoms within the cut-off.</a:t>
            </a:r>
          </a:p>
        </p:txBody>
      </p:sp>
      <p:sp>
        <p:nvSpPr>
          <p:cNvPr id="10" name="Rounded Rectangle 9"/>
          <p:cNvSpPr/>
          <p:nvPr/>
        </p:nvSpPr>
        <p:spPr>
          <a:xfrm>
            <a:off x="548640" y="2862072"/>
            <a:ext cx="11064240" cy="987552"/>
          </a:xfrm>
          <a:prstGeom prst="roundRect">
            <a:avLst>
              <a:gd name="adj" fmla="val 8000"/>
            </a:avLst>
          </a:prstGeom>
          <a:solidFill>
            <a:srgbClr val="F5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31520" y="3108960"/>
            <a:ext cx="502920" cy="502920"/>
          </a:xfrm>
          <a:prstGeom prst="ellipse">
            <a:avLst/>
          </a:prstGeom>
          <a:solidFill>
            <a:srgbClr val="5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2</a:t>
            </a:r>
          </a:p>
        </p:txBody>
      </p:sp>
      <p:sp>
        <p:nvSpPr>
          <p:cNvPr id="12" name="TextBox 11"/>
          <p:cNvSpPr txBox="1"/>
          <p:nvPr/>
        </p:nvSpPr>
        <p:spPr>
          <a:xfrm>
            <a:off x="1417320" y="2971800"/>
            <a:ext cx="4389120" cy="777240"/>
          </a:xfrm>
          <a:prstGeom prst="rect">
            <a:avLst/>
          </a:prstGeom>
          <a:noFill/>
        </p:spPr>
        <p:txBody>
          <a:bodyPr wrap="square" anchor="ctr" lIns="45720" rIns="45720" tIns="18288" bIns="18288">
            <a:spAutoFit/>
          </a:bodyPr>
          <a:lstStyle/>
          <a:p>
            <a:pPr algn="l"/>
            <a:r>
              <a:rPr sz="1700" b="1" i="0">
                <a:solidFill>
                  <a:srgbClr val="500000"/>
                </a:solidFill>
                <a:latin typeface="Cambria Math"/>
              </a:rPr>
              <a:t>Aᵢ = Σⱼ R(rᵢⱼ) · Y(r̂ᵢⱼ) ⊗ hⱼ</a:t>
            </a:r>
          </a:p>
        </p:txBody>
      </p:sp>
      <p:sp>
        <p:nvSpPr>
          <p:cNvPr id="13" name="TextBox 12"/>
          <p:cNvSpPr txBox="1"/>
          <p:nvPr/>
        </p:nvSpPr>
        <p:spPr>
          <a:xfrm>
            <a:off x="5897880" y="2953512"/>
            <a:ext cx="5577840" cy="822960"/>
          </a:xfrm>
          <a:prstGeom prst="rect">
            <a:avLst/>
          </a:prstGeom>
          <a:noFill/>
        </p:spPr>
        <p:txBody>
          <a:bodyPr wrap="square" anchor="ctr" lIns="45720" rIns="45720" tIns="18288" bIns="18288">
            <a:spAutoFit/>
          </a:bodyPr>
          <a:lstStyle/>
          <a:p>
            <a:pPr algn="l"/>
            <a:r>
              <a:rPr sz="1150" b="0" i="0">
                <a:solidFill>
                  <a:srgbClr val="64748B"/>
                </a:solidFill>
                <a:latin typeface="Arial"/>
              </a:rPr>
              <a:t>Collect the neighbours: a radial function of the distance, spherical harmonics of the direction, and the neighbour's features. Summing over j makes it a two-body descriptor.</a:t>
            </a:r>
          </a:p>
        </p:txBody>
      </p:sp>
      <p:sp>
        <p:nvSpPr>
          <p:cNvPr id="14" name="Rounded Rectangle 13"/>
          <p:cNvSpPr/>
          <p:nvPr/>
        </p:nvSpPr>
        <p:spPr>
          <a:xfrm>
            <a:off x="548640" y="3941063"/>
            <a:ext cx="11064240" cy="987552"/>
          </a:xfrm>
          <a:prstGeom prst="roundRect">
            <a:avLst>
              <a:gd name="adj" fmla="val 8000"/>
            </a:avLst>
          </a:prstGeom>
          <a:solidFill>
            <a:srgbClr val="F5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731520" y="4187952"/>
            <a:ext cx="502920" cy="502920"/>
          </a:xfrm>
          <a:prstGeom prst="ellipse">
            <a:avLst/>
          </a:prstGeom>
          <a:solidFill>
            <a:srgbClr val="5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3</a:t>
            </a:r>
          </a:p>
        </p:txBody>
      </p:sp>
      <p:sp>
        <p:nvSpPr>
          <p:cNvPr id="16" name="TextBox 15"/>
          <p:cNvSpPr txBox="1"/>
          <p:nvPr/>
        </p:nvSpPr>
        <p:spPr>
          <a:xfrm>
            <a:off x="1417320" y="4050791"/>
            <a:ext cx="4389120" cy="777240"/>
          </a:xfrm>
          <a:prstGeom prst="rect">
            <a:avLst/>
          </a:prstGeom>
          <a:noFill/>
        </p:spPr>
        <p:txBody>
          <a:bodyPr wrap="square" anchor="ctr" lIns="45720" rIns="45720" tIns="18288" bIns="18288">
            <a:spAutoFit/>
          </a:bodyPr>
          <a:lstStyle/>
          <a:p>
            <a:pPr algn="l"/>
            <a:r>
              <a:rPr sz="1700" b="1" i="0">
                <a:solidFill>
                  <a:srgbClr val="500000"/>
                </a:solidFill>
                <a:latin typeface="Cambria Math"/>
              </a:rPr>
              <a:t>Bᵢ = Aᵢ ⊗ Aᵢ ⊗ Aᵢ  (symmetrised)</a:t>
            </a:r>
          </a:p>
        </p:txBody>
      </p:sp>
      <p:sp>
        <p:nvSpPr>
          <p:cNvPr id="17" name="TextBox 16"/>
          <p:cNvSpPr txBox="1"/>
          <p:nvPr/>
        </p:nvSpPr>
        <p:spPr>
          <a:xfrm>
            <a:off x="5897880" y="4032503"/>
            <a:ext cx="5577840" cy="822960"/>
          </a:xfrm>
          <a:prstGeom prst="rect">
            <a:avLst/>
          </a:prstGeom>
          <a:noFill/>
        </p:spPr>
        <p:txBody>
          <a:bodyPr wrap="square" anchor="ctr" lIns="45720" rIns="45720" tIns="18288" bIns="18288">
            <a:spAutoFit/>
          </a:bodyPr>
          <a:lstStyle/>
          <a:p>
            <a:pPr algn="l"/>
            <a:r>
              <a:rPr sz="1150" b="0" i="0">
                <a:solidFill>
                  <a:srgbClr val="64748B"/>
                </a:solidFill>
                <a:latin typeface="Arial"/>
              </a:rPr>
              <a:t>Multiply the collection by itself. Products of pair terms encode angles and dihedrals — many-body geometry — without ever enumerating triples. Body order 4 per layer; this is the Atomic Cluster Expansion.</a:t>
            </a:r>
          </a:p>
        </p:txBody>
      </p:sp>
      <p:sp>
        <p:nvSpPr>
          <p:cNvPr id="18" name="Rounded Rectangle 17"/>
          <p:cNvSpPr/>
          <p:nvPr/>
        </p:nvSpPr>
        <p:spPr>
          <a:xfrm>
            <a:off x="548640" y="5020055"/>
            <a:ext cx="11064240" cy="987552"/>
          </a:xfrm>
          <a:prstGeom prst="roundRect">
            <a:avLst>
              <a:gd name="adj" fmla="val 8000"/>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31520" y="5266944"/>
            <a:ext cx="502920" cy="502920"/>
          </a:xfrm>
          <a:prstGeom prst="ellipse">
            <a:avLst/>
          </a:prstGeom>
          <a:solidFill>
            <a:srgbClr val="5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4</a:t>
            </a:r>
          </a:p>
        </p:txBody>
      </p:sp>
      <p:sp>
        <p:nvSpPr>
          <p:cNvPr id="20" name="TextBox 19"/>
          <p:cNvSpPr txBox="1"/>
          <p:nvPr/>
        </p:nvSpPr>
        <p:spPr>
          <a:xfrm>
            <a:off x="1417320" y="5129783"/>
            <a:ext cx="4389120" cy="777240"/>
          </a:xfrm>
          <a:prstGeom prst="rect">
            <a:avLst/>
          </a:prstGeom>
          <a:noFill/>
        </p:spPr>
        <p:txBody>
          <a:bodyPr wrap="square" anchor="ctr" lIns="45720" rIns="45720" tIns="18288" bIns="18288">
            <a:spAutoFit/>
          </a:bodyPr>
          <a:lstStyle/>
          <a:p>
            <a:pPr algn="l"/>
            <a:r>
              <a:rPr sz="1700" b="1" i="0">
                <a:solidFill>
                  <a:srgbClr val="500000"/>
                </a:solidFill>
                <a:latin typeface="Cambria Math"/>
              </a:rPr>
              <a:t>hᵢ ← W·Bᵢ ,   Eᵢ = readout(hᵢ) ,   F = −∂E/∂r</a:t>
            </a:r>
          </a:p>
        </p:txBody>
      </p:sp>
      <p:sp>
        <p:nvSpPr>
          <p:cNvPr id="21" name="TextBox 20"/>
          <p:cNvSpPr txBox="1"/>
          <p:nvPr/>
        </p:nvSpPr>
        <p:spPr>
          <a:xfrm>
            <a:off x="5897880" y="5111495"/>
            <a:ext cx="5577840" cy="822960"/>
          </a:xfrm>
          <a:prstGeom prst="rect">
            <a:avLst/>
          </a:prstGeom>
          <a:noFill/>
        </p:spPr>
        <p:txBody>
          <a:bodyPr wrap="square" anchor="ctr" lIns="45720" rIns="45720" tIns="18288" bIns="18288">
            <a:spAutoFit/>
          </a:bodyPr>
          <a:lstStyle/>
          <a:p>
            <a:pPr algn="l"/>
            <a:r>
              <a:rPr sz="1150" b="0" i="0">
                <a:solidFill>
                  <a:srgbClr val="64748B"/>
                </a:solidFill>
                <a:latin typeface="Arial"/>
              </a:rPr>
              <a:t>Update the atom's features with learned weights, repeat for the second layer, read out the energy, and differentiate for the forces. Every step is an equivariant tensor product, so rotations stay exact.</a:t>
            </a:r>
          </a:p>
        </p:txBody>
      </p:sp>
      <p:sp>
        <p:nvSpPr>
          <p:cNvPr id="22" name="TextBox 21"/>
          <p:cNvSpPr txBox="1"/>
          <p:nvPr/>
        </p:nvSpPr>
        <p:spPr>
          <a:xfrm>
            <a:off x="548640" y="6126480"/>
            <a:ext cx="11064240" cy="274320"/>
          </a:xfrm>
          <a:prstGeom prst="rect">
            <a:avLst/>
          </a:prstGeom>
          <a:noFill/>
        </p:spPr>
        <p:txBody>
          <a:bodyPr wrap="square" anchor="t" lIns="45720" rIns="45720" tIns="18288" bIns="18288">
            <a:spAutoFit/>
          </a:bodyPr>
          <a:lstStyle/>
          <a:p>
            <a:pPr algn="l"/>
            <a:r>
              <a:rPr sz="1150" b="1" i="0">
                <a:solidFill>
                  <a:srgbClr val="1E293B"/>
                </a:solidFill>
                <a:latin typeface="Arial"/>
              </a:rPr>
              <a:t>Training: minimise  100·(ΔE/atom)² + 10·(ΔF)²  over 135 DFT structures, 20 epochs, starting from MACE-MP-0's weights.</a:t>
            </a:r>
          </a:p>
        </p:txBody>
      </p:sp>
      <p:sp>
        <p:nvSpPr>
          <p:cNvPr id="23" name="TextBox 22"/>
          <p:cNvSpPr txBox="1"/>
          <p:nvPr/>
        </p:nvSpPr>
        <p:spPr>
          <a:xfrm>
            <a:off x="548640" y="6428232"/>
            <a:ext cx="9601200" cy="228600"/>
          </a:xfrm>
          <a:prstGeom prst="rect">
            <a:avLst/>
          </a:prstGeom>
          <a:noFill/>
        </p:spPr>
        <p:txBody>
          <a:bodyPr wrap="square" anchor="t" lIns="45720" rIns="45720" tIns="18288" bIns="18288">
            <a:spAutoFit/>
          </a:bodyPr>
          <a:lstStyle/>
          <a:p>
            <a:pPr algn="l"/>
            <a:r>
              <a:rPr sz="900" b="0" i="0">
                <a:solidFill>
                  <a:srgbClr val="94A3B8"/>
                </a:solidFill>
                <a:latin typeface="Arial"/>
              </a:rPr>
              <a:t>Notation simplified: channel indices, learnable radial weights and the irreducible-representation bookkeeping are omitted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anchor="t" lIns="45720" rIns="45720" tIns="18288" bIns="18288">
            <a:spAutoFit/>
          </a:bodyPr>
          <a:lstStyle/>
          <a:p>
            <a:pPr algn="l"/>
            <a:r>
              <a:rPr sz="1100" b="1" i="0">
                <a:solidFill>
                  <a:srgbClr val="B87878"/>
                </a:solidFill>
                <a:latin typeface="Arial"/>
              </a:rPr>
              <a:t>BACKUP · RESULTS</a:t>
            </a:r>
          </a:p>
        </p:txBody>
      </p:sp>
      <p:sp>
        <p:nvSpPr>
          <p:cNvPr id="3" name="TextBox 2"/>
          <p:cNvSpPr txBox="1"/>
          <p:nvPr/>
        </p:nvSpPr>
        <p:spPr>
          <a:xfrm>
            <a:off x="548640" y="566928"/>
            <a:ext cx="11064240" cy="640080"/>
          </a:xfrm>
          <a:prstGeom prst="rect">
            <a:avLst/>
          </a:prstGeom>
          <a:noFill/>
        </p:spPr>
        <p:txBody>
          <a:bodyPr wrap="square" anchor="t" lIns="45720" rIns="45720" tIns="18288" bIns="18288">
            <a:spAutoFit/>
          </a:bodyPr>
          <a:lstStyle/>
          <a:p>
            <a:pPr algn="l"/>
            <a:r>
              <a:rPr sz="3400" b="1" i="0">
                <a:solidFill>
                  <a:srgbClr val="500000"/>
                </a:solidFill>
                <a:latin typeface="Arial"/>
              </a:rPr>
              <a:t>Fine-tuning on our DFT labels: what changed</a:t>
            </a:r>
          </a:p>
        </p:txBody>
      </p:sp>
      <p:sp>
        <p:nvSpPr>
          <p:cNvPr id="4" name="TextBox 3"/>
          <p:cNvSpPr txBox="1"/>
          <p:nvPr/>
        </p:nvSpPr>
        <p:spPr>
          <a:xfrm>
            <a:off x="548640" y="1207008"/>
            <a:ext cx="11064240" cy="365760"/>
          </a:xfrm>
          <a:prstGeom prst="rect">
            <a:avLst/>
          </a:prstGeom>
          <a:noFill/>
        </p:spPr>
        <p:txBody>
          <a:bodyPr wrap="square" anchor="t" lIns="45720" rIns="45720" tIns="18288" bIns="18288">
            <a:spAutoFit/>
          </a:bodyPr>
          <a:lstStyle/>
          <a:p>
            <a:pPr algn="l"/>
            <a:r>
              <a:rPr sz="1500" b="0" i="1">
                <a:solidFill>
                  <a:srgbClr val="64748B"/>
                </a:solidFill>
                <a:latin typeface="Arial"/>
              </a:rPr>
              <a:t>Held out: 51 structures of 17 orderings the model never saw</a:t>
            </a:r>
          </a:p>
        </p:txBody>
      </p:sp>
      <p:sp>
        <p:nvSpPr>
          <p:cNvPr id="5" name="TextBox 4"/>
          <p:cNvSpPr txBox="1"/>
          <p:nvPr/>
        </p:nvSpPr>
        <p:spPr>
          <a:xfrm>
            <a:off x="11155680" y="6400800"/>
            <a:ext cx="548640" cy="228600"/>
          </a:xfrm>
          <a:prstGeom prst="rect">
            <a:avLst/>
          </a:prstGeom>
          <a:noFill/>
        </p:spPr>
        <p:txBody>
          <a:bodyPr wrap="square" anchor="t" lIns="45720" rIns="45720" tIns="18288" bIns="18288">
            <a:spAutoFit/>
          </a:bodyPr>
          <a:lstStyle/>
          <a:p>
            <a:pPr algn="r"/>
            <a:r>
              <a:rPr sz="1000" b="1" i="0">
                <a:solidFill>
                  <a:srgbClr val="500000"/>
                </a:solidFill>
                <a:latin typeface="Arial"/>
              </a:rPr>
              <a:t>17</a:t>
            </a:r>
          </a:p>
        </p:txBody>
      </p:sp>
      <p:graphicFrame>
        <p:nvGraphicFramePr>
          <p:cNvPr id="6" name="Table 5"/>
          <p:cNvGraphicFramePr>
            <a:graphicFrameLocks noGrp="1"/>
          </p:cNvGraphicFramePr>
          <p:nvPr/>
        </p:nvGraphicFramePr>
        <p:xfrm>
          <a:off x="548640" y="1783080"/>
          <a:ext cx="6766560" cy="1645920"/>
        </p:xfrm>
        <a:graphic>
          <a:graphicData uri="http://schemas.openxmlformats.org/drawingml/2006/table">
            <a:tbl>
              <a:tblPr firstRow="1" bandRow="1">
                <a:tableStyleId>{5C22544A-7EE6-4342-B048-85BDC9FD1C3A}</a:tableStyleId>
              </a:tblPr>
              <a:tblGrid>
                <a:gridCol w="1691640"/>
                <a:gridCol w="1691640"/>
                <a:gridCol w="1691640"/>
                <a:gridCol w="1691640"/>
              </a:tblGrid>
              <a:tr h="548640">
                <a:tc>
                  <a:txBody>
                    <a:bodyPr/>
                    <a:lstStyle/>
                    <a:p/>
                  </a:txBody>
                  <a:tcPr>
                    <a:solidFill>
                      <a:srgbClr val="500000"/>
                    </a:solidFill>
                  </a:tcPr>
                </a:tc>
                <a:tc>
                  <a:txBody>
                    <a:bodyPr/>
                    <a:lstStyle/>
                    <a:p>
                      <a:r>
                        <a:rPr sz="1200" b="1">
                          <a:solidFill>
                            <a:srgbClr val="FFFFFF"/>
                          </a:solidFill>
                          <a:latin typeface="Arial"/>
                        </a:rPr>
                        <a:t>pretrained MACE-MP-0</a:t>
                      </a:r>
                    </a:p>
                  </a:txBody>
                  <a:tcPr>
                    <a:solidFill>
                      <a:srgbClr val="500000"/>
                    </a:solidFill>
                  </a:tcPr>
                </a:tc>
                <a:tc>
                  <a:txBody>
                    <a:bodyPr/>
                    <a:lstStyle/>
                    <a:p>
                      <a:r>
                        <a:rPr sz="1200" b="1">
                          <a:solidFill>
                            <a:srgbClr val="FFFFFF"/>
                          </a:solidFill>
                          <a:latin typeface="Arial"/>
                        </a:rPr>
                        <a:t>fine-tuned (20 epochs)</a:t>
                      </a:r>
                    </a:p>
                  </a:txBody>
                  <a:tcPr>
                    <a:solidFill>
                      <a:srgbClr val="500000"/>
                    </a:solidFill>
                  </a:tcPr>
                </a:tc>
                <a:tc>
                  <a:txBody>
                    <a:bodyPr/>
                    <a:lstStyle/>
                    <a:p>
                      <a:r>
                        <a:rPr sz="1200" b="1">
                          <a:solidFill>
                            <a:srgbClr val="FFFFFF"/>
                          </a:solidFill>
                          <a:latin typeface="Arial"/>
                        </a:rPr>
                        <a:t>fine-tuned (30 epochs)</a:t>
                      </a:r>
                    </a:p>
                  </a:txBody>
                  <a:tcPr>
                    <a:solidFill>
                      <a:srgbClr val="500000"/>
                    </a:solidFill>
                  </a:tcPr>
                </a:tc>
              </a:tr>
              <a:tr h="548640">
                <a:tc>
                  <a:txBody>
                    <a:bodyPr/>
                    <a:lstStyle/>
                    <a:p>
                      <a:r>
                        <a:rPr sz="1250" b="1">
                          <a:solidFill>
                            <a:srgbClr val="1E293B"/>
                          </a:solidFill>
                          <a:latin typeface="Arial"/>
                        </a:rPr>
                        <a:t>formation-energy error (MAE)</a:t>
                      </a:r>
                    </a:p>
                  </a:txBody>
                  <a:tcPr>
                    <a:solidFill>
                      <a:srgbClr val="F5F1F1"/>
                    </a:solidFill>
                  </a:tcPr>
                </a:tc>
                <a:tc>
                  <a:txBody>
                    <a:bodyPr/>
                    <a:lstStyle/>
                    <a:p>
                      <a:r>
                        <a:rPr sz="1250" b="0">
                          <a:solidFill>
                            <a:srgbClr val="1E293B"/>
                          </a:solidFill>
                          <a:latin typeface="Arial"/>
                        </a:rPr>
                        <a:t>10.7 meV/atom</a:t>
                      </a:r>
                    </a:p>
                  </a:txBody>
                  <a:tcPr>
                    <a:solidFill>
                      <a:srgbClr val="F5F1F1"/>
                    </a:solidFill>
                  </a:tcPr>
                </a:tc>
                <a:tc>
                  <a:txBody>
                    <a:bodyPr/>
                    <a:lstStyle/>
                    <a:p>
                      <a:r>
                        <a:rPr sz="1250" b="0">
                          <a:solidFill>
                            <a:srgbClr val="1E293B"/>
                          </a:solidFill>
                          <a:latin typeface="Arial"/>
                        </a:rPr>
                        <a:t>7.9</a:t>
                      </a:r>
                    </a:p>
                  </a:txBody>
                  <a:tcPr>
                    <a:solidFill>
                      <a:srgbClr val="F5F1F1"/>
                    </a:solidFill>
                  </a:tcPr>
                </a:tc>
                <a:tc>
                  <a:txBody>
                    <a:bodyPr/>
                    <a:lstStyle/>
                    <a:p>
                      <a:r>
                        <a:rPr sz="1250" b="0">
                          <a:solidFill>
                            <a:srgbClr val="1E293B"/>
                          </a:solidFill>
                          <a:latin typeface="Arial"/>
                        </a:rPr>
                        <a:t>~4</a:t>
                      </a:r>
                    </a:p>
                  </a:txBody>
                  <a:tcPr>
                    <a:solidFill>
                      <a:srgbClr val="F5F1F1"/>
                    </a:solidFill>
                  </a:tcPr>
                </a:tc>
              </a:tr>
              <a:tr h="548640">
                <a:tc>
                  <a:txBody>
                    <a:bodyPr/>
                    <a:lstStyle/>
                    <a:p>
                      <a:r>
                        <a:rPr sz="1250" b="1">
                          <a:solidFill>
                            <a:srgbClr val="1E293B"/>
                          </a:solidFill>
                          <a:latin typeface="Arial"/>
                        </a:rPr>
                        <a:t>force error (RMSE)</a:t>
                      </a:r>
                    </a:p>
                  </a:txBody>
                  <a:tcPr>
                    <a:solidFill>
                      <a:srgbClr val="FFFFFF"/>
                    </a:solidFill>
                  </a:tcPr>
                </a:tc>
                <a:tc>
                  <a:txBody>
                    <a:bodyPr/>
                    <a:lstStyle/>
                    <a:p>
                      <a:r>
                        <a:rPr sz="1250" b="0">
                          <a:solidFill>
                            <a:srgbClr val="1E293B"/>
                          </a:solidFill>
                          <a:latin typeface="Arial"/>
                        </a:rPr>
                        <a:t>112 meV/Å</a:t>
                      </a:r>
                    </a:p>
                  </a:txBody>
                  <a:tcPr>
                    <a:solidFill>
                      <a:srgbClr val="FFFFFF"/>
                    </a:solidFill>
                  </a:tcPr>
                </a:tc>
                <a:tc>
                  <a:txBody>
                    <a:bodyPr/>
                    <a:lstStyle/>
                    <a:p>
                      <a:r>
                        <a:rPr sz="1250" b="0">
                          <a:solidFill>
                            <a:srgbClr val="1E293B"/>
                          </a:solidFill>
                          <a:latin typeface="Arial"/>
                        </a:rPr>
                        <a:t>26</a:t>
                      </a:r>
                    </a:p>
                  </a:txBody>
                  <a:tcPr>
                    <a:solidFill>
                      <a:srgbClr val="FFFFFF"/>
                    </a:solidFill>
                  </a:tcPr>
                </a:tc>
                <a:tc>
                  <a:txBody>
                    <a:bodyPr/>
                    <a:lstStyle/>
                    <a:p>
                      <a:r>
                        <a:rPr sz="1250" b="0">
                          <a:solidFill>
                            <a:srgbClr val="1E293B"/>
                          </a:solidFill>
                          <a:latin typeface="Arial"/>
                        </a:rPr>
                        <a:t>~23</a:t>
                      </a:r>
                    </a:p>
                  </a:txBody>
                  <a:tcPr>
                    <a:solidFill>
                      <a:srgbClr val="FFFFFF"/>
                    </a:solidFill>
                  </a:tcPr>
                </a:tc>
              </a:tr>
            </a:tbl>
          </a:graphicData>
        </a:graphic>
      </p:graphicFrame>
      <p:sp>
        <p:nvSpPr>
          <p:cNvPr id="7" name="TextBox 6"/>
          <p:cNvSpPr txBox="1"/>
          <p:nvPr/>
        </p:nvSpPr>
        <p:spPr>
          <a:xfrm>
            <a:off x="548640" y="3611880"/>
            <a:ext cx="6766560" cy="1463040"/>
          </a:xfrm>
          <a:prstGeom prst="rect">
            <a:avLst/>
          </a:prstGeom>
          <a:noFill/>
        </p:spPr>
        <p:txBody>
          <a:bodyPr wrap="square" anchor="t" lIns="45720" rIns="45720" tIns="18288" bIns="18288">
            <a:spAutoFit/>
          </a:bodyPr>
          <a:lstStyle/>
          <a:p>
            <a:pPr algn="l"/>
            <a:r>
              <a:rPr sz="1250" b="0" i="0">
                <a:solidFill>
                  <a:srgbClr val="64748B"/>
                </a:solidFill>
                <a:latin typeface="Arial"/>
              </a:rPr>
              <a:t>Raw MACE is already decent on energies — it was trained on PBE too. Fine-tuning's big wins: forces 4× better, and the few-meV ranking the convex hull needs.</a:t>
            </a:r>
          </a:p>
          <a:p>
            <a:pPr algn="l"/>
            <a:r>
              <a:rPr sz="1250" b="0" i="0">
                <a:solidFill>
                  <a:srgbClr val="64748B"/>
                </a:solidFill>
                <a:latin typeface="Arial"/>
              </a:rPr>
              <a:t>The fine-tuned energies sit ~9 meV/atom low across the board; that offset cancels in rankings, which is why the hull matches DFT at all 5 vertices.</a:t>
            </a:r>
          </a:p>
        </p:txBody>
      </p:sp>
      <p:sp>
        <p:nvSpPr>
          <p:cNvPr id="8" name="Rounded Rectangle 7"/>
          <p:cNvSpPr/>
          <p:nvPr/>
        </p:nvSpPr>
        <p:spPr>
          <a:xfrm>
            <a:off x="7589520" y="1783080"/>
            <a:ext cx="4023360" cy="960120"/>
          </a:xfrm>
          <a:prstGeom prst="roundRect">
            <a:avLst>
              <a:gd name="adj" fmla="val 8000"/>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0" y="1856231"/>
            <a:ext cx="3657600" cy="502920"/>
          </a:xfrm>
          <a:prstGeom prst="rect">
            <a:avLst/>
          </a:prstGeom>
          <a:noFill/>
        </p:spPr>
        <p:txBody>
          <a:bodyPr wrap="square" anchor="t" lIns="45720" rIns="45720" tIns="18288" bIns="18288">
            <a:spAutoFit/>
          </a:bodyPr>
          <a:lstStyle/>
          <a:p>
            <a:pPr algn="l"/>
            <a:r>
              <a:rPr sz="2600" b="1" i="0">
                <a:solidFill>
                  <a:srgbClr val="500000"/>
                </a:solidFill>
                <a:latin typeface="Arial"/>
              </a:rPr>
              <a:t>186</a:t>
            </a:r>
          </a:p>
        </p:txBody>
      </p:sp>
      <p:sp>
        <p:nvSpPr>
          <p:cNvPr id="10" name="TextBox 9"/>
          <p:cNvSpPr txBox="1"/>
          <p:nvPr/>
        </p:nvSpPr>
        <p:spPr>
          <a:xfrm>
            <a:off x="7772400" y="2350008"/>
            <a:ext cx="3657600" cy="365760"/>
          </a:xfrm>
          <a:prstGeom prst="rect">
            <a:avLst/>
          </a:prstGeom>
          <a:noFill/>
        </p:spPr>
        <p:txBody>
          <a:bodyPr wrap="square" anchor="t" lIns="45720" rIns="45720" tIns="18288" bIns="18288">
            <a:spAutoFit/>
          </a:bodyPr>
          <a:lstStyle/>
          <a:p>
            <a:pPr algn="l"/>
            <a:r>
              <a:rPr sz="1100" b="0" i="0">
                <a:solidFill>
                  <a:srgbClr val="64748B"/>
                </a:solidFill>
                <a:latin typeface="Arial"/>
              </a:rPr>
              <a:t>DFT single points</a:t>
            </a:r>
          </a:p>
        </p:txBody>
      </p:sp>
      <p:sp>
        <p:nvSpPr>
          <p:cNvPr id="11" name="Rounded Rectangle 10"/>
          <p:cNvSpPr/>
          <p:nvPr/>
        </p:nvSpPr>
        <p:spPr>
          <a:xfrm>
            <a:off x="7589520" y="2862072"/>
            <a:ext cx="4023360" cy="960120"/>
          </a:xfrm>
          <a:prstGeom prst="roundRect">
            <a:avLst>
              <a:gd name="adj" fmla="val 8000"/>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0" y="2935224"/>
            <a:ext cx="3657600" cy="502920"/>
          </a:xfrm>
          <a:prstGeom prst="rect">
            <a:avLst/>
          </a:prstGeom>
          <a:noFill/>
        </p:spPr>
        <p:txBody>
          <a:bodyPr wrap="square" anchor="t" lIns="45720" rIns="45720" tIns="18288" bIns="18288">
            <a:spAutoFit/>
          </a:bodyPr>
          <a:lstStyle/>
          <a:p>
            <a:pPr algn="l"/>
            <a:r>
              <a:rPr sz="2600" b="1" i="0">
                <a:solidFill>
                  <a:srgbClr val="500000"/>
                </a:solidFill>
                <a:latin typeface="Arial"/>
              </a:rPr>
              <a:t>27</a:t>
            </a:r>
          </a:p>
        </p:txBody>
      </p:sp>
      <p:sp>
        <p:nvSpPr>
          <p:cNvPr id="13" name="TextBox 12"/>
          <p:cNvSpPr txBox="1"/>
          <p:nvPr/>
        </p:nvSpPr>
        <p:spPr>
          <a:xfrm>
            <a:off x="7772400" y="3429000"/>
            <a:ext cx="3657600" cy="365760"/>
          </a:xfrm>
          <a:prstGeom prst="rect">
            <a:avLst/>
          </a:prstGeom>
          <a:noFill/>
        </p:spPr>
        <p:txBody>
          <a:bodyPr wrap="square" anchor="t" lIns="45720" rIns="45720" tIns="18288" bIns="18288">
            <a:spAutoFit/>
          </a:bodyPr>
          <a:lstStyle/>
          <a:p>
            <a:pPr algn="l"/>
            <a:r>
              <a:rPr sz="1100" b="0" i="0">
                <a:solidFill>
                  <a:srgbClr val="64748B"/>
                </a:solidFill>
                <a:latin typeface="Arial"/>
              </a:rPr>
              <a:t>distinct orderings; 10 trained, 17 held out</a:t>
            </a:r>
          </a:p>
        </p:txBody>
      </p:sp>
      <p:sp>
        <p:nvSpPr>
          <p:cNvPr id="14" name="Rounded Rectangle 13"/>
          <p:cNvSpPr/>
          <p:nvPr/>
        </p:nvSpPr>
        <p:spPr>
          <a:xfrm>
            <a:off x="7589520" y="3941063"/>
            <a:ext cx="4023360" cy="960120"/>
          </a:xfrm>
          <a:prstGeom prst="roundRect">
            <a:avLst>
              <a:gd name="adj" fmla="val 8000"/>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0" y="4014215"/>
            <a:ext cx="3657600" cy="502920"/>
          </a:xfrm>
          <a:prstGeom prst="rect">
            <a:avLst/>
          </a:prstGeom>
          <a:noFill/>
        </p:spPr>
        <p:txBody>
          <a:bodyPr wrap="square" anchor="t" lIns="45720" rIns="45720" tIns="18288" bIns="18288">
            <a:spAutoFit/>
          </a:bodyPr>
          <a:lstStyle/>
          <a:p>
            <a:pPr algn="l"/>
            <a:r>
              <a:rPr sz="2600" b="1" i="0">
                <a:solidFill>
                  <a:srgbClr val="500000"/>
                </a:solidFill>
                <a:latin typeface="Arial"/>
              </a:rPr>
              <a:t>3 of 27</a:t>
            </a:r>
          </a:p>
        </p:txBody>
      </p:sp>
      <p:sp>
        <p:nvSpPr>
          <p:cNvPr id="16" name="TextBox 15"/>
          <p:cNvSpPr txBox="1"/>
          <p:nvPr/>
        </p:nvSpPr>
        <p:spPr>
          <a:xfrm>
            <a:off x="7772400" y="4507992"/>
            <a:ext cx="3657600" cy="365760"/>
          </a:xfrm>
          <a:prstGeom prst="rect">
            <a:avLst/>
          </a:prstGeom>
          <a:noFill/>
        </p:spPr>
        <p:txBody>
          <a:bodyPr wrap="square" anchor="t" lIns="45720" rIns="45720" tIns="18288" bIns="18288">
            <a:spAutoFit/>
          </a:bodyPr>
          <a:lstStyle/>
          <a:p>
            <a:pPr algn="l"/>
            <a:r>
              <a:rPr sz="1100" b="0" i="0">
                <a:solidFill>
                  <a:srgbClr val="64748B"/>
                </a:solidFill>
                <a:latin typeface="Arial"/>
              </a:rPr>
              <a:t>expensive calls in the verify step — all confirmed</a:t>
            </a:r>
          </a:p>
        </p:txBody>
      </p:sp>
      <p:sp>
        <p:nvSpPr>
          <p:cNvPr id="17" name="Rounded Rectangle 16"/>
          <p:cNvSpPr/>
          <p:nvPr/>
        </p:nvSpPr>
        <p:spPr>
          <a:xfrm>
            <a:off x="7589520" y="5020056"/>
            <a:ext cx="4023360" cy="960120"/>
          </a:xfrm>
          <a:prstGeom prst="roundRect">
            <a:avLst>
              <a:gd name="adj" fmla="val 8000"/>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0" y="5093208"/>
            <a:ext cx="3657600" cy="502920"/>
          </a:xfrm>
          <a:prstGeom prst="rect">
            <a:avLst/>
          </a:prstGeom>
          <a:noFill/>
        </p:spPr>
        <p:txBody>
          <a:bodyPr wrap="square" anchor="t" lIns="45720" rIns="45720" tIns="18288" bIns="18288">
            <a:spAutoFit/>
          </a:bodyPr>
          <a:lstStyle/>
          <a:p>
            <a:pPr algn="l"/>
            <a:r>
              <a:rPr sz="2600" b="1" i="0">
                <a:solidFill>
                  <a:srgbClr val="500000"/>
                </a:solidFill>
                <a:latin typeface="Arial"/>
              </a:rPr>
              <a:t>~3.5 min</a:t>
            </a:r>
          </a:p>
        </p:txBody>
      </p:sp>
      <p:sp>
        <p:nvSpPr>
          <p:cNvPr id="19" name="TextBox 18"/>
          <p:cNvSpPr txBox="1"/>
          <p:nvPr/>
        </p:nvSpPr>
        <p:spPr>
          <a:xfrm>
            <a:off x="7772400" y="5586984"/>
            <a:ext cx="3657600" cy="365760"/>
          </a:xfrm>
          <a:prstGeom prst="rect">
            <a:avLst/>
          </a:prstGeom>
          <a:noFill/>
        </p:spPr>
        <p:txBody>
          <a:bodyPr wrap="square" anchor="t" lIns="45720" rIns="45720" tIns="18288" bIns="18288">
            <a:spAutoFit/>
          </a:bodyPr>
          <a:lstStyle/>
          <a:p>
            <a:pPr algn="l"/>
            <a:r>
              <a:rPr sz="1100" b="0" i="0">
                <a:solidFill>
                  <a:srgbClr val="64748B"/>
                </a:solidFill>
                <a:latin typeface="Arial"/>
              </a:rPr>
              <a:t>the whole loop on a laptop CPU</a:t>
            </a:r>
          </a:p>
        </p:txBody>
      </p:sp>
      <p:sp>
        <p:nvSpPr>
          <p:cNvPr id="20" name="TextBox 19"/>
          <p:cNvSpPr txBox="1"/>
          <p:nvPr/>
        </p:nvSpPr>
        <p:spPr>
          <a:xfrm>
            <a:off x="548640" y="5257800"/>
            <a:ext cx="6766560" cy="822960"/>
          </a:xfrm>
          <a:prstGeom prst="rect">
            <a:avLst/>
          </a:prstGeom>
          <a:noFill/>
        </p:spPr>
        <p:txBody>
          <a:bodyPr wrap="square" anchor="t" lIns="45720" rIns="45720" tIns="18288" bIns="18288">
            <a:spAutoFit/>
          </a:bodyPr>
          <a:lstStyle/>
          <a:p>
            <a:pPr algn="l"/>
            <a:r>
              <a:rPr sz="1100" b="0" i="0">
                <a:solidFill>
                  <a:srgbClr val="94A3B8"/>
                </a:solidFill>
                <a:latin typeface="Arial"/>
              </a:rPr>
              <a:t>Training recipe: start from MACE-MP-0 small; per-element reference energies fitted by least squares; loss weights energy 100 : forces 10; Adam, lr 0.01, EMA; batch 16; 20 epochs ≈ 3 min on CPU.</a:t>
            </a:r>
          </a:p>
        </p:txBody>
      </p:sp>
      <p:sp>
        <p:nvSpPr>
          <p:cNvPr id="21" name="TextBox 20"/>
          <p:cNvSpPr txBox="1"/>
          <p:nvPr/>
        </p:nvSpPr>
        <p:spPr>
          <a:xfrm>
            <a:off x="548640" y="6428232"/>
            <a:ext cx="9601200" cy="228600"/>
          </a:xfrm>
          <a:prstGeom prst="rect">
            <a:avLst/>
          </a:prstGeom>
          <a:noFill/>
        </p:spPr>
        <p:txBody>
          <a:bodyPr wrap="square" anchor="t" lIns="45720" rIns="45720" tIns="18288" bIns="18288">
            <a:spAutoFit/>
          </a:bodyPr>
          <a:lstStyle/>
          <a:p>
            <a:pPr algn="l"/>
            <a:r>
              <a:rPr sz="900" b="0" i="0">
                <a:solidFill>
                  <a:srgbClr val="94A3B8"/>
                </a:solidFill>
                <a:latin typeface="Arial"/>
              </a:rPr>
              <a:t>Numbers from the run in this repository (results/validation.json, results/discovery.json)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anchor="t" lIns="45720" rIns="45720" tIns="18288" bIns="18288">
            <a:spAutoFit/>
          </a:bodyPr>
          <a:lstStyle/>
          <a:p>
            <a:pPr algn="l"/>
            <a:r>
              <a:rPr sz="1100" b="1" i="0">
                <a:solidFill>
                  <a:srgbClr val="B87878"/>
                </a:solidFill>
                <a:latin typeface="Arial"/>
              </a:rPr>
              <a:t>BACKUP · THE SYSTEM</a:t>
            </a:r>
          </a:p>
        </p:txBody>
      </p:sp>
      <p:sp>
        <p:nvSpPr>
          <p:cNvPr id="3" name="TextBox 2"/>
          <p:cNvSpPr txBox="1"/>
          <p:nvPr/>
        </p:nvSpPr>
        <p:spPr>
          <a:xfrm>
            <a:off x="548640" y="566928"/>
            <a:ext cx="11064240" cy="640080"/>
          </a:xfrm>
          <a:prstGeom prst="rect">
            <a:avLst/>
          </a:prstGeom>
          <a:noFill/>
        </p:spPr>
        <p:txBody>
          <a:bodyPr wrap="square" anchor="t" lIns="45720" rIns="45720" tIns="18288" bIns="18288">
            <a:spAutoFit/>
          </a:bodyPr>
          <a:lstStyle/>
          <a:p>
            <a:pPr algn="l"/>
            <a:r>
              <a:rPr sz="3400" b="1" i="0">
                <a:solidFill>
                  <a:srgbClr val="500000"/>
                </a:solidFill>
                <a:latin typeface="Arial"/>
              </a:rPr>
              <a:t>Cu–Au: a real system with a textbook answer</a:t>
            </a:r>
          </a:p>
        </p:txBody>
      </p:sp>
      <p:sp>
        <p:nvSpPr>
          <p:cNvPr id="4" name="TextBox 3"/>
          <p:cNvSpPr txBox="1"/>
          <p:nvPr/>
        </p:nvSpPr>
        <p:spPr>
          <a:xfrm>
            <a:off x="548640" y="1207008"/>
            <a:ext cx="11064240" cy="365760"/>
          </a:xfrm>
          <a:prstGeom prst="rect">
            <a:avLst/>
          </a:prstGeom>
          <a:noFill/>
        </p:spPr>
        <p:txBody>
          <a:bodyPr wrap="square" anchor="t" lIns="45720" rIns="45720" tIns="18288" bIns="18288">
            <a:spAutoFit/>
          </a:bodyPr>
          <a:lstStyle/>
          <a:p>
            <a:pPr algn="l"/>
            <a:r>
              <a:rPr sz="1500" b="0" i="1">
                <a:solidFill>
                  <a:srgbClr val="64748B"/>
                </a:solidFill>
                <a:latin typeface="Arial"/>
              </a:rPr>
              <a:t>Copper and gold mix in all proportions and order into intermetallic compounds</a:t>
            </a:r>
          </a:p>
        </p:txBody>
      </p:sp>
      <p:sp>
        <p:nvSpPr>
          <p:cNvPr id="5" name="TextBox 4"/>
          <p:cNvSpPr txBox="1"/>
          <p:nvPr/>
        </p:nvSpPr>
        <p:spPr>
          <a:xfrm>
            <a:off x="11155680" y="6400800"/>
            <a:ext cx="548640" cy="228600"/>
          </a:xfrm>
          <a:prstGeom prst="rect">
            <a:avLst/>
          </a:prstGeom>
          <a:noFill/>
        </p:spPr>
        <p:txBody>
          <a:bodyPr wrap="square" anchor="t" lIns="45720" rIns="45720" tIns="18288" bIns="18288">
            <a:spAutoFit/>
          </a:bodyPr>
          <a:lstStyle/>
          <a:p>
            <a:pPr algn="r"/>
            <a:r>
              <a:rPr sz="1000" b="1" i="0">
                <a:solidFill>
                  <a:srgbClr val="500000"/>
                </a:solidFill>
                <a:latin typeface="Arial"/>
              </a:rPr>
              <a:t>18</a:t>
            </a:r>
          </a:p>
        </p:txBody>
      </p:sp>
      <p:sp>
        <p:nvSpPr>
          <p:cNvPr id="6" name="Rounded Rectangle 5"/>
          <p:cNvSpPr/>
          <p:nvPr/>
        </p:nvSpPr>
        <p:spPr>
          <a:xfrm>
            <a:off x="548640" y="1783080"/>
            <a:ext cx="4846320" cy="4251960"/>
          </a:xfrm>
          <a:prstGeom prst="roundRect">
            <a:avLst>
              <a:gd name="adj" fmla="val 8000"/>
            </a:avLst>
          </a:prstGeom>
          <a:solidFill>
            <a:srgbClr val="F5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984248"/>
            <a:ext cx="4389120" cy="411480"/>
          </a:xfrm>
          <a:prstGeom prst="rect">
            <a:avLst/>
          </a:prstGeom>
          <a:noFill/>
        </p:spPr>
        <p:txBody>
          <a:bodyPr wrap="square" anchor="t" lIns="45720" rIns="45720" tIns="18288" bIns="18288">
            <a:spAutoFit/>
          </a:bodyPr>
          <a:lstStyle/>
          <a:p>
            <a:pPr algn="l"/>
            <a:r>
              <a:rPr sz="1600" b="1" i="0">
                <a:solidFill>
                  <a:srgbClr val="1E293B"/>
                </a:solidFill>
                <a:latin typeface="Arial"/>
              </a:rPr>
              <a:t>Why this system</a:t>
            </a:r>
          </a:p>
        </p:txBody>
      </p:sp>
      <p:sp>
        <p:nvSpPr>
          <p:cNvPr id="8" name="TextBox 7"/>
          <p:cNvSpPr txBox="1"/>
          <p:nvPr/>
        </p:nvSpPr>
        <p:spPr>
          <a:xfrm>
            <a:off x="777240" y="2441448"/>
            <a:ext cx="4389120" cy="3502152"/>
          </a:xfrm>
          <a:prstGeom prst="rect">
            <a:avLst/>
          </a:prstGeom>
          <a:noFill/>
        </p:spPr>
        <p:txBody>
          <a:bodyPr wrap="square" anchor="t" lIns="45720" rIns="45720" tIns="18288" bIns="18288">
            <a:spAutoFit/>
          </a:bodyPr>
          <a:lstStyle/>
          <a:p>
            <a:pPr algn="l"/>
            <a:r>
              <a:rPr sz="1200" b="0" i="0">
                <a:solidFill>
                  <a:srgbClr val="64748B"/>
                </a:solidFill>
                <a:latin typeface="Arial"/>
              </a:rPr>
              <a:t>Cu₃Au — L1₂ (Au on cube corners, Cu on faces); orders below ~390 °C.</a:t>
            </a:r>
          </a:p>
          <a:p>
            <a:pPr algn="l"/>
            <a:r>
              <a:rPr sz="1200" b="0" i="0">
                <a:solidFill>
                  <a:srgbClr val="64748B"/>
                </a:solidFill>
                <a:latin typeface="Arial"/>
              </a:rPr>
              <a:t>CuAu — L1₀ (alternating Cu and Au layers); ~410 °C.</a:t>
            </a:r>
          </a:p>
          <a:p>
            <a:pPr algn="l"/>
            <a:r>
              <a:rPr sz="1200" b="0" i="0">
                <a:solidFill>
                  <a:srgbClr val="64748B"/>
                </a:solidFill>
                <a:latin typeface="Arial"/>
              </a:rPr>
              <a:t>CuAu₃ — L1₂, weaker.</a:t>
            </a:r>
          </a:p>
          <a:p>
            <a:pPr algn="l"/>
            <a:r>
              <a:rPr sz="1200" b="0" i="0">
                <a:solidFill>
                  <a:srgbClr val="64748B"/>
                </a:solidFill>
                <a:latin typeface="Arial"/>
              </a:rPr>
              <a:t/>
            </a:r>
          </a:p>
          <a:p>
            <a:pPr algn="l"/>
            <a:r>
              <a:rPr sz="1200" b="0" i="0">
                <a:solidFill>
                  <a:srgbClr val="64748B"/>
                </a:solidFill>
                <a:latin typeface="Arial"/>
              </a:rPr>
              <a:t>The Cu₃Au order–disorder transition is the classic example in physical metallurgy, and Cu–Au was the original testbed for computational ground-state searches.</a:t>
            </a:r>
          </a:p>
          <a:p>
            <a:pPr algn="l"/>
            <a:r>
              <a:rPr sz="1200" b="0" i="0">
                <a:solidFill>
                  <a:srgbClr val="64748B"/>
                </a:solidFill>
                <a:latin typeface="Arial"/>
              </a:rPr>
              <a:t/>
            </a:r>
          </a:p>
          <a:p>
            <a:pPr algn="l"/>
            <a:r>
              <a:rPr sz="1200" b="0" i="0">
                <a:solidFill>
                  <a:srgbClr val="64748B"/>
                </a:solidFill>
                <a:latin typeface="Arial"/>
              </a:rPr>
              <a:t>Our PBE formation energies: Cu₃Au −46.7, CuAu −48.6, CuAu₃ −28.2 meV/atom (experiment is more negative — PBE underbinds).</a:t>
            </a:r>
          </a:p>
          <a:p>
            <a:pPr algn="l"/>
            <a:r>
              <a:rPr sz="1200" b="0" i="0">
                <a:solidFill>
                  <a:srgbClr val="64748B"/>
                </a:solidFill>
                <a:latin typeface="Arial"/>
              </a:rPr>
              <a:t/>
            </a:r>
          </a:p>
          <a:p>
            <a:pPr algn="l"/>
            <a:r>
              <a:rPr sz="1200" b="0" i="0">
                <a:solidFill>
                  <a:srgbClr val="64748B"/>
                </a:solidFill>
                <a:latin typeface="Arial"/>
              </a:rPr>
              <a:t>Formation energy = E(mixture) − x·E(Au) − (1−x)·E(Cu), per atom. Negative = favourable. The convex hull = the stable compounds.</a:t>
            </a:r>
          </a:p>
        </p:txBody>
      </p:sp>
      <p:pic>
        <p:nvPicPr>
          <p:cNvPr id="9" name="Picture 8" descr="hull.png"/>
          <p:cNvPicPr>
            <a:picLocks noChangeAspect="1"/>
          </p:cNvPicPr>
          <p:nvPr/>
        </p:nvPicPr>
        <p:blipFill>
          <a:blip r:embed="rId2"/>
          <a:stretch>
            <a:fillRect/>
          </a:stretch>
        </p:blipFill>
        <p:spPr>
          <a:xfrm>
            <a:off x="5577840" y="1783080"/>
            <a:ext cx="6035040" cy="4178105"/>
          </a:xfrm>
          <a:prstGeom prst="rect">
            <a:avLst/>
          </a:prstGeom>
        </p:spPr>
      </p:pic>
      <p:sp>
        <p:nvSpPr>
          <p:cNvPr id="10" name="TextBox 9"/>
          <p:cNvSpPr txBox="1"/>
          <p:nvPr/>
        </p:nvSpPr>
        <p:spPr>
          <a:xfrm>
            <a:off x="5577840" y="5989320"/>
            <a:ext cx="6035040" cy="365760"/>
          </a:xfrm>
          <a:prstGeom prst="rect">
            <a:avLst/>
          </a:prstGeom>
          <a:noFill/>
        </p:spPr>
        <p:txBody>
          <a:bodyPr wrap="square" anchor="t" lIns="45720" rIns="45720" tIns="18288" bIns="18288">
            <a:spAutoFit/>
          </a:bodyPr>
          <a:lstStyle/>
          <a:p>
            <a:pPr algn="l"/>
            <a:r>
              <a:rPr sz="1050" b="0" i="1">
                <a:solidFill>
                  <a:srgbClr val="64748B"/>
                </a:solidFill>
                <a:latin typeface="Arial"/>
              </a:rPr>
              <a:t>Every distinct ordering: network (pink) vs DFT (circles). Hull vertices agree; the star is Cu₃Au L1₂.</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anchor="t" lIns="45720" rIns="45720" tIns="18288" bIns="18288">
            <a:spAutoFit/>
          </a:bodyPr>
          <a:lstStyle/>
          <a:p>
            <a:pPr algn="l"/>
            <a:r>
              <a:rPr sz="1100" b="1" i="0">
                <a:solidFill>
                  <a:srgbClr val="B87878"/>
                </a:solidFill>
                <a:latin typeface="Arial"/>
              </a:rPr>
              <a:t>BACKUP · THE DATA</a:t>
            </a:r>
          </a:p>
        </p:txBody>
      </p:sp>
      <p:sp>
        <p:nvSpPr>
          <p:cNvPr id="3" name="TextBox 2"/>
          <p:cNvSpPr txBox="1"/>
          <p:nvPr/>
        </p:nvSpPr>
        <p:spPr>
          <a:xfrm>
            <a:off x="548640" y="566928"/>
            <a:ext cx="11064240" cy="640080"/>
          </a:xfrm>
          <a:prstGeom prst="rect">
            <a:avLst/>
          </a:prstGeom>
          <a:noFill/>
        </p:spPr>
        <p:txBody>
          <a:bodyPr wrap="square" anchor="t" lIns="45720" rIns="45720" tIns="18288" bIns="18288">
            <a:spAutoFit/>
          </a:bodyPr>
          <a:lstStyle/>
          <a:p>
            <a:pPr algn="l"/>
            <a:r>
              <a:rPr sz="3400" b="1" i="0">
                <a:solidFill>
                  <a:srgbClr val="500000"/>
                </a:solidFill>
                <a:latin typeface="Arial"/>
              </a:rPr>
              <a:t>The 186 DFT calculations</a:t>
            </a:r>
          </a:p>
        </p:txBody>
      </p:sp>
      <p:sp>
        <p:nvSpPr>
          <p:cNvPr id="4" name="TextBox 3"/>
          <p:cNvSpPr txBox="1"/>
          <p:nvPr/>
        </p:nvSpPr>
        <p:spPr>
          <a:xfrm>
            <a:off x="548640" y="1207008"/>
            <a:ext cx="11064240" cy="365760"/>
          </a:xfrm>
          <a:prstGeom prst="rect">
            <a:avLst/>
          </a:prstGeom>
          <a:noFill/>
        </p:spPr>
        <p:txBody>
          <a:bodyPr wrap="square" anchor="t" lIns="45720" rIns="45720" tIns="18288" bIns="18288">
            <a:spAutoFit/>
          </a:bodyPr>
          <a:lstStyle/>
          <a:p>
            <a:pPr algn="l"/>
            <a:r>
              <a:rPr sz="1500" b="0" i="1">
                <a:solidFill>
                  <a:srgbClr val="64748B"/>
                </a:solidFill>
                <a:latin typeface="Arial"/>
              </a:rPr>
              <a:t>An active-learning snapshot: DFT on under 40 % of the ordering space; the network ranks the rest</a:t>
            </a:r>
          </a:p>
        </p:txBody>
      </p:sp>
      <p:sp>
        <p:nvSpPr>
          <p:cNvPr id="5" name="TextBox 4"/>
          <p:cNvSpPr txBox="1"/>
          <p:nvPr/>
        </p:nvSpPr>
        <p:spPr>
          <a:xfrm>
            <a:off x="11155680" y="6400800"/>
            <a:ext cx="548640" cy="228600"/>
          </a:xfrm>
          <a:prstGeom prst="rect">
            <a:avLst/>
          </a:prstGeom>
          <a:noFill/>
        </p:spPr>
        <p:txBody>
          <a:bodyPr wrap="square" anchor="t" lIns="45720" rIns="45720" tIns="18288" bIns="18288">
            <a:spAutoFit/>
          </a:bodyPr>
          <a:lstStyle/>
          <a:p>
            <a:pPr algn="r"/>
            <a:r>
              <a:rPr sz="1000" b="1" i="0">
                <a:solidFill>
                  <a:srgbClr val="500000"/>
                </a:solidFill>
                <a:latin typeface="Arial"/>
              </a:rPr>
              <a:t>19</a:t>
            </a:r>
          </a:p>
        </p:txBody>
      </p:sp>
      <p:graphicFrame>
        <p:nvGraphicFramePr>
          <p:cNvPr id="6" name="Table 5"/>
          <p:cNvGraphicFramePr>
            <a:graphicFrameLocks noGrp="1"/>
          </p:cNvGraphicFramePr>
          <p:nvPr/>
        </p:nvGraphicFramePr>
        <p:xfrm>
          <a:off x="548640" y="1783080"/>
          <a:ext cx="11064240" cy="2103120"/>
        </p:xfrm>
        <a:graphic>
          <a:graphicData uri="http://schemas.openxmlformats.org/drawingml/2006/table">
            <a:tbl>
              <a:tblPr firstRow="1" bandRow="1">
                <a:tableStyleId>{5C22544A-7EE6-4342-B048-85BDC9FD1C3A}</a:tableStyleId>
              </a:tblPr>
              <a:tblGrid>
                <a:gridCol w="6035040"/>
                <a:gridCol w="914400"/>
                <a:gridCol w="4114800"/>
              </a:tblGrid>
              <a:tr h="420624">
                <a:tc>
                  <a:txBody>
                    <a:bodyPr/>
                    <a:lstStyle/>
                    <a:p>
                      <a:r>
                        <a:rPr sz="1200" b="1">
                          <a:solidFill>
                            <a:srgbClr val="FFFFFF"/>
                          </a:solidFill>
                          <a:latin typeface="Arial"/>
                        </a:rPr>
                        <a:t>group</a:t>
                      </a:r>
                    </a:p>
                  </a:txBody>
                  <a:tcPr>
                    <a:solidFill>
                      <a:srgbClr val="500000"/>
                    </a:solidFill>
                  </a:tcPr>
                </a:tc>
                <a:tc>
                  <a:txBody>
                    <a:bodyPr/>
                    <a:lstStyle/>
                    <a:p>
                      <a:r>
                        <a:rPr sz="1200" b="1">
                          <a:solidFill>
                            <a:srgbClr val="FFFFFF"/>
                          </a:solidFill>
                          <a:latin typeface="Arial"/>
                        </a:rPr>
                        <a:t>count</a:t>
                      </a:r>
                    </a:p>
                  </a:txBody>
                  <a:tcPr>
                    <a:solidFill>
                      <a:srgbClr val="500000"/>
                    </a:solidFill>
                  </a:tcPr>
                </a:tc>
                <a:tc>
                  <a:txBody>
                    <a:bodyPr/>
                    <a:lstStyle/>
                    <a:p>
                      <a:r>
                        <a:rPr sz="1200" b="1">
                          <a:solidFill>
                            <a:srgbClr val="FFFFFF"/>
                          </a:solidFill>
                          <a:latin typeface="Arial"/>
                        </a:rPr>
                        <a:t>why it is there</a:t>
                      </a:r>
                    </a:p>
                  </a:txBody>
                  <a:tcPr>
                    <a:solidFill>
                      <a:srgbClr val="500000"/>
                    </a:solidFill>
                  </a:tcPr>
                </a:tc>
              </a:tr>
              <a:tr h="420624">
                <a:tc>
                  <a:txBody>
                    <a:bodyPr/>
                    <a:lstStyle/>
                    <a:p>
                      <a:r>
                        <a:rPr sz="1200" b="0">
                          <a:solidFill>
                            <a:srgbClr val="1E293B"/>
                          </a:solidFill>
                          <a:latin typeface="Arial"/>
                        </a:rPr>
                        <a:t>4-atom cells · 7-point volume scan for each of 5 orderings</a:t>
                      </a:r>
                    </a:p>
                  </a:txBody>
                  <a:tcPr>
                    <a:solidFill>
                      <a:srgbClr val="F5F1F1"/>
                    </a:solidFill>
                  </a:tcPr>
                </a:tc>
                <a:tc>
                  <a:txBody>
                    <a:bodyPr/>
                    <a:lstStyle/>
                    <a:p>
                      <a:r>
                        <a:rPr sz="1200" b="1">
                          <a:solidFill>
                            <a:srgbClr val="1E293B"/>
                          </a:solidFill>
                          <a:latin typeface="Arial"/>
                        </a:rPr>
                        <a:t>35</a:t>
                      </a:r>
                    </a:p>
                  </a:txBody>
                  <a:tcPr>
                    <a:solidFill>
                      <a:srgbClr val="F5F1F1"/>
                    </a:solidFill>
                  </a:tcPr>
                </a:tc>
                <a:tc>
                  <a:txBody>
                    <a:bodyPr/>
                    <a:lstStyle/>
                    <a:p>
                      <a:r>
                        <a:rPr sz="1200" b="0">
                          <a:solidFill>
                            <a:srgbClr val="1E293B"/>
                          </a:solidFill>
                          <a:latin typeface="Arial"/>
                        </a:rPr>
                        <a:t>energy vs lattice constant per composition</a:t>
                      </a:r>
                    </a:p>
                  </a:txBody>
                  <a:tcPr>
                    <a:solidFill>
                      <a:srgbClr val="F5F1F1"/>
                    </a:solidFill>
                  </a:tcPr>
                </a:tc>
              </a:tr>
              <a:tr h="420624">
                <a:tc>
                  <a:txBody>
                    <a:bodyPr/>
                    <a:lstStyle/>
                    <a:p>
                      <a:r>
                        <a:rPr sz="1200" b="0">
                          <a:solidFill>
                            <a:srgbClr val="1E293B"/>
                          </a:solidFill>
                          <a:latin typeface="Arial"/>
                        </a:rPr>
                        <a:t>4-atom cells · rattled (σ 0.05 / 0.10 Å) at three volumes</a:t>
                      </a:r>
                    </a:p>
                  </a:txBody>
                  <a:tcPr>
                    <a:solidFill>
                      <a:srgbClr val="FFFFFF"/>
                    </a:solidFill>
                  </a:tcPr>
                </a:tc>
                <a:tc>
                  <a:txBody>
                    <a:bodyPr/>
                    <a:lstStyle/>
                    <a:p>
                      <a:r>
                        <a:rPr sz="1200" b="1">
                          <a:solidFill>
                            <a:srgbClr val="1E293B"/>
                          </a:solidFill>
                          <a:latin typeface="Arial"/>
                        </a:rPr>
                        <a:t>60</a:t>
                      </a:r>
                    </a:p>
                  </a:txBody>
                  <a:tcPr>
                    <a:solidFill>
                      <a:srgbClr val="FFFFFF"/>
                    </a:solidFill>
                  </a:tcPr>
                </a:tc>
                <a:tc>
                  <a:txBody>
                    <a:bodyPr/>
                    <a:lstStyle/>
                    <a:p>
                      <a:r>
                        <a:rPr sz="1200" b="0">
                          <a:solidFill>
                            <a:srgbClr val="1E293B"/>
                          </a:solidFill>
                          <a:latin typeface="Arial"/>
                        </a:rPr>
                        <a:t>non-zero forces: the local shape of the energy surface</a:t>
                      </a:r>
                    </a:p>
                  </a:txBody>
                  <a:tcPr>
                    <a:solidFill>
                      <a:srgbClr val="FFFFFF"/>
                    </a:solidFill>
                  </a:tcPr>
                </a:tc>
              </a:tr>
              <a:tr h="420624">
                <a:tc>
                  <a:txBody>
                    <a:bodyPr/>
                    <a:lstStyle/>
                    <a:p>
                      <a:r>
                        <a:rPr sz="1200" b="0">
                          <a:solidFill>
                            <a:srgbClr val="1E293B"/>
                          </a:solidFill>
                          <a:latin typeface="Arial"/>
                        </a:rPr>
                        <a:t>8-atom cells · 10 orderings (Cu₈, Au₈ + 8 random mixed), ideal + 3 rattled</a:t>
                      </a:r>
                    </a:p>
                  </a:txBody>
                  <a:tcPr>
                    <a:solidFill>
                      <a:srgbClr val="F5F1F1"/>
                    </a:solidFill>
                  </a:tcPr>
                </a:tc>
                <a:tc>
                  <a:txBody>
                    <a:bodyPr/>
                    <a:lstStyle/>
                    <a:p>
                      <a:r>
                        <a:rPr sz="1200" b="1">
                          <a:solidFill>
                            <a:srgbClr val="1E293B"/>
                          </a:solidFill>
                          <a:latin typeface="Arial"/>
                        </a:rPr>
                        <a:t>40</a:t>
                      </a:r>
                    </a:p>
                  </a:txBody>
                  <a:tcPr>
                    <a:solidFill>
                      <a:srgbClr val="F5F1F1"/>
                    </a:solidFill>
                  </a:tcPr>
                </a:tc>
                <a:tc>
                  <a:txBody>
                    <a:bodyPr/>
                    <a:lstStyle/>
                    <a:p>
                      <a:r>
                        <a:rPr sz="1200" b="0">
                          <a:solidFill>
                            <a:srgbClr val="1E293B"/>
                          </a:solidFill>
                          <a:latin typeface="Arial"/>
                        </a:rPr>
                        <a:t>ordering patterns a 4-atom cell cannot hold</a:t>
                      </a:r>
                    </a:p>
                  </a:txBody>
                  <a:tcPr>
                    <a:solidFill>
                      <a:srgbClr val="F5F1F1"/>
                    </a:solidFill>
                  </a:tcPr>
                </a:tc>
              </a:tr>
              <a:tr h="420624">
                <a:tc>
                  <a:txBody>
                    <a:bodyPr/>
                    <a:lstStyle/>
                    <a:p>
                      <a:r>
                        <a:rPr sz="1200" b="0">
                          <a:solidFill>
                            <a:srgbClr val="1E293B"/>
                          </a:solidFill>
                          <a:latin typeface="Arial"/>
                        </a:rPr>
                        <a:t>8-atom cells · the other 17 orderings, ideal + 2 rattled</a:t>
                      </a:r>
                    </a:p>
                  </a:txBody>
                  <a:tcPr>
                    <a:solidFill>
                      <a:srgbClr val="FFFFFF"/>
                    </a:solidFill>
                  </a:tcPr>
                </a:tc>
                <a:tc>
                  <a:txBody>
                    <a:bodyPr/>
                    <a:lstStyle/>
                    <a:p>
                      <a:r>
                        <a:rPr sz="1200" b="1">
                          <a:solidFill>
                            <a:srgbClr val="1E293B"/>
                          </a:solidFill>
                          <a:latin typeface="Arial"/>
                        </a:rPr>
                        <a:t>51</a:t>
                      </a:r>
                    </a:p>
                  </a:txBody>
                  <a:tcPr>
                    <a:solidFill>
                      <a:srgbClr val="FFFFFF"/>
                    </a:solidFill>
                  </a:tcPr>
                </a:tc>
                <a:tc>
                  <a:txBody>
                    <a:bodyPr/>
                    <a:lstStyle/>
                    <a:p>
                      <a:r>
                        <a:rPr sz="1200" b="0">
                          <a:solidFill>
                            <a:srgbClr val="1E293B"/>
                          </a:solidFill>
                          <a:latin typeface="Arial"/>
                        </a:rPr>
                        <a:t>never trained on: validation in step 2, answer key in step 3</a:t>
                      </a:r>
                    </a:p>
                  </a:txBody>
                  <a:tcPr>
                    <a:solidFill>
                      <a:srgbClr val="FFFFFF"/>
                    </a:solidFill>
                  </a:tcPr>
                </a:tc>
              </a:tr>
            </a:tbl>
          </a:graphicData>
        </a:graphic>
      </p:graphicFrame>
      <p:pic>
        <p:nvPicPr>
          <p:cNvPr id="7" name="Picture 6" descr="structures.png"/>
          <p:cNvPicPr>
            <a:picLocks noChangeAspect="1"/>
          </p:cNvPicPr>
          <p:nvPr/>
        </p:nvPicPr>
        <p:blipFill>
          <a:blip r:embed="rId2"/>
          <a:stretch>
            <a:fillRect/>
          </a:stretch>
        </p:blipFill>
        <p:spPr>
          <a:xfrm>
            <a:off x="2774913" y="4114800"/>
            <a:ext cx="6641869" cy="2148840"/>
          </a:xfrm>
          <a:prstGeom prst="rect">
            <a:avLst/>
          </a:prstGeom>
        </p:spPr>
      </p:pic>
      <p:sp>
        <p:nvSpPr>
          <p:cNvPr id="8" name="TextBox 7"/>
          <p:cNvSpPr txBox="1"/>
          <p:nvPr/>
        </p:nvSpPr>
        <p:spPr>
          <a:xfrm>
            <a:off x="548640" y="6428232"/>
            <a:ext cx="9601200" cy="228600"/>
          </a:xfrm>
          <a:prstGeom prst="rect">
            <a:avLst/>
          </a:prstGeom>
          <a:noFill/>
        </p:spPr>
        <p:txBody>
          <a:bodyPr wrap="square" anchor="t" lIns="45720" rIns="45720" tIns="18288" bIns="18288">
            <a:spAutoFit/>
          </a:bodyPr>
          <a:lstStyle/>
          <a:p>
            <a:pPr algn="l"/>
            <a:r>
              <a:rPr sz="900" b="0" i="0">
                <a:solidFill>
                  <a:srgbClr val="94A3B8"/>
                </a:solidFill>
                <a:latin typeface="Arial"/>
              </a:rPr>
              <a:t>Geometries are fixed (no relaxation) so the network and DFT are compared on identical structures; all 27 orderings have DFT labels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192</TotalTime>
  <Words>1087</Words>
  <Application>Microsoft Macintosh PowerPoint</Application>
  <PresentationFormat>Widescreen</PresentationFormat>
  <Paragraphs>134</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Jang, Joshua Hyungju</cp:lastModifiedBy>
  <cp:revision>2</cp:revision>
  <dcterms:created xsi:type="dcterms:W3CDTF">2013-01-27T09:14:16Z</dcterms:created>
  <dcterms:modified xsi:type="dcterms:W3CDTF">2026-10-06T21:17:23Z</dcterms:modified>
  <cp:category/>
</cp:coreProperties>
</file>